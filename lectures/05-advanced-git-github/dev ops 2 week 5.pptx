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6443df0db240a4" /><Relationship Type="http://schemas.openxmlformats.org/officeDocument/2006/relationships/extended-properties" Target="/docProps/app.xml" Id="R2c15f2d0268a4c21" /><Relationship Type="http://schemas.openxmlformats.org/officeDocument/2006/relationships/officeDocument" Target="/ppt/presentation.xml" Id="Reba2e7cdf7644795" /></Relationships>
</file>

<file path=ppt/presentation.xml><?xml version="1.0" encoding="utf-8"?>
<p:presentation xmlns:p="http://schemas.openxmlformats.org/presentationml/2006/main">
  <p:sldMasterIdLst>
    <p:sldMasterId xmlns:r="http://schemas.openxmlformats.org/officeDocument/2006/relationships" id="2147483648" r:id="Ra912bc4111814f6c"/>
  </p:sldMasterIdLst>
  <p:notesMasterIdLst>
    <p:notesMasterId xmlns:r="http://schemas.openxmlformats.org/officeDocument/2006/relationships" r:id="Rcd245d66102745d3"/>
  </p:notesMasterIdLst>
  <p:sldIdLst>
    <p:sldId xmlns:r="http://schemas.openxmlformats.org/officeDocument/2006/relationships" id="256" r:id="R9a2d0ccb12c24496"/>
    <p:sldId xmlns:r="http://schemas.openxmlformats.org/officeDocument/2006/relationships" id="257" r:id="R5d703bca91084768"/>
    <p:sldId xmlns:r="http://schemas.openxmlformats.org/officeDocument/2006/relationships" id="258" r:id="Rc3b254c89b174c23"/>
    <p:sldId xmlns:r="http://schemas.openxmlformats.org/officeDocument/2006/relationships" id="259" r:id="R7fc7ef7f1d864567"/>
    <p:sldId xmlns:r="http://schemas.openxmlformats.org/officeDocument/2006/relationships" id="260" r:id="R35bc615123d94d84"/>
    <p:sldId xmlns:r="http://schemas.openxmlformats.org/officeDocument/2006/relationships" id="261" r:id="R5a44c4bd412b4781"/>
    <p:sldId xmlns:r="http://schemas.openxmlformats.org/officeDocument/2006/relationships" id="262" r:id="R3654da4bcc134b48"/>
    <p:sldId xmlns:r="http://schemas.openxmlformats.org/officeDocument/2006/relationships" id="263" r:id="R107bad3e02104b8d"/>
    <p:sldId xmlns:r="http://schemas.openxmlformats.org/officeDocument/2006/relationships" id="264" r:id="R72894c6c8503446c"/>
    <p:sldId xmlns:r="http://schemas.openxmlformats.org/officeDocument/2006/relationships" id="265" r:id="R1418aab070614d0e"/>
    <p:sldId xmlns:r="http://schemas.openxmlformats.org/officeDocument/2006/relationships" id="266" r:id="R9208ffdceadf4c8f"/>
    <p:sldId xmlns:r="http://schemas.openxmlformats.org/officeDocument/2006/relationships" id="267" r:id="R3363f220fb6c4eff"/>
    <p:sldId xmlns:r="http://schemas.openxmlformats.org/officeDocument/2006/relationships" id="268" r:id="R45d3f695c0624007"/>
    <p:sldId xmlns:r="http://schemas.openxmlformats.org/officeDocument/2006/relationships" id="269" r:id="R8e9882a5513342fd"/>
    <p:sldId xmlns:r="http://schemas.openxmlformats.org/officeDocument/2006/relationships" id="270" r:id="R8f642907190546d0"/>
    <p:sldId xmlns:r="http://schemas.openxmlformats.org/officeDocument/2006/relationships" id="271" r:id="R6092c762187f4161"/>
    <p:sldId xmlns:r="http://schemas.openxmlformats.org/officeDocument/2006/relationships" id="272" r:id="Ra811a88f532446d5"/>
    <p:sldId xmlns:r="http://schemas.openxmlformats.org/officeDocument/2006/relationships" id="273" r:id="R89c7e0cd6a7a4424"/>
    <p:sldId xmlns:r="http://schemas.openxmlformats.org/officeDocument/2006/relationships" id="274" r:id="R61c50fa2e7f14bcc"/>
    <p:sldId xmlns:r="http://schemas.openxmlformats.org/officeDocument/2006/relationships" id="275" r:id="R5a0ec65ce0cc4ea5"/>
    <p:sldId xmlns:r="http://schemas.openxmlformats.org/officeDocument/2006/relationships" id="276" r:id="Ref5147c521554d9f"/>
    <p:sldId xmlns:r="http://schemas.openxmlformats.org/officeDocument/2006/relationships" id="277" r:id="R97d00536c26d473b"/>
    <p:sldId xmlns:r="http://schemas.openxmlformats.org/officeDocument/2006/relationships" id="278" r:id="Rbfd5375c861a497f"/>
    <p:sldId xmlns:r="http://schemas.openxmlformats.org/officeDocument/2006/relationships" id="279" r:id="Rdfb340d520cf4e1c"/>
    <p:sldId xmlns:r="http://schemas.openxmlformats.org/officeDocument/2006/relationships" id="280" r:id="R566856c800e749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df857ab4174564" /><Relationship Type="http://schemas.openxmlformats.org/officeDocument/2006/relationships/slideMaster" Target="/ppt/slideMasters/slideMaster1.xml" Id="Ra912bc4111814f6c" /><Relationship Type="http://schemas.openxmlformats.org/officeDocument/2006/relationships/notesMaster" Target="/ppt/notesMasters/notesMaster1.xml" Id="Rcd245d66102745d3" /><Relationship Type="http://schemas.openxmlformats.org/officeDocument/2006/relationships/presProps" Target="/ppt/presProps.xml" Id="Re55359a7a0cd42be" /><Relationship Type="http://schemas.openxmlformats.org/officeDocument/2006/relationships/tableStyles" Target="/ppt/tableStyles.xml" Id="Ra33ba1446e44446e" /><Relationship Type="http://schemas.openxmlformats.org/officeDocument/2006/relationships/slide" Target="/ppt/slides/slide1.xml" Id="R9a2d0ccb12c24496" /><Relationship Type="http://schemas.openxmlformats.org/officeDocument/2006/relationships/slide" Target="/ppt/slides/slide2.xml" Id="R5d703bca91084768" /><Relationship Type="http://schemas.openxmlformats.org/officeDocument/2006/relationships/slide" Target="/ppt/slides/slide3.xml" Id="Rc3b254c89b174c23" /><Relationship Type="http://schemas.openxmlformats.org/officeDocument/2006/relationships/slide" Target="/ppt/slides/slide4.xml" Id="R7fc7ef7f1d864567" /><Relationship Type="http://schemas.openxmlformats.org/officeDocument/2006/relationships/slide" Target="/ppt/slides/slide5.xml" Id="R35bc615123d94d84" /><Relationship Type="http://schemas.openxmlformats.org/officeDocument/2006/relationships/slide" Target="/ppt/slides/slide6.xml" Id="R5a44c4bd412b4781" /><Relationship Type="http://schemas.openxmlformats.org/officeDocument/2006/relationships/slide" Target="/ppt/slides/slide7.xml" Id="R3654da4bcc134b48" /><Relationship Type="http://schemas.openxmlformats.org/officeDocument/2006/relationships/slide" Target="/ppt/slides/slide8.xml" Id="R107bad3e02104b8d" /><Relationship Type="http://schemas.openxmlformats.org/officeDocument/2006/relationships/slide" Target="/ppt/slides/slide9.xml" Id="R72894c6c8503446c" /><Relationship Type="http://schemas.openxmlformats.org/officeDocument/2006/relationships/slide" Target="/ppt/slides/slide10.xml" Id="R1418aab070614d0e" /><Relationship Type="http://schemas.openxmlformats.org/officeDocument/2006/relationships/slide" Target="/ppt/slides/slide11.xml" Id="R9208ffdceadf4c8f" /><Relationship Type="http://schemas.openxmlformats.org/officeDocument/2006/relationships/slide" Target="/ppt/slides/slide12.xml" Id="R3363f220fb6c4eff" /><Relationship Type="http://schemas.openxmlformats.org/officeDocument/2006/relationships/slide" Target="/ppt/slides/slide13.xml" Id="R45d3f695c0624007" /><Relationship Type="http://schemas.openxmlformats.org/officeDocument/2006/relationships/slide" Target="/ppt/slides/slide14.xml" Id="R8e9882a5513342fd" /><Relationship Type="http://schemas.openxmlformats.org/officeDocument/2006/relationships/slide" Target="/ppt/slides/slide15.xml" Id="R8f642907190546d0" /><Relationship Type="http://schemas.openxmlformats.org/officeDocument/2006/relationships/slide" Target="/ppt/slides/slide16.xml" Id="R6092c762187f4161" /><Relationship Type="http://schemas.openxmlformats.org/officeDocument/2006/relationships/slide" Target="/ppt/slides/slide17.xml" Id="Ra811a88f532446d5" /><Relationship Type="http://schemas.openxmlformats.org/officeDocument/2006/relationships/slide" Target="/ppt/slides/slide18.xml" Id="R89c7e0cd6a7a4424" /><Relationship Type="http://schemas.openxmlformats.org/officeDocument/2006/relationships/slide" Target="/ppt/slides/slide19.xml" Id="R61c50fa2e7f14bcc" /><Relationship Type="http://schemas.openxmlformats.org/officeDocument/2006/relationships/slide" Target="/ppt/slides/slide20.xml" Id="R5a0ec65ce0cc4ea5" /><Relationship Type="http://schemas.openxmlformats.org/officeDocument/2006/relationships/slide" Target="/ppt/slides/slide21.xml" Id="Ref5147c521554d9f" /><Relationship Type="http://schemas.openxmlformats.org/officeDocument/2006/relationships/slide" Target="/ppt/slides/slide22.xml" Id="R97d00536c26d473b" /><Relationship Type="http://schemas.openxmlformats.org/officeDocument/2006/relationships/slide" Target="/ppt/slides/slide23.xml" Id="Rbfd5375c861a497f" /><Relationship Type="http://schemas.openxmlformats.org/officeDocument/2006/relationships/slide" Target="/ppt/slides/slide24.xml" Id="Rdfb340d520cf4e1c" /><Relationship Type="http://schemas.openxmlformats.org/officeDocument/2006/relationships/slide" Target="/ppt/slides/slide25.xml" Id="R566856c800e749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5d25761f9b47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fb471b63064ca1" /><Relationship Type="http://schemas.openxmlformats.org/officeDocument/2006/relationships/notesMaster" Target="/ppt/notesMasters/notesMaster1.xml" Id="Rd121170b664147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a720e6ccc04363" /><Relationship Type="http://schemas.openxmlformats.org/officeDocument/2006/relationships/notesMaster" Target="/ppt/notesMasters/notesMaster1.xml" Id="Ra00e4b95c38341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c06d516b3e465e" /><Relationship Type="http://schemas.openxmlformats.org/officeDocument/2006/relationships/notesMaster" Target="/ppt/notesMasters/notesMaster1.xml" Id="R4042fd136ae942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b40aeae08942ba" /><Relationship Type="http://schemas.openxmlformats.org/officeDocument/2006/relationships/notesMaster" Target="/ppt/notesMasters/notesMaster1.xml" Id="R0255479061554a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fdad0320654275" /><Relationship Type="http://schemas.openxmlformats.org/officeDocument/2006/relationships/notesMaster" Target="/ppt/notesMasters/notesMaster1.xml" Id="R5626c643ff4044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a4fe451f0f4746" /><Relationship Type="http://schemas.openxmlformats.org/officeDocument/2006/relationships/notesMaster" Target="/ppt/notesMasters/notesMaster1.xml" Id="R80ab3c33fd3e4e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1ae26d643646f2" /><Relationship Type="http://schemas.openxmlformats.org/officeDocument/2006/relationships/notesMaster" Target="/ppt/notesMasters/notesMaster1.xml" Id="R76ed7c414f6043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6912e8ce994c32" /><Relationship Type="http://schemas.openxmlformats.org/officeDocument/2006/relationships/notesMaster" Target="/ppt/notesMasters/notesMaster1.xml" Id="Rf3d582932c1b48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a74987acb940ca" /><Relationship Type="http://schemas.openxmlformats.org/officeDocument/2006/relationships/notesMaster" Target="/ppt/notesMasters/notesMaster1.xml" Id="R7ce94c4c4eb34c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6535801f5c479f" /><Relationship Type="http://schemas.openxmlformats.org/officeDocument/2006/relationships/notesMaster" Target="/ppt/notesMasters/notesMaster1.xml" Id="Rbb8d1de93eed42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f90d73e0264234" /><Relationship Type="http://schemas.openxmlformats.org/officeDocument/2006/relationships/notesMaster" Target="/ppt/notesMasters/notesMaster1.xml" Id="Ree25a3ba429f47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9be7b085c14ab0" /><Relationship Type="http://schemas.openxmlformats.org/officeDocument/2006/relationships/notesMaster" Target="/ppt/notesMasters/notesMaster1.xml" Id="Ra603401f26924a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f0977f6bb54620" /><Relationship Type="http://schemas.openxmlformats.org/officeDocument/2006/relationships/notesMaster" Target="/ppt/notesMasters/notesMaster1.xml" Id="R3162d42e991747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7b0fec4e5d4919" /><Relationship Type="http://schemas.openxmlformats.org/officeDocument/2006/relationships/notesMaster" Target="/ppt/notesMasters/notesMaster1.xml" Id="R2d6f37dd1b7149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09174d4c504d50" /><Relationship Type="http://schemas.openxmlformats.org/officeDocument/2006/relationships/notesMaster" Target="/ppt/notesMasters/notesMaster1.xml" Id="R16937236c13b44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fee45fafa84f05" /><Relationship Type="http://schemas.openxmlformats.org/officeDocument/2006/relationships/notesMaster" Target="/ppt/notesMasters/notesMaster1.xml" Id="Rd6ddcec5b65b48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659891d39a4ea7" /><Relationship Type="http://schemas.openxmlformats.org/officeDocument/2006/relationships/notesMaster" Target="/ppt/notesMasters/notesMaster1.xml" Id="R30aee0fa2f0b42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8d9f68d7a047c7" /><Relationship Type="http://schemas.openxmlformats.org/officeDocument/2006/relationships/notesMaster" Target="/ppt/notesMasters/notesMaster1.xml" Id="R269fe8b7246340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ff825a8b5548e6" /><Relationship Type="http://schemas.openxmlformats.org/officeDocument/2006/relationships/notesMaster" Target="/ppt/notesMasters/notesMaster1.xml" Id="Rfe749759369d44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b70fce7480b4261" /><Relationship Type="http://schemas.openxmlformats.org/officeDocument/2006/relationships/notesMaster" Target="/ppt/notesMasters/notesMaster1.xml" Id="R0fc6db8c62b74a5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0f7375660348cc" /><Relationship Type="http://schemas.openxmlformats.org/officeDocument/2006/relationships/notesMaster" Target="/ppt/notesMasters/notesMaster1.xml" Id="Rd58ae4658fd047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ab7830b6484b85" /><Relationship Type="http://schemas.openxmlformats.org/officeDocument/2006/relationships/notesMaster" Target="/ppt/notesMasters/notesMaster1.xml" Id="R1fe31732566d48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11e4bd665a54932" /><Relationship Type="http://schemas.openxmlformats.org/officeDocument/2006/relationships/notesMaster" Target="/ppt/notesMasters/notesMaster1.xml" Id="R654cee43ad9149a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51cd53f9d4429b" /><Relationship Type="http://schemas.openxmlformats.org/officeDocument/2006/relationships/notesMaster" Target="/ppt/notesMasters/notesMaster1.xml" Id="Re6aa1fbdcd29421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702e448d544480" /><Relationship Type="http://schemas.openxmlformats.org/officeDocument/2006/relationships/notesMaster" Target="/ppt/notesMasters/notesMaster1.xml" Id="R854cb5046f9f4c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to make changes to a shared project safely. After the class, students can create or clone a repository, work in a separate branch, open a Pull Request, and connect it to an Issue. Distinguish Git from GitHub: Git stores history and works locally, while GitHub hosts remote repositories and adds collaboration tools.</a:t>
            </a:r>
          </a:p>
          <a:p xmlns:a="http://schemas.openxmlformats.org/drawingml/2006/main">
            <a:r>
              <a:t/>
            </a:r>
          </a:p>
          <a:p xmlns:a="http://schemas.openxmlformats.org/drawingml/2006/main">
            <a:r>
              <a:t>Sources:</a:t>
            </a:r>
          </a:p>
          <a:p xmlns:a="http://schemas.openxmlformats.org/drawingml/2006/main">
            <a:r>
              <a:t>• https://git-scm.com/docs/git</a:t>
            </a:r>
          </a:p>
          <a:p xmlns:a="http://schemas.openxmlformats.org/drawingml/2006/main">
            <a:r>
              <a:t>• https://docs.github.com/en/repositories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end, ask students to demonstrate the complete workflow in a small repository. Check both command knowledge and their understanding of where a change currently exists: working directory, staging area, local commit, or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can be used without GitHub, while GitHub relies on Git. Alternatives include GitLab, Bitbucket, and self-hosted Git servers. Run git commands in a terminal. Use the web interface, GitHub CLI, or API for Pull Requests and Issues.</a:t>
            </a:r>
          </a:p>
          <a:p xmlns:a="http://schemas.openxmlformats.org/drawingml/2006/main">
            <a:r>
              <a:t/>
            </a:r>
          </a:p>
          <a:p xmlns:a="http://schemas.openxmlformats.org/drawingml/2006/main">
            <a:r>
              <a:t>Sources:</a:t>
            </a:r>
          </a:p>
          <a:p xmlns:a="http://schemas.openxmlformats.org/drawingml/2006/main">
            <a:r>
              <a:t>• https://git-scm.com/docs/git</a:t>
            </a:r>
          </a:p>
          <a:p xmlns:a="http://schemas.openxmlformats.org/drawingml/2006/main">
            <a:r>
              <a:t>• https://docs.github.com/en/get-started/git-basics/about-remote-repositories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branch is not a copy of the whole folder. Technically, it is a name pointing to a commit. HEAD points to the current branch or directly to a commit. origin is not a special server; it is only a conventional name for a remote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by changing two files, staging only one, and running git status. Explain that the staging area helps create small, logical commits instead of recording every unfinished edit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 email registered in GitHub settings or a private GitHub noreply address if the student does not want to publish a personal email. git config --list shows the effective configuration assembled from several levels.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clone downloads the complete available history and automatically creates a remote named origin. A private repository requires authentication. HTTPS commonly uses a browser or credential manager; SSH uses a key pair.</a:t>
            </a:r>
          </a:p>
          <a:p xmlns:a="http://schemas.openxmlformats.org/drawingml/2006/main">
            <a:r>
              <a:t/>
            </a:r>
          </a:p>
          <a:p xmlns:a="http://schemas.openxmlformats.org/drawingml/2006/main">
            <a:r>
              <a:t>Sources:</a:t>
            </a:r>
          </a:p>
          <a:p xmlns:a="http://schemas.openxmlformats.org/drawingml/2006/main">
            <a:r>
              <a:t>• https://docs.github.com/en/repositories/creating-and-managing-repositories/cloning-a-repository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GitHub, select New repository, enter a name and visibility, then optionally add a README, .gitignore, and license. Never add passwords, API keys, or .env files. If a secret reaches a commit, deleting the file is insufficient: revoke and replace the secret.</a:t>
            </a:r>
          </a:p>
          <a:p xmlns:a="http://schemas.openxmlformats.org/drawingml/2006/main">
            <a:r>
              <a:t/>
            </a:r>
          </a:p>
          <a:p xmlns:a="http://schemas.openxmlformats.org/drawingml/2006/main">
            <a:r>
              <a:t>Sources:</a:t>
            </a:r>
          </a:p>
          <a:p xmlns:a="http://schemas.openxmlformats.org/drawingml/2006/main">
            <a:r>
              <a:t>• https://docs.github.com/en/repositories/creating-and-managing-repositories/creating-a-new-repository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remote add origin stores a URL under the short name origin. git push sends local commits. The -u flag records the upstream of the current branch, so later push and pull commands need no arguments.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new branch starts at the current commit. Commits in feature/login do not move the main pointer. The modern git switch command separates branch switching from file restoration more clearly, although git checkout is still common.</a:t>
            </a:r>
          </a:p>
          <a:p xmlns:a="http://schemas.openxmlformats.org/drawingml/2006/main">
            <a:r>
              <a:t/>
            </a:r>
          </a:p>
          <a:p xmlns:a="http://schemas.openxmlformats.org/drawingml/2006/main">
            <a:r>
              <a:t>Sources:</a:t>
            </a:r>
          </a:p>
          <a:p xmlns:a="http://schemas.openxmlformats.org/drawingml/2006/main">
            <a:r>
              <a:t>• https://git-scm.com/docs/git-switch</a:t>
            </a:r>
          </a:p>
          <a:p xmlns:a="http://schemas.openxmlformats.org/drawingml/2006/main">
            <a:r>
              <a:t>• https://git-scm.com/docs/git-branch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diff shows unstaged changes. git diff --staged shows exactly what the next commit will contain. Prefixes such as feat, fix, docs, test, and refactor follow the popular but optional Conventional Commits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pull combines fetch with integration. The exact integration method depends on options and configuration. For teaching, --ff-only is a safe choice because it will not create an unexpected merge commit when histories diverge.</a:t>
            </a:r>
          </a:p>
          <a:p xmlns:a="http://schemas.openxmlformats.org/drawingml/2006/main">
            <a:r>
              <a:t/>
            </a:r>
          </a:p>
          <a:p xmlns:a="http://schemas.openxmlformats.org/drawingml/2006/main">
            <a:r>
              <a:t>Sources:</a:t>
            </a:r>
          </a:p>
          <a:p xmlns:a="http://schemas.openxmlformats.org/drawingml/2006/main">
            <a:r>
              <a:t>• https://git-scm.com/docs/git-pull</a:t>
            </a:r>
          </a:p>
          <a:p xmlns:a="http://schemas.openxmlformats.org/drawingml/2006/main">
            <a:r>
              <a:t>• https://docs.github.com/en/get-started/git-basics/about-remote-repositories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Pull Request is not a Git command. It is a GitHub object that compares two branches, displays the diff, and stores discussion, reviews, and automated check results. A PR can only be opened between different branches.</a:t>
            </a:r>
          </a:p>
          <a:p xmlns:a="http://schemas.openxmlformats.org/drawingml/2006/main">
            <a:r>
              <a:t/>
            </a:r>
          </a:p>
          <a:p xmlns:a="http://schemas.openxmlformats.org/drawingml/2006/main">
            <a:r>
              <a:t>Sources:</a:t>
            </a:r>
          </a:p>
          <a:p xmlns:a="http://schemas.openxmlformats.org/drawingml/2006/main">
            <a:r>
              <a:t>• https://docs.github.com/en/pull-requests/get-started/about-pull-requests</a:t>
            </a:r>
          </a:p>
          <a:p xmlns:a="http://schemas.openxmlformats.org/drawingml/2006/main">
            <a:r>
              <a:t>• https://docs.github.com/en/pull-requests/how-tos/create-pull-requests/creating-a-pull-request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 title should describe the result briefly. In the description, state the problem, solution, verification method, and related Issue. The keyword Closes #12 automatically closes Issue 12 when the PR merges into the default branch.</a:t>
            </a:r>
          </a:p>
          <a:p xmlns:a="http://schemas.openxmlformats.org/drawingml/2006/main">
            <a:r>
              <a:t/>
            </a:r>
          </a:p>
          <a:p xmlns:a="http://schemas.openxmlformats.org/drawingml/2006/main">
            <a:r>
              <a:t>Sources:</a:t>
            </a:r>
          </a:p>
          <a:p xmlns:a="http://schemas.openxmlformats.org/drawingml/2006/main">
            <a:r>
              <a:t>• https://docs.github.com/en/pull-requests/how-tos/create-pull-requests/creating-a-pull-request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review can end with comments, approval, or a request for changes. Do not create a new PR after each correction: pushing another commit to the same branch automatically updates the existing PR.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team should select a strategy and apply it consistently. Squash works well when a PR contains many intermediate commits. Merge commit preserves the real branching structure. Rebase requires understanding that commit identifiers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conflict does not mean Git is broken. It means that an automatic choice would be unsafe. Run tests after resolving the file manually. To cancel an unfinished merge, use git merge --abort.</a:t>
            </a:r>
          </a:p>
          <a:p xmlns:a="http://schemas.openxmlformats.org/drawingml/2006/main">
            <a:r>
              <a:t/>
            </a:r>
          </a:p>
          <a:p xmlns:a="http://schemas.openxmlformats.org/drawingml/2006/main">
            <a:r>
              <a:t>Sources:</a:t>
            </a:r>
          </a:p>
          <a:p xmlns:a="http://schemas.openxmlformats.org/drawingml/2006/main">
            <a:r>
              <a:t>• https://git-scm.com/docs/git-merge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Issue can describe a bug, feature, documentation task, investigation, or question. GitHub supports labels, milestones, assignees, projects, sub-issues, and dependencies. The format depends on the team, but acceptance criteria should make completion verifiable.</a:t>
            </a:r>
          </a:p>
          <a:p xmlns:a="http://schemas.openxmlformats.org/drawingml/2006/main">
            <a:r>
              <a:t/>
            </a:r>
          </a:p>
          <a:p xmlns:a="http://schemas.openxmlformats.org/drawingml/2006/main">
            <a:r>
              <a:t>Sources:</a:t>
            </a:r>
          </a:p>
          <a:p xmlns:a="http://schemas.openxmlformats.org/drawingml/2006/main">
            <a:r>
              <a:t>• https://docs.github.com/issues/tracking-your-work-with-issues/about-issues</a:t>
            </a:r>
          </a:p>
          <a:p xmlns:a="http://schemas.openxmlformats.org/drawingml/2006/main">
            <a:r>
              <a:t>• https://docs.github.com/en/issues/tracking-your-work-with-issues/learning-about-issues/quickstart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Linking an Issue and PR answers why the code exists, who reviewed it, and which requirement it satisfies. Keywords close, closes, closed, fix, fixes, fixed, resolve, resolves, and resolved connect a PR to an Issue when used with a valid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merge, local main still lacks the new commits. Run git switch main and git pull --ff-only. Delete the completed local branch with git branch -d issue-12-login-validation. GitHub can delete the remote branch automatically after 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teach git push --force as a universal solution. On a shared branch it can remove another person's published history. When rewriting a personal feature branch is agreed upon, git push --force-with-lease is safer.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Assessment criteria: correct branch, clear commits, working change, a test or verification explanation, useful PR description, Issue link, and substantive review. Ask pairs to exchange roles in a second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commands as a verb followed by an object. git switch -c feature/x means: switch after creating the new branch feature/x. git push -u origin feature/x means: send the branch to origin and remember the upstream relationship.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answers: add selects commit contents; fetch only downloads references while pull also integrates; base receives changes; a link preserves context and can close an Issue; a person resolves the conflict, tests, and commits; revert adds an inverse commit without rewriting published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repeating the full path: an Issue states the goal, a branch isolates work, commits preserve steps, a PR provides review and checks, and merge updates shared history. This is a foundational GitHub team-development workflow.</a:t>
            </a:r>
          </a:p>
          <a:p xmlns:a="http://schemas.openxmlformats.org/drawingml/2006/main">
            <a:r>
              <a:t/>
            </a:r>
          </a:p>
          <a:p xmlns:a="http://schemas.openxmlformats.org/drawingml/2006/main">
            <a:r>
              <a:t>Sources:</a:t>
            </a:r>
          </a:p>
          <a:p xmlns:a="http://schemas.openxmlformats.org/drawingml/2006/main">
            <a:r>
              <a:t>• https://docs.github.com/en/pull-requests/get-started/about-pull-requests</a:t>
            </a:r>
          </a:p>
          <a:p xmlns:a="http://schemas.openxmlformats.org/drawingml/2006/main">
            <a:r>
              <a:t>• https://docs.github.com/issues/tracking-your-work-with-issues/about-issues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c3d8811b4445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566831d3ca4bb1" /><Relationship Type="http://schemas.openxmlformats.org/officeDocument/2006/relationships/slideLayout" Target="/ppt/slideLayouts/slideLayout1.xml" Id="Rccd5218e535744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d5218e535744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aff262a04b425a" /><Relationship Type="http://schemas.openxmlformats.org/officeDocument/2006/relationships/notesSlide" Target="/ppt/notesSlides/notesSlide1.xml" Id="R4b513716f5fb4f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5dbc6427c747e3" /><Relationship Type="http://schemas.openxmlformats.org/officeDocument/2006/relationships/notesSlide" Target="/ppt/notesSlides/notesSlide2.xml" Id="Rbdac65c533c243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75b0f743f04596" /><Relationship Type="http://schemas.openxmlformats.org/officeDocument/2006/relationships/notesSlide" Target="/ppt/notesSlides/notesSlide3.xml" Id="Rdb0564380fd94a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ceaf793e054225" /><Relationship Type="http://schemas.openxmlformats.org/officeDocument/2006/relationships/notesSlide" Target="/ppt/notesSlides/notesSlide4.xml" Id="R0226b82ed2c245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8a4b4e710243a4" /><Relationship Type="http://schemas.openxmlformats.org/officeDocument/2006/relationships/notesSlide" Target="/ppt/notesSlides/notesSlide5.xml" Id="Ra43dccfbcfe44e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66d6fd8da64473" /><Relationship Type="http://schemas.openxmlformats.org/officeDocument/2006/relationships/notesSlide" Target="/ppt/notesSlides/notesSlide6.xml" Id="R273e21b4f76f4c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20723470dc403b" /><Relationship Type="http://schemas.openxmlformats.org/officeDocument/2006/relationships/notesSlide" Target="/ppt/notesSlides/notesSlide7.xml" Id="R2266a56ed9a44f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0f6180114c460c" /><Relationship Type="http://schemas.openxmlformats.org/officeDocument/2006/relationships/notesSlide" Target="/ppt/notesSlides/notesSlide8.xml" Id="R59e709b3397540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8693de9cc34794" /><Relationship Type="http://schemas.openxmlformats.org/officeDocument/2006/relationships/notesSlide" Target="/ppt/notesSlides/notesSlide9.xml" Id="R570cd9e0226a41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efc14d323948b6" /><Relationship Type="http://schemas.openxmlformats.org/officeDocument/2006/relationships/notesSlide" Target="/ppt/notesSlides/notesSlide10.xml" Id="R57291d8b8cba45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3bfe8f5ac54c5a" /><Relationship Type="http://schemas.openxmlformats.org/officeDocument/2006/relationships/notesSlide" Target="/ppt/notesSlides/notesSlide11.xml" Id="R3d62d39db66f49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6a131248784f17" /><Relationship Type="http://schemas.openxmlformats.org/officeDocument/2006/relationships/notesSlide" Target="/ppt/notesSlides/notesSlide12.xml" Id="R9d3b777f19144e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72a6e70d2a4f84" /><Relationship Type="http://schemas.openxmlformats.org/officeDocument/2006/relationships/notesSlide" Target="/ppt/notesSlides/notesSlide13.xml" Id="Rf459e8cc3a5a41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c50d86a01a4155" /><Relationship Type="http://schemas.openxmlformats.org/officeDocument/2006/relationships/notesSlide" Target="/ppt/notesSlides/notesSlide14.xml" Id="R524ff958141741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1e5cd986044137" /><Relationship Type="http://schemas.openxmlformats.org/officeDocument/2006/relationships/notesSlide" Target="/ppt/notesSlides/notesSlide15.xml" Id="R4029ff9cf7e04e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c287b8463c04f56" /><Relationship Type="http://schemas.openxmlformats.org/officeDocument/2006/relationships/notesSlide" Target="/ppt/notesSlides/notesSlide16.xml" Id="Reb34aaedf37f49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37271147ba84668" /><Relationship Type="http://schemas.openxmlformats.org/officeDocument/2006/relationships/notesSlide" Target="/ppt/notesSlides/notesSlide17.xml" Id="Rdd37c2987c014f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bbb0dcfccb04570" /><Relationship Type="http://schemas.openxmlformats.org/officeDocument/2006/relationships/notesSlide" Target="/ppt/notesSlides/notesSlide18.xml" Id="Rcd7932cfb1dc49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68b11858434a5b" /><Relationship Type="http://schemas.openxmlformats.org/officeDocument/2006/relationships/notesSlide" Target="/ppt/notesSlides/notesSlide19.xml" Id="Rb2535d131db641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ebf500e2efd4691" /><Relationship Type="http://schemas.openxmlformats.org/officeDocument/2006/relationships/notesSlide" Target="/ppt/notesSlides/notesSlide20.xml" Id="R59426e95e2c149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9dd2bffc324672" /><Relationship Type="http://schemas.openxmlformats.org/officeDocument/2006/relationships/notesSlide" Target="/ppt/notesSlides/notesSlide21.xml" Id="Rae0b6b85b03d45e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19cc1bb7d1405b" /><Relationship Type="http://schemas.openxmlformats.org/officeDocument/2006/relationships/notesSlide" Target="/ppt/notesSlides/notesSlide22.xml" Id="Rebcec827c50c4dc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79085d7ba244325" /><Relationship Type="http://schemas.openxmlformats.org/officeDocument/2006/relationships/notesSlide" Target="/ppt/notesSlides/notesSlide23.xml" Id="R729f9e38d31f42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360df8c826c4794" /><Relationship Type="http://schemas.openxmlformats.org/officeDocument/2006/relationships/notesSlide" Target="/ppt/notesSlides/notesSlide24.xml" Id="Rb027b3002a4948a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a367010d6f440e" /><Relationship Type="http://schemas.openxmlformats.org/officeDocument/2006/relationships/notesSlide" Target="/ppt/notesSlides/notesSlide25.xml" Id="R654ec3ed53a64f16" /></Relationships>
</file>

<file path=ppt/slides/slide1.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3B56E38-B295-4E02-AB4B-45AD41BCD8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D111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143D91-75CA-4A25-81CF-1AC8C20B8246}"/>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FB95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633F47-A4C6-4C09-945F-930B1D86E62A}"/>
              </a:ext>
            </a:extLst>
          </p:cNvPr>
          <p:cNvSpPr>
            <a:spLocks xmlns:a="http://schemas.openxmlformats.org/drawingml/2006/main" noGrp="1"/>
          </p:cNvSpPr>
          <p:nvPr/>
        </p:nvSpPr>
        <p:spPr>
          <a:xfrm xmlns:a="http://schemas.openxmlformats.org/drawingml/2006/main">
            <a:off x="762000" y="10477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0F6FC"/>
                </a:solidFill>
                <a:latin typeface="DejaVu Sans"/>
                <a:ea typeface="DejaVu Sans"/>
                <a:cs typeface="DejaVu Sans"/>
              </a:defRPr>
            </a:pPr>
            <a:r>
              <a:rPr sz="3600" b="1">
                <a:solidFill>
                  <a:srgbClr val="F0F6FC"/>
                </a:solidFill>
                <a:latin typeface="DejaVu Sans"/>
                <a:ea typeface="DejaVu Sans"/>
                <a:cs typeface="DejaVu Sans"/>
              </a:rPr>
              <a:t>GitHub: Repositories, Branches,</a:t>
            </a:r>
          </a:p>
          <a:p xmlns:a="http://schemas.openxmlformats.org/drawingml/2006/main">
            <a:pPr algn="l">
              <a:defRPr sz="3600" b="1">
                <a:solidFill>
                  <a:srgbClr val="F0F6FC"/>
                </a:solidFill>
                <a:latin typeface="DejaVu Sans"/>
                <a:ea typeface="DejaVu Sans"/>
                <a:cs typeface="DejaVu Sans"/>
              </a:defRPr>
            </a:pPr>
            <a:r>
              <a:rPr sz="3600" b="1">
                <a:solidFill>
                  <a:srgbClr val="F0F6FC"/>
                </a:solidFill>
                <a:latin typeface="DejaVu Sans"/>
                <a:ea typeface="DejaVu Sans"/>
                <a:cs typeface="DejaVu Sans"/>
              </a:rPr>
              <a:t>Pull Requests, and Issues</a:t>
            </a:r>
          </a:p>
        </p:txBody>
      </p:sp>
      <p:sp>
        <p:nvSpPr>
          <p:cNvPr id="4" name="">
            <a:extLst xmlns:a="http://schemas.openxmlformats.org/drawingml/2006/main">
              <a:ext uri="{FF2B5EF4-FFF2-40B4-BE49-F238E27FC236}">
                <a16:creationId xmlns:a16="http://schemas.microsoft.com/office/drawing/2014/main" id="{092EEC5F-5784-4AA6-AFA8-D955CD552522}"/>
              </a:ext>
            </a:extLst>
          </p:cNvPr>
          <p:cNvSpPr>
            <a:spLocks xmlns:a="http://schemas.openxmlformats.org/drawingml/2006/main" noGrp="1"/>
          </p:cNvSpPr>
          <p:nvPr/>
        </p:nvSpPr>
        <p:spPr>
          <a:xfrm xmlns:a="http://schemas.openxmlformats.org/drawingml/2006/main">
            <a:off x="800100" y="302895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58A6FF"/>
                </a:solidFill>
                <a:latin typeface="DejaVu Sans"/>
                <a:ea typeface="DejaVu Sans"/>
                <a:cs typeface="DejaVu Sans"/>
              </a:defRPr>
            </a:pPr>
            <a:r>
              <a:rPr sz="1875" b="1">
                <a:solidFill>
                  <a:srgbClr val="58A6FF"/>
                </a:solidFill>
                <a:latin typeface="DejaVu Sans"/>
                <a:ea typeface="DejaVu Sans"/>
                <a:cs typeface="DejaVu Sans"/>
              </a:rPr>
              <a:t>A step-by-step course for IT undergraduates</a:t>
            </a:r>
          </a:p>
        </p:txBody>
      </p:sp>
      <p:sp>
        <p:nvSpPr>
          <p:cNvPr id="5" name="">
            <a:extLst xmlns:a="http://schemas.openxmlformats.org/drawingml/2006/main">
              <a:ext uri="{FF2B5EF4-FFF2-40B4-BE49-F238E27FC236}">
                <a16:creationId xmlns:a16="http://schemas.microsoft.com/office/drawing/2014/main" id="{7A0CAD18-64BF-4203-8C49-A006E6D86355}"/>
              </a:ext>
            </a:extLst>
          </p:cNvPr>
          <p:cNvSpPr>
            <a:spLocks xmlns:a="http://schemas.openxmlformats.org/drawingml/2006/main" noGrp="1"/>
          </p:cNvSpPr>
          <p:nvPr/>
        </p:nvSpPr>
        <p:spPr>
          <a:xfrm xmlns:a="http://schemas.openxmlformats.org/drawingml/2006/main">
            <a:off x="6858000" y="4095750"/>
            <a:ext cx="4724400" cy="1524000"/>
          </a:xfrm>
          <a:prstGeom xmlns:a="http://schemas.openxmlformats.org/drawingml/2006/main" prst="roundRect">
            <a:avLst>
              <a:gd name="adj" fmla="val 5000"/>
            </a:avLst>
          </a:prstGeom>
          <a:solidFill xmlns:a="http://schemas.openxmlformats.org/drawingml/2006/main">
            <a:srgbClr val="090C10"/>
          </a:solidFill>
          <a:ln xmlns:a="http://schemas.openxmlformats.org/drawingml/2006/main" w="9525">
            <a:solidFill>
              <a:srgbClr val="30363D"/>
            </a:solidFill>
          </a:ln>
        </p:spPr>
      </p:sp>
      <p:sp>
        <p:nvSpPr>
          <p:cNvPr id="6" name="">
            <a:extLst xmlns:a="http://schemas.openxmlformats.org/drawingml/2006/main">
              <a:ext uri="{FF2B5EF4-FFF2-40B4-BE49-F238E27FC236}">
                <a16:creationId xmlns:a16="http://schemas.microsoft.com/office/drawing/2014/main" id="{A656D6D3-1625-44A3-BD77-56C9530F822F}"/>
              </a:ext>
            </a:extLst>
          </p:cNvPr>
          <p:cNvSpPr>
            <a:spLocks xmlns:a="http://schemas.openxmlformats.org/drawingml/2006/main" noGrp="1"/>
          </p:cNvSpPr>
          <p:nvPr/>
        </p:nvSpPr>
        <p:spPr>
          <a:xfrm xmlns:a="http://schemas.openxmlformats.org/drawingml/2006/main">
            <a:off x="6858000" y="4095750"/>
            <a:ext cx="76200" cy="1524000"/>
          </a:xfrm>
          <a:prstGeom xmlns:a="http://schemas.openxmlformats.org/drawingml/2006/main" prst="rect">
            <a:avLst/>
          </a:prstGeom>
          <a:solidFill xmlns:a="http://schemas.openxmlformats.org/drawingml/2006/main">
            <a:srgbClr val="3FB95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F7BC561-22DA-4123-98AF-476C9E66AB4E}"/>
              </a:ext>
            </a:extLst>
          </p:cNvPr>
          <p:cNvSpPr>
            <a:spLocks xmlns:a="http://schemas.openxmlformats.org/drawingml/2006/main" noGrp="1"/>
          </p:cNvSpPr>
          <p:nvPr/>
        </p:nvSpPr>
        <p:spPr>
          <a:xfrm xmlns:a="http://schemas.openxmlformats.org/drawingml/2006/main">
            <a:off x="7086600" y="4248150"/>
            <a:ext cx="43053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switch -c feature/login</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add . &amp;&amp; git commit -m "feat: add login"</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push -u origin feature/login</a:t>
            </a:r>
          </a:p>
        </p:txBody>
      </p:sp>
      <p:sp>
        <p:nvSpPr>
          <p:cNvPr id="8" name="">
            <a:extLst xmlns:a="http://schemas.openxmlformats.org/drawingml/2006/main">
              <a:ext uri="{FF2B5EF4-FFF2-40B4-BE49-F238E27FC236}">
                <a16:creationId xmlns:a16="http://schemas.microsoft.com/office/drawing/2014/main" id="{0FAF787C-911E-442A-8381-89C483B57668}"/>
              </a:ext>
            </a:extLst>
          </p:cNvPr>
          <p:cNvSpPr>
            <a:spLocks xmlns:a="http://schemas.openxmlformats.org/drawingml/2006/main" noGrp="1"/>
          </p:cNvSpPr>
          <p:nvPr/>
        </p:nvSpPr>
        <p:spPr>
          <a:xfrm xmlns:a="http://schemas.openxmlformats.org/drawingml/2006/main">
            <a:off x="800100" y="4524375"/>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8B949E"/>
                </a:solidFill>
                <a:latin typeface="DejaVu Sans"/>
                <a:ea typeface="DejaVu Sans"/>
                <a:cs typeface="DejaVu Sans"/>
              </a:defRPr>
            </a:pPr>
            <a:r>
              <a:rPr sz="1650" b="0">
                <a:solidFill>
                  <a:srgbClr val="8B949E"/>
                </a:solidFill>
                <a:latin typeface="DejaVu Sans"/>
                <a:ea typeface="DejaVu Sans"/>
                <a:cs typeface="DejaVu Sans"/>
              </a:rPr>
              <a:t>From an idea to a reviewed change in main</a:t>
            </a:r>
          </a:p>
        </p:txBody>
      </p:sp>
      <p:sp>
        <p:nvSpPr>
          <p:cNvPr id="9" name="">
            <a:extLst xmlns:a="http://schemas.openxmlformats.org/drawingml/2006/main">
              <a:ext uri="{FF2B5EF4-FFF2-40B4-BE49-F238E27FC236}">
                <a16:creationId xmlns:a16="http://schemas.microsoft.com/office/drawing/2014/main" id="{ABDA2577-8CDD-4074-AE19-4C06982321D5}"/>
              </a:ext>
            </a:extLst>
          </p:cNvPr>
          <p:cNvSpPr>
            <a:spLocks xmlns:a="http://schemas.openxmlformats.org/drawingml/2006/main" noGrp="1"/>
          </p:cNvSpPr>
          <p:nvPr/>
        </p:nvSpPr>
        <p:spPr>
          <a:xfrm xmlns:a="http://schemas.openxmlformats.org/drawingml/2006/main">
            <a:off x="800100" y="5334000"/>
            <a:ext cx="93345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D29922"/>
            </a:solidFill>
          </a:ln>
        </p:spPr>
      </p:sp>
      <p:sp>
        <p:nvSpPr>
          <p:cNvPr id="10" name="">
            <a:extLst xmlns:a="http://schemas.openxmlformats.org/drawingml/2006/main">
              <a:ext uri="{FF2B5EF4-FFF2-40B4-BE49-F238E27FC236}">
                <a16:creationId xmlns:a16="http://schemas.microsoft.com/office/drawing/2014/main" id="{F8577C08-62BF-472F-A8DB-FB9A9810B95C}"/>
              </a:ext>
            </a:extLst>
          </p:cNvPr>
          <p:cNvSpPr>
            <a:spLocks xmlns:a="http://schemas.openxmlformats.org/drawingml/2006/main" noGrp="1"/>
          </p:cNvSpPr>
          <p:nvPr/>
        </p:nvSpPr>
        <p:spPr>
          <a:xfrm xmlns:a="http://schemas.openxmlformats.org/drawingml/2006/main">
            <a:off x="800100" y="5334000"/>
            <a:ext cx="933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29922"/>
                </a:solidFill>
                <a:latin typeface="DejaVu Sans"/>
                <a:ea typeface="DejaVu Sans"/>
                <a:cs typeface="DejaVu Sans"/>
              </a:defRPr>
            </a:pPr>
            <a:r>
              <a:rPr sz="1050" b="1">
                <a:solidFill>
                  <a:srgbClr val="D29922"/>
                </a:solidFill>
                <a:latin typeface="DejaVu Sans"/>
                <a:ea typeface="DejaVu Sans"/>
                <a:cs typeface="DejaVu Sans"/>
              </a:rPr>
              <a:t>GIT</a:t>
            </a:r>
          </a:p>
        </p:txBody>
      </p:sp>
      <p:sp>
        <p:nvSpPr>
          <p:cNvPr id="11" name="">
            <a:extLst xmlns:a="http://schemas.openxmlformats.org/drawingml/2006/main">
              <a:ext uri="{FF2B5EF4-FFF2-40B4-BE49-F238E27FC236}">
                <a16:creationId xmlns:a16="http://schemas.microsoft.com/office/drawing/2014/main" id="{DEF0F0A8-8ED6-42D9-9161-904DA4AF9916}"/>
              </a:ext>
            </a:extLst>
          </p:cNvPr>
          <p:cNvSpPr>
            <a:spLocks xmlns:a="http://schemas.openxmlformats.org/drawingml/2006/main" noGrp="1"/>
          </p:cNvSpPr>
          <p:nvPr/>
        </p:nvSpPr>
        <p:spPr>
          <a:xfrm xmlns:a="http://schemas.openxmlformats.org/drawingml/2006/main">
            <a:off x="1866900" y="5334000"/>
            <a:ext cx="120015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58A6FF"/>
            </a:solidFill>
          </a:ln>
        </p:spPr>
      </p:sp>
      <p:sp>
        <p:nvSpPr>
          <p:cNvPr id="12" name="">
            <a:extLst xmlns:a="http://schemas.openxmlformats.org/drawingml/2006/main">
              <a:ext uri="{FF2B5EF4-FFF2-40B4-BE49-F238E27FC236}">
                <a16:creationId xmlns:a16="http://schemas.microsoft.com/office/drawing/2014/main" id="{A80AF76E-3E86-485E-833D-8B1E1B3CCE66}"/>
              </a:ext>
            </a:extLst>
          </p:cNvPr>
          <p:cNvSpPr>
            <a:spLocks xmlns:a="http://schemas.openxmlformats.org/drawingml/2006/main" noGrp="1"/>
          </p:cNvSpPr>
          <p:nvPr/>
        </p:nvSpPr>
        <p:spPr>
          <a:xfrm xmlns:a="http://schemas.openxmlformats.org/drawingml/2006/main">
            <a:off x="1866900" y="5334000"/>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58A6FF"/>
                </a:solidFill>
                <a:latin typeface="DejaVu Sans"/>
                <a:ea typeface="DejaVu Sans"/>
                <a:cs typeface="DejaVu Sans"/>
              </a:defRPr>
            </a:pPr>
            <a:r>
              <a:rPr sz="1050" b="1">
                <a:solidFill>
                  <a:srgbClr val="58A6FF"/>
                </a:solidFill>
                <a:latin typeface="DejaVu Sans"/>
                <a:ea typeface="DejaVu Sans"/>
                <a:cs typeface="DejaVu Sans"/>
              </a:rPr>
              <a:t>GITHUB</a:t>
            </a:r>
          </a:p>
        </p:txBody>
      </p:sp>
      <p:sp>
        <p:nvSpPr>
          <p:cNvPr id="13" name="">
            <a:extLst xmlns:a="http://schemas.openxmlformats.org/drawingml/2006/main">
              <a:ext uri="{FF2B5EF4-FFF2-40B4-BE49-F238E27FC236}">
                <a16:creationId xmlns:a16="http://schemas.microsoft.com/office/drawing/2014/main" id="{3513AF4C-DFAE-4D53-B80A-0E9337DDEC4E}"/>
              </a:ext>
            </a:extLst>
          </p:cNvPr>
          <p:cNvSpPr>
            <a:spLocks xmlns:a="http://schemas.openxmlformats.org/drawingml/2006/main" noGrp="1"/>
          </p:cNvSpPr>
          <p:nvPr/>
        </p:nvSpPr>
        <p:spPr>
          <a:xfrm xmlns:a="http://schemas.openxmlformats.org/drawingml/2006/main">
            <a:off x="3200400" y="5334000"/>
            <a:ext cx="135255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A371F7"/>
            </a:solidFill>
          </a:ln>
        </p:spPr>
      </p:sp>
      <p:sp>
        <p:nvSpPr>
          <p:cNvPr id="14" name="">
            <a:extLst xmlns:a="http://schemas.openxmlformats.org/drawingml/2006/main">
              <a:ext uri="{FF2B5EF4-FFF2-40B4-BE49-F238E27FC236}">
                <a16:creationId xmlns:a16="http://schemas.microsoft.com/office/drawing/2014/main" id="{035B4EF5-6698-4147-9896-F96B95163C35}"/>
              </a:ext>
            </a:extLst>
          </p:cNvPr>
          <p:cNvSpPr>
            <a:spLocks xmlns:a="http://schemas.openxmlformats.org/drawingml/2006/main" noGrp="1"/>
          </p:cNvSpPr>
          <p:nvPr/>
        </p:nvSpPr>
        <p:spPr>
          <a:xfrm xmlns:a="http://schemas.openxmlformats.org/drawingml/2006/main">
            <a:off x="3200400" y="533400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A371F7"/>
                </a:solidFill>
                <a:latin typeface="DejaVu Sans"/>
                <a:ea typeface="DejaVu Sans"/>
                <a:cs typeface="DejaVu Sans"/>
              </a:defRPr>
            </a:pPr>
            <a:r>
              <a:rPr sz="1050" b="1">
                <a:solidFill>
                  <a:srgbClr val="A371F7"/>
                </a:solidFill>
                <a:latin typeface="DejaVu Sans"/>
                <a:ea typeface="DejaVu Sans"/>
                <a:cs typeface="DejaVu Sans"/>
              </a:rPr>
              <a:t>TEAMWORK</a:t>
            </a:r>
          </a:p>
        </p:txBody>
      </p:sp>
      <p:sp>
        <p:nvSpPr>
          <p:cNvPr id="15" name="">
            <a:extLst xmlns:a="http://schemas.openxmlformats.org/drawingml/2006/main">
              <a:ext uri="{FF2B5EF4-FFF2-40B4-BE49-F238E27FC236}">
                <a16:creationId xmlns:a16="http://schemas.microsoft.com/office/drawing/2014/main" id="{91FF853F-D3F0-4356-AE9B-B615C3CEFB5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01</a:t>
            </a:r>
          </a:p>
        </p:txBody>
      </p:sp>
      <p:sp>
        <p:nvSpPr>
          <p:cNvPr id="16" name="">
            <a:extLst xmlns:a="http://schemas.openxmlformats.org/drawingml/2006/main">
              <a:ext uri="{FF2B5EF4-FFF2-40B4-BE49-F238E27FC236}">
                <a16:creationId xmlns:a16="http://schemas.microsoft.com/office/drawing/2014/main" id="{D92AFD47-3D71-4657-A490-1E919FDA753A}"/>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Tree>
    <p:extLst>
      <p:ext uri="{BB962C8B-B14F-4D97-AF65-F5344CB8AC3E}">
        <p14:creationId xmlns:p14="http://schemas.microsoft.com/office/powerpoint/2010/main" val="501510885"/>
      </p:ext>
    </p:extLst>
  </p:cSld>
</p:sld>
</file>

<file path=ppt/slides/slide2.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A79D5DD-91C7-4E13-BF09-3F732346B631}"/>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Learning outcomes</a:t>
            </a:r>
          </a:p>
        </p:txBody>
      </p:sp>
      <p:sp>
        <p:nvSpPr>
          <p:cNvPr id="2" name="">
            <a:extLst xmlns:a="http://schemas.openxmlformats.org/drawingml/2006/main">
              <a:ext uri="{FF2B5EF4-FFF2-40B4-BE49-F238E27FC236}">
                <a16:creationId xmlns:a16="http://schemas.microsoft.com/office/drawing/2014/main" id="{D35118CD-F558-4C37-A30A-E2BB406595B5}"/>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What students will be able to do after the class</a:t>
            </a:r>
          </a:p>
        </p:txBody>
      </p:sp>
      <p:sp>
        <p:nvSpPr>
          <p:cNvPr id="3" name="">
            <a:extLst xmlns:a="http://schemas.openxmlformats.org/drawingml/2006/main">
              <a:ext uri="{FF2B5EF4-FFF2-40B4-BE49-F238E27FC236}">
                <a16:creationId xmlns:a16="http://schemas.microsoft.com/office/drawing/2014/main" id="{9EBEA7C2-52FB-444A-84B7-96B30419273D}"/>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4A89F6-F689-443E-94D6-076E5747C105}"/>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02</a:t>
            </a:r>
          </a:p>
        </p:txBody>
      </p:sp>
      <p:sp>
        <p:nvSpPr>
          <p:cNvPr id="5" name="">
            <a:extLst xmlns:a="http://schemas.openxmlformats.org/drawingml/2006/main">
              <a:ext uri="{FF2B5EF4-FFF2-40B4-BE49-F238E27FC236}">
                <a16:creationId xmlns:a16="http://schemas.microsoft.com/office/drawing/2014/main" id="{9F08E58E-E24D-4CAA-8FAA-4BD7BD1FD9B9}"/>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E6917DC4-ED6F-4111-AEFB-0F446E88EEAE}"/>
              </a:ext>
            </a:extLst>
          </p:cNvPr>
          <p:cNvSpPr>
            <a:spLocks xmlns:a="http://schemas.openxmlformats.org/drawingml/2006/main" noGrp="1"/>
          </p:cNvSpPr>
          <p:nvPr/>
        </p:nvSpPr>
        <p:spPr>
          <a:xfrm xmlns:a="http://schemas.openxmlformats.org/drawingml/2006/main">
            <a:off x="609600" y="1619250"/>
            <a:ext cx="10972800" cy="838200"/>
          </a:xfrm>
          <a:prstGeom xmlns:a="http://schemas.openxmlformats.org/drawingml/2006/main" prst="roundRect">
            <a:avLst>
              <a:gd name="adj" fmla="val 9091"/>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430B3D48-93C8-4764-9C1F-21613823653E}"/>
              </a:ext>
            </a:extLst>
          </p:cNvPr>
          <p:cNvSpPr>
            <a:spLocks xmlns:a="http://schemas.openxmlformats.org/drawingml/2006/main" noGrp="1"/>
          </p:cNvSpPr>
          <p:nvPr/>
        </p:nvSpPr>
        <p:spPr>
          <a:xfrm xmlns:a="http://schemas.openxmlformats.org/drawingml/2006/main">
            <a:off x="838200" y="17907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A0C23847-FE81-40CF-B4CF-F3B19536287A}"/>
              </a:ext>
            </a:extLst>
          </p:cNvPr>
          <p:cNvSpPr>
            <a:spLocks xmlns:a="http://schemas.openxmlformats.org/drawingml/2006/main" noGrp="1"/>
          </p:cNvSpPr>
          <p:nvPr/>
        </p:nvSpPr>
        <p:spPr>
          <a:xfrm xmlns:a="http://schemas.openxmlformats.org/drawingml/2006/main">
            <a:off x="1695450" y="17335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F0F6FC"/>
                </a:solidFill>
                <a:latin typeface="DejaVu Sans"/>
                <a:ea typeface="DejaVu Sans"/>
                <a:cs typeface="DejaVu Sans"/>
              </a:defRPr>
            </a:pPr>
            <a:r>
              <a:rPr sz="1650" b="1">
                <a:solidFill>
                  <a:srgbClr val="F0F6FC"/>
                </a:solidFill>
                <a:latin typeface="DejaVu Sans"/>
                <a:ea typeface="DejaVu Sans"/>
                <a:cs typeface="DejaVu Sans"/>
              </a:rPr>
              <a:t>Explain</a:t>
            </a:r>
          </a:p>
        </p:txBody>
      </p:sp>
      <p:sp>
        <p:nvSpPr>
          <p:cNvPr id="9" name="">
            <a:extLst xmlns:a="http://schemas.openxmlformats.org/drawingml/2006/main">
              <a:ext uri="{FF2B5EF4-FFF2-40B4-BE49-F238E27FC236}">
                <a16:creationId xmlns:a16="http://schemas.microsoft.com/office/drawing/2014/main" id="{BC105BC0-FC2A-4C4F-A6BD-529CFE796958}"/>
              </a:ext>
            </a:extLst>
          </p:cNvPr>
          <p:cNvSpPr>
            <a:spLocks xmlns:a="http://schemas.openxmlformats.org/drawingml/2006/main" noGrp="1"/>
          </p:cNvSpPr>
          <p:nvPr/>
        </p:nvSpPr>
        <p:spPr>
          <a:xfrm xmlns:a="http://schemas.openxmlformats.org/drawingml/2006/main">
            <a:off x="3771900" y="1733550"/>
            <a:ext cx="7486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8B949E"/>
                </a:solidFill>
                <a:latin typeface="DejaVu Sans"/>
                <a:ea typeface="DejaVu Sans"/>
                <a:cs typeface="DejaVu Sans"/>
              </a:defRPr>
            </a:pPr>
            <a:r>
              <a:rPr sz="1425" b="0">
                <a:solidFill>
                  <a:srgbClr val="8B949E"/>
                </a:solidFill>
                <a:latin typeface="DejaVu Sans"/>
                <a:ea typeface="DejaVu Sans"/>
                <a:cs typeface="DejaVu Sans"/>
              </a:rPr>
              <a:t>Git, GitHub, repository, commit, and remote</a:t>
            </a:r>
          </a:p>
        </p:txBody>
      </p:sp>
      <p:sp>
        <p:nvSpPr>
          <p:cNvPr id="10" name="">
            <a:extLst xmlns:a="http://schemas.openxmlformats.org/drawingml/2006/main">
              <a:ext uri="{FF2B5EF4-FFF2-40B4-BE49-F238E27FC236}">
                <a16:creationId xmlns:a16="http://schemas.microsoft.com/office/drawing/2014/main" id="{D65CAE12-2F99-4C6D-A2B9-05285EE7124A}"/>
              </a:ext>
            </a:extLst>
          </p:cNvPr>
          <p:cNvSpPr>
            <a:spLocks xmlns:a="http://schemas.openxmlformats.org/drawingml/2006/main" noGrp="1"/>
          </p:cNvSpPr>
          <p:nvPr/>
        </p:nvSpPr>
        <p:spPr>
          <a:xfrm xmlns:a="http://schemas.openxmlformats.org/drawingml/2006/main">
            <a:off x="609600" y="2686050"/>
            <a:ext cx="10972800" cy="838200"/>
          </a:xfrm>
          <a:prstGeom xmlns:a="http://schemas.openxmlformats.org/drawingml/2006/main" prst="roundRect">
            <a:avLst>
              <a:gd name="adj" fmla="val 9091"/>
            </a:avLst>
          </a:prstGeom>
          <a:solidFill xmlns:a="http://schemas.openxmlformats.org/drawingml/2006/main">
            <a:srgbClr val="21262D"/>
          </a:solidFill>
          <a:ln xmlns:a="http://schemas.openxmlformats.org/drawingml/2006/main" w="9525">
            <a:solidFill>
              <a:srgbClr val="30363D"/>
            </a:solidFill>
          </a:ln>
        </p:spPr>
      </p:sp>
      <p:sp>
        <p:nvSpPr>
          <p:cNvPr id="11" name="">
            <a:extLst xmlns:a="http://schemas.openxmlformats.org/drawingml/2006/main">
              <a:ext uri="{FF2B5EF4-FFF2-40B4-BE49-F238E27FC236}">
                <a16:creationId xmlns:a16="http://schemas.microsoft.com/office/drawing/2014/main" id="{F332E94D-5476-4516-BFC1-704A5E672EE9}"/>
              </a:ext>
            </a:extLst>
          </p:cNvPr>
          <p:cNvSpPr>
            <a:spLocks xmlns:a="http://schemas.openxmlformats.org/drawingml/2006/main" noGrp="1"/>
          </p:cNvSpPr>
          <p:nvPr/>
        </p:nvSpPr>
        <p:spPr>
          <a:xfrm xmlns:a="http://schemas.openxmlformats.org/drawingml/2006/main">
            <a:off x="838200" y="2857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02</a:t>
            </a:r>
          </a:p>
        </p:txBody>
      </p:sp>
      <p:sp>
        <p:nvSpPr>
          <p:cNvPr id="12" name="">
            <a:extLst xmlns:a="http://schemas.openxmlformats.org/drawingml/2006/main">
              <a:ext uri="{FF2B5EF4-FFF2-40B4-BE49-F238E27FC236}">
                <a16:creationId xmlns:a16="http://schemas.microsoft.com/office/drawing/2014/main" id="{7F6FBAD4-9055-4F6D-8189-373ABF285018}"/>
              </a:ext>
            </a:extLst>
          </p:cNvPr>
          <p:cNvSpPr>
            <a:spLocks xmlns:a="http://schemas.openxmlformats.org/drawingml/2006/main" noGrp="1"/>
          </p:cNvSpPr>
          <p:nvPr/>
        </p:nvSpPr>
        <p:spPr>
          <a:xfrm xmlns:a="http://schemas.openxmlformats.org/drawingml/2006/main">
            <a:off x="1695450" y="28003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F0F6FC"/>
                </a:solidFill>
                <a:latin typeface="DejaVu Sans"/>
                <a:ea typeface="DejaVu Sans"/>
                <a:cs typeface="DejaVu Sans"/>
              </a:defRPr>
            </a:pPr>
            <a:r>
              <a:rPr sz="1650" b="1">
                <a:solidFill>
                  <a:srgbClr val="F0F6FC"/>
                </a:solidFill>
                <a:latin typeface="DejaVu Sans"/>
                <a:ea typeface="DejaVu Sans"/>
                <a:cs typeface="DejaVu Sans"/>
              </a:rPr>
              <a:t>Work</a:t>
            </a:r>
          </a:p>
        </p:txBody>
      </p:sp>
      <p:sp>
        <p:nvSpPr>
          <p:cNvPr id="13" name="">
            <a:extLst xmlns:a="http://schemas.openxmlformats.org/drawingml/2006/main">
              <a:ext uri="{FF2B5EF4-FFF2-40B4-BE49-F238E27FC236}">
                <a16:creationId xmlns:a16="http://schemas.microsoft.com/office/drawing/2014/main" id="{57EC4656-7848-498C-8418-C5794D759DA4}"/>
              </a:ext>
            </a:extLst>
          </p:cNvPr>
          <p:cNvSpPr>
            <a:spLocks xmlns:a="http://schemas.openxmlformats.org/drawingml/2006/main" noGrp="1"/>
          </p:cNvSpPr>
          <p:nvPr/>
        </p:nvSpPr>
        <p:spPr>
          <a:xfrm xmlns:a="http://schemas.openxmlformats.org/drawingml/2006/main">
            <a:off x="3771900" y="2800350"/>
            <a:ext cx="7486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8B949E"/>
                </a:solidFill>
                <a:latin typeface="DejaVu Sans"/>
                <a:ea typeface="DejaVu Sans"/>
                <a:cs typeface="DejaVu Sans"/>
              </a:defRPr>
            </a:pPr>
            <a:r>
              <a:rPr sz="1425" b="0">
                <a:solidFill>
                  <a:srgbClr val="8B949E"/>
                </a:solidFill>
                <a:latin typeface="DejaVu Sans"/>
                <a:ea typeface="DejaVu Sans"/>
                <a:cs typeface="DejaVu Sans"/>
              </a:rPr>
              <a:t>with branches without changing main directly</a:t>
            </a:r>
          </a:p>
        </p:txBody>
      </p:sp>
      <p:sp>
        <p:nvSpPr>
          <p:cNvPr id="14" name="">
            <a:extLst xmlns:a="http://schemas.openxmlformats.org/drawingml/2006/main">
              <a:ext uri="{FF2B5EF4-FFF2-40B4-BE49-F238E27FC236}">
                <a16:creationId xmlns:a16="http://schemas.microsoft.com/office/drawing/2014/main" id="{0A86A333-B2EE-46C3-B08B-2E26445D6303}"/>
              </a:ext>
            </a:extLst>
          </p:cNvPr>
          <p:cNvSpPr>
            <a:spLocks xmlns:a="http://schemas.openxmlformats.org/drawingml/2006/main" noGrp="1"/>
          </p:cNvSpPr>
          <p:nvPr/>
        </p:nvSpPr>
        <p:spPr>
          <a:xfrm xmlns:a="http://schemas.openxmlformats.org/drawingml/2006/main">
            <a:off x="609600" y="3752850"/>
            <a:ext cx="10972800" cy="838200"/>
          </a:xfrm>
          <a:prstGeom xmlns:a="http://schemas.openxmlformats.org/drawingml/2006/main" prst="roundRect">
            <a:avLst>
              <a:gd name="adj" fmla="val 9091"/>
            </a:avLst>
          </a:prstGeom>
          <a:solidFill xmlns:a="http://schemas.openxmlformats.org/drawingml/2006/main">
            <a:srgbClr val="161B22"/>
          </a:solidFill>
          <a:ln xmlns:a="http://schemas.openxmlformats.org/drawingml/2006/main" w="9525">
            <a:solidFill>
              <a:srgbClr val="30363D"/>
            </a:solidFill>
          </a:ln>
        </p:spPr>
      </p:sp>
      <p:sp>
        <p:nvSpPr>
          <p:cNvPr id="15" name="">
            <a:extLst xmlns:a="http://schemas.openxmlformats.org/drawingml/2006/main">
              <a:ext uri="{FF2B5EF4-FFF2-40B4-BE49-F238E27FC236}">
                <a16:creationId xmlns:a16="http://schemas.microsoft.com/office/drawing/2014/main" id="{B0D8A0AE-1E4E-4FCF-B731-40D4330F8AB2}"/>
              </a:ext>
            </a:extLst>
          </p:cNvPr>
          <p:cNvSpPr>
            <a:spLocks xmlns:a="http://schemas.openxmlformats.org/drawingml/2006/main" noGrp="1"/>
          </p:cNvSpPr>
          <p:nvPr/>
        </p:nvSpPr>
        <p:spPr>
          <a:xfrm xmlns:a="http://schemas.openxmlformats.org/drawingml/2006/main">
            <a:off x="838200" y="3924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03</a:t>
            </a:r>
          </a:p>
        </p:txBody>
      </p:sp>
      <p:sp>
        <p:nvSpPr>
          <p:cNvPr id="16" name="">
            <a:extLst xmlns:a="http://schemas.openxmlformats.org/drawingml/2006/main">
              <a:ext uri="{FF2B5EF4-FFF2-40B4-BE49-F238E27FC236}">
                <a16:creationId xmlns:a16="http://schemas.microsoft.com/office/drawing/2014/main" id="{147A73DB-A08A-422F-A9F7-07257AD43341}"/>
              </a:ext>
            </a:extLst>
          </p:cNvPr>
          <p:cNvSpPr>
            <a:spLocks xmlns:a="http://schemas.openxmlformats.org/drawingml/2006/main" noGrp="1"/>
          </p:cNvSpPr>
          <p:nvPr/>
        </p:nvSpPr>
        <p:spPr>
          <a:xfrm xmlns:a="http://schemas.openxmlformats.org/drawingml/2006/main">
            <a:off x="1695450" y="38671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F0F6FC"/>
                </a:solidFill>
                <a:latin typeface="DejaVu Sans"/>
                <a:ea typeface="DejaVu Sans"/>
                <a:cs typeface="DejaVu Sans"/>
              </a:defRPr>
            </a:pPr>
            <a:r>
              <a:rPr sz="1650" b="1">
                <a:solidFill>
                  <a:srgbClr val="F0F6FC"/>
                </a:solidFill>
                <a:latin typeface="DejaVu Sans"/>
                <a:ea typeface="DejaVu Sans"/>
                <a:cs typeface="DejaVu Sans"/>
              </a:rPr>
              <a:t>Collaborate</a:t>
            </a:r>
          </a:p>
        </p:txBody>
      </p:sp>
      <p:sp>
        <p:nvSpPr>
          <p:cNvPr id="17" name="">
            <a:extLst xmlns:a="http://schemas.openxmlformats.org/drawingml/2006/main">
              <a:ext uri="{FF2B5EF4-FFF2-40B4-BE49-F238E27FC236}">
                <a16:creationId xmlns:a16="http://schemas.microsoft.com/office/drawing/2014/main" id="{83C5D643-EFA7-4774-A626-6D2FEAB7A5D1}"/>
              </a:ext>
            </a:extLst>
          </p:cNvPr>
          <p:cNvSpPr>
            <a:spLocks xmlns:a="http://schemas.openxmlformats.org/drawingml/2006/main" noGrp="1"/>
          </p:cNvSpPr>
          <p:nvPr/>
        </p:nvSpPr>
        <p:spPr>
          <a:xfrm xmlns:a="http://schemas.openxmlformats.org/drawingml/2006/main">
            <a:off x="3771900" y="3867150"/>
            <a:ext cx="7486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8B949E"/>
                </a:solidFill>
                <a:latin typeface="DejaVu Sans"/>
                <a:ea typeface="DejaVu Sans"/>
                <a:cs typeface="DejaVu Sans"/>
              </a:defRPr>
            </a:pPr>
            <a:r>
              <a:rPr sz="1425" b="0">
                <a:solidFill>
                  <a:srgbClr val="8B949E"/>
                </a:solidFill>
                <a:latin typeface="DejaVu Sans"/>
                <a:ea typeface="DejaVu Sans"/>
                <a:cs typeface="DejaVu Sans"/>
              </a:rPr>
              <a:t>through Pull Requests, reviews, and merges</a:t>
            </a:r>
          </a:p>
        </p:txBody>
      </p:sp>
      <p:sp>
        <p:nvSpPr>
          <p:cNvPr id="18" name="">
            <a:extLst xmlns:a="http://schemas.openxmlformats.org/drawingml/2006/main">
              <a:ext uri="{FF2B5EF4-FFF2-40B4-BE49-F238E27FC236}">
                <a16:creationId xmlns:a16="http://schemas.microsoft.com/office/drawing/2014/main" id="{46834C7F-CF40-47B7-BD32-56354B76E964}"/>
              </a:ext>
            </a:extLst>
          </p:cNvPr>
          <p:cNvSpPr>
            <a:spLocks xmlns:a="http://schemas.openxmlformats.org/drawingml/2006/main" noGrp="1"/>
          </p:cNvSpPr>
          <p:nvPr/>
        </p:nvSpPr>
        <p:spPr>
          <a:xfrm xmlns:a="http://schemas.openxmlformats.org/drawingml/2006/main">
            <a:off x="609600" y="4819650"/>
            <a:ext cx="10972800" cy="838200"/>
          </a:xfrm>
          <a:prstGeom xmlns:a="http://schemas.openxmlformats.org/drawingml/2006/main" prst="roundRect">
            <a:avLst>
              <a:gd name="adj" fmla="val 9091"/>
            </a:avLst>
          </a:prstGeom>
          <a:solidFill xmlns:a="http://schemas.openxmlformats.org/drawingml/2006/main">
            <a:srgbClr val="21262D"/>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7D582EC5-67DE-4A10-B976-6587E96277F1}"/>
              </a:ext>
            </a:extLst>
          </p:cNvPr>
          <p:cNvSpPr>
            <a:spLocks xmlns:a="http://schemas.openxmlformats.org/drawingml/2006/main" noGrp="1"/>
          </p:cNvSpPr>
          <p:nvPr/>
        </p:nvSpPr>
        <p:spPr>
          <a:xfrm xmlns:a="http://schemas.openxmlformats.org/drawingml/2006/main">
            <a:off x="838200" y="49911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04</a:t>
            </a:r>
          </a:p>
        </p:txBody>
      </p:sp>
      <p:sp>
        <p:nvSpPr>
          <p:cNvPr id="20" name="">
            <a:extLst xmlns:a="http://schemas.openxmlformats.org/drawingml/2006/main">
              <a:ext uri="{FF2B5EF4-FFF2-40B4-BE49-F238E27FC236}">
                <a16:creationId xmlns:a16="http://schemas.microsoft.com/office/drawing/2014/main" id="{E8E77940-6FF9-4CB9-A1CD-7CC8583E46D1}"/>
              </a:ext>
            </a:extLst>
          </p:cNvPr>
          <p:cNvSpPr>
            <a:spLocks xmlns:a="http://schemas.openxmlformats.org/drawingml/2006/main" noGrp="1"/>
          </p:cNvSpPr>
          <p:nvPr/>
        </p:nvSpPr>
        <p:spPr>
          <a:xfrm xmlns:a="http://schemas.openxmlformats.org/drawingml/2006/main">
            <a:off x="1695450" y="49339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F0F6FC"/>
                </a:solidFill>
                <a:latin typeface="DejaVu Sans"/>
                <a:ea typeface="DejaVu Sans"/>
                <a:cs typeface="DejaVu Sans"/>
              </a:defRPr>
            </a:pPr>
            <a:r>
              <a:rPr sz="1650" b="1">
                <a:solidFill>
                  <a:srgbClr val="F0F6FC"/>
                </a:solidFill>
                <a:latin typeface="DejaVu Sans"/>
                <a:ea typeface="DejaVu Sans"/>
                <a:cs typeface="DejaVu Sans"/>
              </a:rPr>
              <a:t>Plan</a:t>
            </a:r>
          </a:p>
        </p:txBody>
      </p:sp>
      <p:sp>
        <p:nvSpPr>
          <p:cNvPr id="21" name="">
            <a:extLst xmlns:a="http://schemas.openxmlformats.org/drawingml/2006/main">
              <a:ext uri="{FF2B5EF4-FFF2-40B4-BE49-F238E27FC236}">
                <a16:creationId xmlns:a16="http://schemas.microsoft.com/office/drawing/2014/main" id="{455C1427-B430-44E0-A746-BD957C273347}"/>
              </a:ext>
            </a:extLst>
          </p:cNvPr>
          <p:cNvSpPr>
            <a:spLocks xmlns:a="http://schemas.openxmlformats.org/drawingml/2006/main" noGrp="1"/>
          </p:cNvSpPr>
          <p:nvPr/>
        </p:nvSpPr>
        <p:spPr>
          <a:xfrm xmlns:a="http://schemas.openxmlformats.org/drawingml/2006/main">
            <a:off x="3771900" y="4933950"/>
            <a:ext cx="7486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8B949E"/>
                </a:solidFill>
                <a:latin typeface="DejaVu Sans"/>
                <a:ea typeface="DejaVu Sans"/>
                <a:cs typeface="DejaVu Sans"/>
              </a:defRPr>
            </a:pPr>
            <a:r>
              <a:rPr sz="1425" b="0">
                <a:solidFill>
                  <a:srgbClr val="8B949E"/>
                </a:solidFill>
                <a:latin typeface="DejaVu Sans"/>
                <a:ea typeface="DejaVu Sans"/>
                <a:cs typeface="DejaVu Sans"/>
              </a:rPr>
              <a:t>work with Issues, labels, and milestones</a:t>
            </a:r>
          </a:p>
        </p:txBody>
      </p:sp>
    </p:spTree>
    <p:extLst>
      <p:ext uri="{BB962C8B-B14F-4D97-AF65-F5344CB8AC3E}">
        <p14:creationId xmlns:p14="http://schemas.microsoft.com/office/powerpoint/2010/main" val="804305698"/>
      </p:ext>
    </p:extLst>
  </p:cSld>
</p:sld>
</file>

<file path=ppt/slides/slide3.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C8FE571-709A-4911-9A4D-C24FD899298B}"/>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Git and GitHub solve different problems</a:t>
            </a:r>
          </a:p>
        </p:txBody>
      </p:sp>
      <p:sp>
        <p:nvSpPr>
          <p:cNvPr id="2" name="">
            <a:extLst xmlns:a="http://schemas.openxmlformats.org/drawingml/2006/main">
              <a:ext uri="{FF2B5EF4-FFF2-40B4-BE49-F238E27FC236}">
                <a16:creationId xmlns:a16="http://schemas.microsoft.com/office/drawing/2014/main" id="{EE120B2C-3B8E-4DAC-9B9D-D6A58DE027DB}"/>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Local history and a cloud platform complement each other</a:t>
            </a:r>
          </a:p>
        </p:txBody>
      </p:sp>
      <p:sp>
        <p:nvSpPr>
          <p:cNvPr id="3" name="">
            <a:extLst xmlns:a="http://schemas.openxmlformats.org/drawingml/2006/main">
              <a:ext uri="{FF2B5EF4-FFF2-40B4-BE49-F238E27FC236}">
                <a16:creationId xmlns:a16="http://schemas.microsoft.com/office/drawing/2014/main" id="{DA28BBC2-937E-473F-9136-5B4A84E11DAB}"/>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443AAC-AE5B-472A-9F53-95B0085C279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03</a:t>
            </a:r>
          </a:p>
        </p:txBody>
      </p:sp>
      <p:sp>
        <p:nvSpPr>
          <p:cNvPr id="5" name="">
            <a:extLst xmlns:a="http://schemas.openxmlformats.org/drawingml/2006/main">
              <a:ext uri="{FF2B5EF4-FFF2-40B4-BE49-F238E27FC236}">
                <a16:creationId xmlns:a16="http://schemas.microsoft.com/office/drawing/2014/main" id="{1E055A58-FFE9-4E38-8D9F-D0A6A1B451A0}"/>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7A796964-6E53-4495-A03A-9F7B7C13DA77}"/>
              </a:ext>
            </a:extLst>
          </p:cNvPr>
          <p:cNvSpPr>
            <a:spLocks xmlns:a="http://schemas.openxmlformats.org/drawingml/2006/main" noGrp="1"/>
          </p:cNvSpPr>
          <p:nvPr/>
        </p:nvSpPr>
        <p:spPr>
          <a:xfrm xmlns:a="http://schemas.openxmlformats.org/drawingml/2006/main">
            <a:off x="609600" y="1581150"/>
            <a:ext cx="5257800" cy="4286250"/>
          </a:xfrm>
          <a:prstGeom xmlns:a="http://schemas.openxmlformats.org/drawingml/2006/main" prst="roundRect">
            <a:avLst>
              <a:gd name="adj" fmla="val 1778"/>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485B2C4D-9788-48B2-A601-2AA8D12401C0}"/>
              </a:ext>
            </a:extLst>
          </p:cNvPr>
          <p:cNvSpPr>
            <a:spLocks xmlns:a="http://schemas.openxmlformats.org/drawingml/2006/main" noGrp="1"/>
          </p:cNvSpPr>
          <p:nvPr/>
        </p:nvSpPr>
        <p:spPr>
          <a:xfrm xmlns:a="http://schemas.openxmlformats.org/drawingml/2006/main">
            <a:off x="6324600" y="1581150"/>
            <a:ext cx="5257800" cy="4286250"/>
          </a:xfrm>
          <a:prstGeom xmlns:a="http://schemas.openxmlformats.org/drawingml/2006/main" prst="roundRect">
            <a:avLst>
              <a:gd name="adj" fmla="val 1778"/>
            </a:avLst>
          </a:prstGeom>
          <a:solidFill xmlns:a="http://schemas.openxmlformats.org/drawingml/2006/main">
            <a:srgbClr val="161B22"/>
          </a:solidFill>
          <a:ln xmlns:a="http://schemas.openxmlformats.org/drawingml/2006/main" w="9525">
            <a:solidFill>
              <a:srgbClr val="30363D"/>
            </a:solidFill>
          </a:ln>
        </p:spPr>
      </p:sp>
      <p:sp>
        <p:nvSpPr>
          <p:cNvPr id="8" name="">
            <a:extLst xmlns:a="http://schemas.openxmlformats.org/drawingml/2006/main">
              <a:ext uri="{FF2B5EF4-FFF2-40B4-BE49-F238E27FC236}">
                <a16:creationId xmlns:a16="http://schemas.microsoft.com/office/drawing/2014/main" id="{B6733375-DE5D-46BD-B252-C1FE84C7CFF2}"/>
              </a:ext>
            </a:extLst>
          </p:cNvPr>
          <p:cNvSpPr>
            <a:spLocks xmlns:a="http://schemas.openxmlformats.org/drawingml/2006/main" noGrp="1"/>
          </p:cNvSpPr>
          <p:nvPr/>
        </p:nvSpPr>
        <p:spPr>
          <a:xfrm xmlns:a="http://schemas.openxmlformats.org/drawingml/2006/main">
            <a:off x="876300" y="1809750"/>
            <a:ext cx="472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58A6FF"/>
                </a:solidFill>
                <a:latin typeface="DejaVu Sans"/>
                <a:ea typeface="DejaVu Sans"/>
                <a:cs typeface="DejaVu Sans"/>
              </a:defRPr>
            </a:pPr>
            <a:r>
              <a:rPr sz="1800" b="1">
                <a:solidFill>
                  <a:srgbClr val="58A6FF"/>
                </a:solidFill>
                <a:latin typeface="DejaVu Sans"/>
                <a:ea typeface="DejaVu Sans"/>
                <a:cs typeface="DejaVu Sans"/>
              </a:rPr>
              <a:t>Git</a:t>
            </a:r>
          </a:p>
        </p:txBody>
      </p:sp>
      <p:sp>
        <p:nvSpPr>
          <p:cNvPr id="9" name="">
            <a:extLst xmlns:a="http://schemas.openxmlformats.org/drawingml/2006/main">
              <a:ext uri="{FF2B5EF4-FFF2-40B4-BE49-F238E27FC236}">
                <a16:creationId xmlns:a16="http://schemas.microsoft.com/office/drawing/2014/main" id="{AC33D521-3E00-45DF-A6B4-FF646BA23CFC}"/>
              </a:ext>
            </a:extLst>
          </p:cNvPr>
          <p:cNvSpPr>
            <a:spLocks xmlns:a="http://schemas.openxmlformats.org/drawingml/2006/main" noGrp="1"/>
          </p:cNvSpPr>
          <p:nvPr/>
        </p:nvSpPr>
        <p:spPr>
          <a:xfrm xmlns:a="http://schemas.openxmlformats.org/drawingml/2006/main">
            <a:off x="876300" y="2333625"/>
            <a:ext cx="47244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Distributed version control system</a:t>
            </a:r>
          </a:p>
          <a:p xmlns:a="http://schemas.openxmlformats.org/drawingml/2006/main">
            <a:r>
              <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stores project snapshots as commits</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creates branches and combines history</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works locally without internet access</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runs git commands</a:t>
            </a:r>
          </a:p>
        </p:txBody>
      </p:sp>
      <p:sp>
        <p:nvSpPr>
          <p:cNvPr id="10" name="">
            <a:extLst xmlns:a="http://schemas.openxmlformats.org/drawingml/2006/main">
              <a:ext uri="{FF2B5EF4-FFF2-40B4-BE49-F238E27FC236}">
                <a16:creationId xmlns:a16="http://schemas.microsoft.com/office/drawing/2014/main" id="{73A0CE1A-4032-4FB2-BBBF-7FD1C8134F5F}"/>
              </a:ext>
            </a:extLst>
          </p:cNvPr>
          <p:cNvSpPr>
            <a:spLocks xmlns:a="http://schemas.openxmlformats.org/drawingml/2006/main" noGrp="1"/>
          </p:cNvSpPr>
          <p:nvPr/>
        </p:nvSpPr>
        <p:spPr>
          <a:xfrm xmlns:a="http://schemas.openxmlformats.org/drawingml/2006/main">
            <a:off x="6591300" y="1809750"/>
            <a:ext cx="472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3FB950"/>
                </a:solidFill>
                <a:latin typeface="DejaVu Sans"/>
                <a:ea typeface="DejaVu Sans"/>
                <a:cs typeface="DejaVu Sans"/>
              </a:defRPr>
            </a:pPr>
            <a:r>
              <a:rPr sz="1800" b="1">
                <a:solidFill>
                  <a:srgbClr val="3FB950"/>
                </a:solidFill>
                <a:latin typeface="DejaVu Sans"/>
                <a:ea typeface="DejaVu Sans"/>
                <a:cs typeface="DejaVu Sans"/>
              </a:rPr>
              <a:t>GitHub</a:t>
            </a:r>
          </a:p>
        </p:txBody>
      </p:sp>
      <p:sp>
        <p:nvSpPr>
          <p:cNvPr id="11" name="">
            <a:extLst xmlns:a="http://schemas.openxmlformats.org/drawingml/2006/main">
              <a:ext uri="{FF2B5EF4-FFF2-40B4-BE49-F238E27FC236}">
                <a16:creationId xmlns:a16="http://schemas.microsoft.com/office/drawing/2014/main" id="{BB1EB1EE-D029-4EEE-A587-9BA9FD5D8E85}"/>
              </a:ext>
            </a:extLst>
          </p:cNvPr>
          <p:cNvSpPr>
            <a:spLocks xmlns:a="http://schemas.openxmlformats.org/drawingml/2006/main" noGrp="1"/>
          </p:cNvSpPr>
          <p:nvPr/>
        </p:nvSpPr>
        <p:spPr>
          <a:xfrm xmlns:a="http://schemas.openxmlformats.org/drawingml/2006/main">
            <a:off x="6591300" y="2333625"/>
            <a:ext cx="47244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Platform for Git repositories</a:t>
            </a:r>
          </a:p>
          <a:p xmlns:a="http://schemas.openxmlformats.org/drawingml/2006/main">
            <a:r>
              <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hosts a remote copy</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manages team access</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supports Pull Requests and Issues</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 runs checks and automation</a:t>
            </a:r>
          </a:p>
        </p:txBody>
      </p:sp>
      <p:sp>
        <p:nvSpPr>
          <p:cNvPr id="12" name="">
            <a:extLst xmlns:a="http://schemas.openxmlformats.org/drawingml/2006/main">
              <a:ext uri="{FF2B5EF4-FFF2-40B4-BE49-F238E27FC236}">
                <a16:creationId xmlns:a16="http://schemas.microsoft.com/office/drawing/2014/main" id="{BC8A0D30-D03F-497A-8E13-4DBB1B276A47}"/>
              </a:ext>
            </a:extLst>
          </p:cNvPr>
          <p:cNvSpPr>
            <a:spLocks xmlns:a="http://schemas.openxmlformats.org/drawingml/2006/main" noGrp="1"/>
          </p:cNvSpPr>
          <p:nvPr/>
        </p:nvSpPr>
        <p:spPr>
          <a:xfrm xmlns:a="http://schemas.openxmlformats.org/drawingml/2006/main">
            <a:off x="2514600" y="5524500"/>
            <a:ext cx="133350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D29922"/>
            </a:solidFill>
          </a:ln>
        </p:spPr>
      </p:sp>
      <p:sp>
        <p:nvSpPr>
          <p:cNvPr id="13" name="">
            <a:extLst xmlns:a="http://schemas.openxmlformats.org/drawingml/2006/main">
              <a:ext uri="{FF2B5EF4-FFF2-40B4-BE49-F238E27FC236}">
                <a16:creationId xmlns:a16="http://schemas.microsoft.com/office/drawing/2014/main" id="{04979566-A34D-4648-8EE9-1936B9E7F11B}"/>
              </a:ext>
            </a:extLst>
          </p:cNvPr>
          <p:cNvSpPr>
            <a:spLocks xmlns:a="http://schemas.openxmlformats.org/drawingml/2006/main" noGrp="1"/>
          </p:cNvSpPr>
          <p:nvPr/>
        </p:nvSpPr>
        <p:spPr>
          <a:xfrm xmlns:a="http://schemas.openxmlformats.org/drawingml/2006/main">
            <a:off x="2514600" y="55245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29922"/>
                </a:solidFill>
                <a:latin typeface="DejaVu Sans"/>
                <a:ea typeface="DejaVu Sans"/>
                <a:cs typeface="DejaVu Sans"/>
              </a:defRPr>
            </a:pPr>
            <a:r>
              <a:rPr sz="1050" b="1">
                <a:solidFill>
                  <a:srgbClr val="D29922"/>
                </a:solidFill>
                <a:latin typeface="DejaVu Sans"/>
                <a:ea typeface="DejaVu Sans"/>
                <a:cs typeface="DejaVu Sans"/>
              </a:rPr>
              <a:t>Local</a:t>
            </a:r>
          </a:p>
        </p:txBody>
      </p:sp>
      <p:sp>
        <p:nvSpPr>
          <p:cNvPr id="14" name="">
            <a:extLst xmlns:a="http://schemas.openxmlformats.org/drawingml/2006/main">
              <a:ext uri="{FF2B5EF4-FFF2-40B4-BE49-F238E27FC236}">
                <a16:creationId xmlns:a16="http://schemas.microsoft.com/office/drawing/2014/main" id="{5F459E1F-6973-4B58-9972-3DC292BA735D}"/>
              </a:ext>
            </a:extLst>
          </p:cNvPr>
          <p:cNvSpPr>
            <a:spLocks xmlns:a="http://schemas.openxmlformats.org/drawingml/2006/main" noGrp="1"/>
          </p:cNvSpPr>
          <p:nvPr/>
        </p:nvSpPr>
        <p:spPr>
          <a:xfrm xmlns:a="http://schemas.openxmlformats.org/drawingml/2006/main">
            <a:off x="8229600" y="5524500"/>
            <a:ext cx="133350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58A6FF"/>
            </a:solidFill>
          </a:ln>
        </p:spPr>
      </p:sp>
      <p:sp>
        <p:nvSpPr>
          <p:cNvPr id="15" name="">
            <a:extLst xmlns:a="http://schemas.openxmlformats.org/drawingml/2006/main">
              <a:ext uri="{FF2B5EF4-FFF2-40B4-BE49-F238E27FC236}">
                <a16:creationId xmlns:a16="http://schemas.microsoft.com/office/drawing/2014/main" id="{F123B155-9F7E-4D68-B894-A733B0AAFAE9}"/>
              </a:ext>
            </a:extLst>
          </p:cNvPr>
          <p:cNvSpPr>
            <a:spLocks xmlns:a="http://schemas.openxmlformats.org/drawingml/2006/main" noGrp="1"/>
          </p:cNvSpPr>
          <p:nvPr/>
        </p:nvSpPr>
        <p:spPr>
          <a:xfrm xmlns:a="http://schemas.openxmlformats.org/drawingml/2006/main">
            <a:off x="8229600" y="55245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58A6FF"/>
                </a:solidFill>
                <a:latin typeface="DejaVu Sans"/>
                <a:ea typeface="DejaVu Sans"/>
                <a:cs typeface="DejaVu Sans"/>
              </a:defRPr>
            </a:pPr>
            <a:r>
              <a:rPr sz="1050" b="1">
                <a:solidFill>
                  <a:srgbClr val="58A6FF"/>
                </a:solidFill>
                <a:latin typeface="DejaVu Sans"/>
                <a:ea typeface="DejaVu Sans"/>
                <a:cs typeface="DejaVu Sans"/>
              </a:rPr>
              <a:t>Remote</a:t>
            </a:r>
          </a:p>
        </p:txBody>
      </p:sp>
    </p:spTree>
    <p:extLst>
      <p:ext uri="{BB962C8B-B14F-4D97-AF65-F5344CB8AC3E}">
        <p14:creationId xmlns:p14="http://schemas.microsoft.com/office/powerpoint/2010/main" val="879705868"/>
      </p:ext>
    </p:extLst>
  </p:cSld>
</p:sld>
</file>

<file path=ppt/slides/slide4.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1F25644-7699-4AA0-A7EE-3973551FA633}"/>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Core terminology</a:t>
            </a:r>
          </a:p>
        </p:txBody>
      </p:sp>
      <p:sp>
        <p:nvSpPr>
          <p:cNvPr id="2" name="">
            <a:extLst xmlns:a="http://schemas.openxmlformats.org/drawingml/2006/main">
              <a:ext uri="{FF2B5EF4-FFF2-40B4-BE49-F238E27FC236}">
                <a16:creationId xmlns:a16="http://schemas.microsoft.com/office/drawing/2014/main" id="{0E68BA93-1CB2-477C-8E7E-063D7D4DEBE9}"/>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One model connects local work with GitHub</a:t>
            </a:r>
          </a:p>
        </p:txBody>
      </p:sp>
      <p:sp>
        <p:nvSpPr>
          <p:cNvPr id="3" name="">
            <a:extLst xmlns:a="http://schemas.openxmlformats.org/drawingml/2006/main">
              <a:ext uri="{FF2B5EF4-FFF2-40B4-BE49-F238E27FC236}">
                <a16:creationId xmlns:a16="http://schemas.microsoft.com/office/drawing/2014/main" id="{82A193C6-E505-49FE-8044-A754BF9C302E}"/>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A469A8-9913-4250-A2AE-3AE4EEB74FAC}"/>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04</a:t>
            </a:r>
          </a:p>
        </p:txBody>
      </p:sp>
      <p:sp>
        <p:nvSpPr>
          <p:cNvPr id="5" name="">
            <a:extLst xmlns:a="http://schemas.openxmlformats.org/drawingml/2006/main">
              <a:ext uri="{FF2B5EF4-FFF2-40B4-BE49-F238E27FC236}">
                <a16:creationId xmlns:a16="http://schemas.microsoft.com/office/drawing/2014/main" id="{47810625-E32C-4D11-B111-CBD80CDCDD79}"/>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FFB060B9-5020-4FBE-8FE0-0BBBE0E0E5E3}"/>
              </a:ext>
            </a:extLst>
          </p:cNvPr>
          <p:cNvSpPr>
            <a:spLocks xmlns:a="http://schemas.openxmlformats.org/drawingml/2006/main" noGrp="1"/>
          </p:cNvSpPr>
          <p:nvPr/>
        </p:nvSpPr>
        <p:spPr>
          <a:xfrm xmlns:a="http://schemas.openxmlformats.org/drawingml/2006/main">
            <a:off x="609600" y="158115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BA1D62DE-98CD-4166-9F06-B288C53F57F2}"/>
              </a:ext>
            </a:extLst>
          </p:cNvPr>
          <p:cNvSpPr>
            <a:spLocks xmlns:a="http://schemas.openxmlformats.org/drawingml/2006/main" noGrp="1"/>
          </p:cNvSpPr>
          <p:nvPr/>
        </p:nvSpPr>
        <p:spPr>
          <a:xfrm xmlns:a="http://schemas.openxmlformats.org/drawingml/2006/main">
            <a:off x="838200" y="17526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58A6FF"/>
                </a:solidFill>
                <a:latin typeface="DejaVu Sans"/>
                <a:ea typeface="DejaVu Sans"/>
                <a:cs typeface="DejaVu Sans"/>
              </a:defRPr>
            </a:pPr>
            <a:r>
              <a:rPr sz="1650" b="1">
                <a:solidFill>
                  <a:srgbClr val="58A6FF"/>
                </a:solidFill>
                <a:latin typeface="DejaVu Sans"/>
                <a:ea typeface="DejaVu Sans"/>
                <a:cs typeface="DejaVu Sans"/>
              </a:rPr>
              <a:t>Repository</a:t>
            </a:r>
          </a:p>
        </p:txBody>
      </p:sp>
      <p:sp>
        <p:nvSpPr>
          <p:cNvPr id="8" name="">
            <a:extLst xmlns:a="http://schemas.openxmlformats.org/drawingml/2006/main">
              <a:ext uri="{FF2B5EF4-FFF2-40B4-BE49-F238E27FC236}">
                <a16:creationId xmlns:a16="http://schemas.microsoft.com/office/drawing/2014/main" id="{D13DE32B-1C7D-4628-9116-358A2A833B70}"/>
              </a:ext>
            </a:extLst>
          </p:cNvPr>
          <p:cNvSpPr>
            <a:spLocks xmlns:a="http://schemas.openxmlformats.org/drawingml/2006/main" noGrp="1"/>
          </p:cNvSpPr>
          <p:nvPr/>
        </p:nvSpPr>
        <p:spPr>
          <a:xfrm xmlns:a="http://schemas.openxmlformats.org/drawingml/2006/main">
            <a:off x="2552700" y="175260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project files plus version history</a:t>
            </a:r>
          </a:p>
        </p:txBody>
      </p:sp>
      <p:sp>
        <p:nvSpPr>
          <p:cNvPr id="9" name="">
            <a:extLst xmlns:a="http://schemas.openxmlformats.org/drawingml/2006/main">
              <a:ext uri="{FF2B5EF4-FFF2-40B4-BE49-F238E27FC236}">
                <a16:creationId xmlns:a16="http://schemas.microsoft.com/office/drawing/2014/main" id="{F5F49575-E44E-44A7-BB2C-53BDF9778396}"/>
              </a:ext>
            </a:extLst>
          </p:cNvPr>
          <p:cNvSpPr>
            <a:spLocks xmlns:a="http://schemas.openxmlformats.org/drawingml/2006/main" noGrp="1"/>
          </p:cNvSpPr>
          <p:nvPr/>
        </p:nvSpPr>
        <p:spPr>
          <a:xfrm xmlns:a="http://schemas.openxmlformats.org/drawingml/2006/main">
            <a:off x="6324600" y="158115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822F74B2-71CB-4A53-B3DD-894F567D10AB}"/>
              </a:ext>
            </a:extLst>
          </p:cNvPr>
          <p:cNvSpPr>
            <a:spLocks xmlns:a="http://schemas.openxmlformats.org/drawingml/2006/main" noGrp="1"/>
          </p:cNvSpPr>
          <p:nvPr/>
        </p:nvSpPr>
        <p:spPr>
          <a:xfrm xmlns:a="http://schemas.openxmlformats.org/drawingml/2006/main">
            <a:off x="6553200" y="17526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Commit</a:t>
            </a:r>
          </a:p>
        </p:txBody>
      </p:sp>
      <p:sp>
        <p:nvSpPr>
          <p:cNvPr id="11" name="">
            <a:extLst xmlns:a="http://schemas.openxmlformats.org/drawingml/2006/main">
              <a:ext uri="{FF2B5EF4-FFF2-40B4-BE49-F238E27FC236}">
                <a16:creationId xmlns:a16="http://schemas.microsoft.com/office/drawing/2014/main" id="{F4EDCC43-E5F1-41C9-89C3-06C7527426CC}"/>
              </a:ext>
            </a:extLst>
          </p:cNvPr>
          <p:cNvSpPr>
            <a:spLocks xmlns:a="http://schemas.openxmlformats.org/drawingml/2006/main" noGrp="1"/>
          </p:cNvSpPr>
          <p:nvPr/>
        </p:nvSpPr>
        <p:spPr>
          <a:xfrm xmlns:a="http://schemas.openxmlformats.org/drawingml/2006/main">
            <a:off x="8267700" y="175260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a recorded snapshot of changes</a:t>
            </a:r>
          </a:p>
        </p:txBody>
      </p:sp>
      <p:sp>
        <p:nvSpPr>
          <p:cNvPr id="12" name="">
            <a:extLst xmlns:a="http://schemas.openxmlformats.org/drawingml/2006/main">
              <a:ext uri="{FF2B5EF4-FFF2-40B4-BE49-F238E27FC236}">
                <a16:creationId xmlns:a16="http://schemas.microsoft.com/office/drawing/2014/main" id="{33DA453A-085C-456D-A0B8-D1FD1AD8370B}"/>
              </a:ext>
            </a:extLst>
          </p:cNvPr>
          <p:cNvSpPr>
            <a:spLocks xmlns:a="http://schemas.openxmlformats.org/drawingml/2006/main" noGrp="1"/>
          </p:cNvSpPr>
          <p:nvPr/>
        </p:nvSpPr>
        <p:spPr>
          <a:xfrm xmlns:a="http://schemas.openxmlformats.org/drawingml/2006/main">
            <a:off x="609600" y="293370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9B775F6C-63C7-4837-ABDC-892660A74C48}"/>
              </a:ext>
            </a:extLst>
          </p:cNvPr>
          <p:cNvSpPr>
            <a:spLocks xmlns:a="http://schemas.openxmlformats.org/drawingml/2006/main" noGrp="1"/>
          </p:cNvSpPr>
          <p:nvPr/>
        </p:nvSpPr>
        <p:spPr>
          <a:xfrm xmlns:a="http://schemas.openxmlformats.org/drawingml/2006/main">
            <a:off x="838200" y="310515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58A6FF"/>
                </a:solidFill>
                <a:latin typeface="DejaVu Sans"/>
                <a:ea typeface="DejaVu Sans"/>
                <a:cs typeface="DejaVu Sans"/>
              </a:defRPr>
            </a:pPr>
            <a:r>
              <a:rPr sz="1650" b="1">
                <a:solidFill>
                  <a:srgbClr val="58A6FF"/>
                </a:solidFill>
                <a:latin typeface="DejaVu Sans"/>
                <a:ea typeface="DejaVu Sans"/>
                <a:cs typeface="DejaVu Sans"/>
              </a:rPr>
              <a:t>Branch</a:t>
            </a:r>
          </a:p>
        </p:txBody>
      </p:sp>
      <p:sp>
        <p:nvSpPr>
          <p:cNvPr id="14" name="">
            <a:extLst xmlns:a="http://schemas.openxmlformats.org/drawingml/2006/main">
              <a:ext uri="{FF2B5EF4-FFF2-40B4-BE49-F238E27FC236}">
                <a16:creationId xmlns:a16="http://schemas.microsoft.com/office/drawing/2014/main" id="{C5A916D3-0AF2-4525-8F3E-E0D7EB8457A9}"/>
              </a:ext>
            </a:extLst>
          </p:cNvPr>
          <p:cNvSpPr>
            <a:spLocks xmlns:a="http://schemas.openxmlformats.org/drawingml/2006/main" noGrp="1"/>
          </p:cNvSpPr>
          <p:nvPr/>
        </p:nvSpPr>
        <p:spPr>
          <a:xfrm xmlns:a="http://schemas.openxmlformats.org/drawingml/2006/main">
            <a:off x="2552700" y="310515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a movable pointer to a commit chain</a:t>
            </a:r>
          </a:p>
        </p:txBody>
      </p:sp>
      <p:sp>
        <p:nvSpPr>
          <p:cNvPr id="15" name="">
            <a:extLst xmlns:a="http://schemas.openxmlformats.org/drawingml/2006/main">
              <a:ext uri="{FF2B5EF4-FFF2-40B4-BE49-F238E27FC236}">
                <a16:creationId xmlns:a16="http://schemas.microsoft.com/office/drawing/2014/main" id="{14C012F7-5155-4E4A-82EF-F2153CF44DE7}"/>
              </a:ext>
            </a:extLst>
          </p:cNvPr>
          <p:cNvSpPr>
            <a:spLocks xmlns:a="http://schemas.openxmlformats.org/drawingml/2006/main" noGrp="1"/>
          </p:cNvSpPr>
          <p:nvPr/>
        </p:nvSpPr>
        <p:spPr>
          <a:xfrm xmlns:a="http://schemas.openxmlformats.org/drawingml/2006/main">
            <a:off x="6324600" y="293370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16" name="">
            <a:extLst xmlns:a="http://schemas.openxmlformats.org/drawingml/2006/main">
              <a:ext uri="{FF2B5EF4-FFF2-40B4-BE49-F238E27FC236}">
                <a16:creationId xmlns:a16="http://schemas.microsoft.com/office/drawing/2014/main" id="{DE3D75EC-82DB-4E3F-8800-A746A3C872C5}"/>
              </a:ext>
            </a:extLst>
          </p:cNvPr>
          <p:cNvSpPr>
            <a:spLocks xmlns:a="http://schemas.openxmlformats.org/drawingml/2006/main" noGrp="1"/>
          </p:cNvSpPr>
          <p:nvPr/>
        </p:nvSpPr>
        <p:spPr>
          <a:xfrm xmlns:a="http://schemas.openxmlformats.org/drawingml/2006/main">
            <a:off x="6553200" y="310515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Remote</a:t>
            </a:r>
          </a:p>
        </p:txBody>
      </p:sp>
      <p:sp>
        <p:nvSpPr>
          <p:cNvPr id="17" name="">
            <a:extLst xmlns:a="http://schemas.openxmlformats.org/drawingml/2006/main">
              <a:ext uri="{FF2B5EF4-FFF2-40B4-BE49-F238E27FC236}">
                <a16:creationId xmlns:a16="http://schemas.microsoft.com/office/drawing/2014/main" id="{350AD2B6-3657-4842-96C2-AC4D0B33E89E}"/>
              </a:ext>
            </a:extLst>
          </p:cNvPr>
          <p:cNvSpPr>
            <a:spLocks xmlns:a="http://schemas.openxmlformats.org/drawingml/2006/main" noGrp="1"/>
          </p:cNvSpPr>
          <p:nvPr/>
        </p:nvSpPr>
        <p:spPr>
          <a:xfrm xmlns:a="http://schemas.openxmlformats.org/drawingml/2006/main">
            <a:off x="8267700" y="310515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a reference to a remote repository</a:t>
            </a:r>
          </a:p>
        </p:txBody>
      </p:sp>
      <p:sp>
        <p:nvSpPr>
          <p:cNvPr id="18" name="">
            <a:extLst xmlns:a="http://schemas.openxmlformats.org/drawingml/2006/main">
              <a:ext uri="{FF2B5EF4-FFF2-40B4-BE49-F238E27FC236}">
                <a16:creationId xmlns:a16="http://schemas.microsoft.com/office/drawing/2014/main" id="{47579892-63B4-49EC-839B-3BDB46939050}"/>
              </a:ext>
            </a:extLst>
          </p:cNvPr>
          <p:cNvSpPr>
            <a:spLocks xmlns:a="http://schemas.openxmlformats.org/drawingml/2006/main" noGrp="1"/>
          </p:cNvSpPr>
          <p:nvPr/>
        </p:nvSpPr>
        <p:spPr>
          <a:xfrm xmlns:a="http://schemas.openxmlformats.org/drawingml/2006/main">
            <a:off x="609600" y="428625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35A68C59-1069-4D27-8827-D39FF8C210AE}"/>
              </a:ext>
            </a:extLst>
          </p:cNvPr>
          <p:cNvSpPr>
            <a:spLocks xmlns:a="http://schemas.openxmlformats.org/drawingml/2006/main" noGrp="1"/>
          </p:cNvSpPr>
          <p:nvPr/>
        </p:nvSpPr>
        <p:spPr>
          <a:xfrm xmlns:a="http://schemas.openxmlformats.org/drawingml/2006/main">
            <a:off x="838200" y="44577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58A6FF"/>
                </a:solidFill>
                <a:latin typeface="DejaVu Sans"/>
                <a:ea typeface="DejaVu Sans"/>
                <a:cs typeface="DejaVu Sans"/>
              </a:defRPr>
            </a:pPr>
            <a:r>
              <a:rPr sz="1650" b="1">
                <a:solidFill>
                  <a:srgbClr val="58A6FF"/>
                </a:solidFill>
                <a:latin typeface="DejaVu Sans"/>
                <a:ea typeface="DejaVu Sans"/>
                <a:cs typeface="DejaVu Sans"/>
              </a:rPr>
              <a:t>origin</a:t>
            </a:r>
          </a:p>
        </p:txBody>
      </p:sp>
      <p:sp>
        <p:nvSpPr>
          <p:cNvPr id="20" name="">
            <a:extLst xmlns:a="http://schemas.openxmlformats.org/drawingml/2006/main">
              <a:ext uri="{FF2B5EF4-FFF2-40B4-BE49-F238E27FC236}">
                <a16:creationId xmlns:a16="http://schemas.microsoft.com/office/drawing/2014/main" id="{3F143CFB-7984-420C-B392-90EA2462A54F}"/>
              </a:ext>
            </a:extLst>
          </p:cNvPr>
          <p:cNvSpPr>
            <a:spLocks xmlns:a="http://schemas.openxmlformats.org/drawingml/2006/main" noGrp="1"/>
          </p:cNvSpPr>
          <p:nvPr/>
        </p:nvSpPr>
        <p:spPr>
          <a:xfrm xmlns:a="http://schemas.openxmlformats.org/drawingml/2006/main">
            <a:off x="2552700" y="445770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the conventional primary remote name</a:t>
            </a:r>
          </a:p>
        </p:txBody>
      </p:sp>
      <p:sp>
        <p:nvSpPr>
          <p:cNvPr id="21" name="">
            <a:extLst xmlns:a="http://schemas.openxmlformats.org/drawingml/2006/main">
              <a:ext uri="{FF2B5EF4-FFF2-40B4-BE49-F238E27FC236}">
                <a16:creationId xmlns:a16="http://schemas.microsoft.com/office/drawing/2014/main" id="{ECCE02A4-2014-4864-82F6-AF91852960A6}"/>
              </a:ext>
            </a:extLst>
          </p:cNvPr>
          <p:cNvSpPr>
            <a:spLocks xmlns:a="http://schemas.openxmlformats.org/drawingml/2006/main" noGrp="1"/>
          </p:cNvSpPr>
          <p:nvPr/>
        </p:nvSpPr>
        <p:spPr>
          <a:xfrm xmlns:a="http://schemas.openxmlformats.org/drawingml/2006/main">
            <a:off x="6324600" y="428625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22" name="">
            <a:extLst xmlns:a="http://schemas.openxmlformats.org/drawingml/2006/main">
              <a:ext uri="{FF2B5EF4-FFF2-40B4-BE49-F238E27FC236}">
                <a16:creationId xmlns:a16="http://schemas.microsoft.com/office/drawing/2014/main" id="{764A6758-0A55-4247-9956-2C0ED2E9976A}"/>
              </a:ext>
            </a:extLst>
          </p:cNvPr>
          <p:cNvSpPr>
            <a:spLocks xmlns:a="http://schemas.openxmlformats.org/drawingml/2006/main" noGrp="1"/>
          </p:cNvSpPr>
          <p:nvPr/>
        </p:nvSpPr>
        <p:spPr>
          <a:xfrm xmlns:a="http://schemas.openxmlformats.org/drawingml/2006/main">
            <a:off x="6553200" y="44577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main</a:t>
            </a:r>
          </a:p>
        </p:txBody>
      </p:sp>
      <p:sp>
        <p:nvSpPr>
          <p:cNvPr id="23" name="">
            <a:extLst xmlns:a="http://schemas.openxmlformats.org/drawingml/2006/main">
              <a:ext uri="{FF2B5EF4-FFF2-40B4-BE49-F238E27FC236}">
                <a16:creationId xmlns:a16="http://schemas.microsoft.com/office/drawing/2014/main" id="{410C6253-6C5E-43A2-B473-B48C375420CB}"/>
              </a:ext>
            </a:extLst>
          </p:cNvPr>
          <p:cNvSpPr>
            <a:spLocks xmlns:a="http://schemas.openxmlformats.org/drawingml/2006/main" noGrp="1"/>
          </p:cNvSpPr>
          <p:nvPr/>
        </p:nvSpPr>
        <p:spPr>
          <a:xfrm xmlns:a="http://schemas.openxmlformats.org/drawingml/2006/main">
            <a:off x="8267700" y="445770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a common default branch name</a:t>
            </a:r>
          </a:p>
        </p:txBody>
      </p:sp>
    </p:spTree>
    <p:extLst>
      <p:ext uri="{BB962C8B-B14F-4D97-AF65-F5344CB8AC3E}">
        <p14:creationId xmlns:p14="http://schemas.microsoft.com/office/powerpoint/2010/main" val="724739937"/>
      </p:ext>
    </p:extLst>
  </p:cSld>
</p:sld>
</file>

<file path=ppt/slides/slide5.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9C367CD-373C-420A-B8FA-74902BFA2808}"/>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Three areas of local work</a:t>
            </a:r>
          </a:p>
        </p:txBody>
      </p:sp>
      <p:sp>
        <p:nvSpPr>
          <p:cNvPr id="2" name="">
            <a:extLst xmlns:a="http://schemas.openxmlformats.org/drawingml/2006/main">
              <a:ext uri="{FF2B5EF4-FFF2-40B4-BE49-F238E27FC236}">
                <a16:creationId xmlns:a16="http://schemas.microsoft.com/office/drawing/2014/main" id="{B20240FB-FFD7-4C18-AED8-9C44EC26E317}"/>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A commit contains only staged changes</a:t>
            </a:r>
          </a:p>
        </p:txBody>
      </p:sp>
      <p:sp>
        <p:nvSpPr>
          <p:cNvPr id="3" name="">
            <a:extLst xmlns:a="http://schemas.openxmlformats.org/drawingml/2006/main">
              <a:ext uri="{FF2B5EF4-FFF2-40B4-BE49-F238E27FC236}">
                <a16:creationId xmlns:a16="http://schemas.microsoft.com/office/drawing/2014/main" id="{D6582FDF-2D62-462E-B667-DAB767E6FFBF}"/>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E79986-AC82-4B38-9E48-76E7AB8B49C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05</a:t>
            </a:r>
          </a:p>
        </p:txBody>
      </p:sp>
      <p:sp>
        <p:nvSpPr>
          <p:cNvPr id="5" name="">
            <a:extLst xmlns:a="http://schemas.openxmlformats.org/drawingml/2006/main">
              <a:ext uri="{FF2B5EF4-FFF2-40B4-BE49-F238E27FC236}">
                <a16:creationId xmlns:a16="http://schemas.microsoft.com/office/drawing/2014/main" id="{73E186D8-5860-4EF1-8E06-782FEFA9C28E}"/>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DDBA1FF6-0301-4014-82E1-D2D515E3DCF3}"/>
              </a:ext>
            </a:extLst>
          </p:cNvPr>
          <p:cNvSpPr>
            <a:spLocks xmlns:a="http://schemas.openxmlformats.org/drawingml/2006/main" noGrp="1"/>
          </p:cNvSpPr>
          <p:nvPr/>
        </p:nvSpPr>
        <p:spPr>
          <a:xfrm xmlns:a="http://schemas.openxmlformats.org/drawingml/2006/main">
            <a:off x="609600" y="1809750"/>
            <a:ext cx="3276600" cy="3048000"/>
          </a:xfrm>
          <a:prstGeom xmlns:a="http://schemas.openxmlformats.org/drawingml/2006/main" prst="roundRect">
            <a:avLst>
              <a:gd name="adj" fmla="val 2500"/>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9FB8A85C-3A27-4C0D-8879-1120A02E4F93}"/>
              </a:ext>
            </a:extLst>
          </p:cNvPr>
          <p:cNvSpPr>
            <a:spLocks xmlns:a="http://schemas.openxmlformats.org/drawingml/2006/main" noGrp="1"/>
          </p:cNvSpPr>
          <p:nvPr/>
        </p:nvSpPr>
        <p:spPr>
          <a:xfrm xmlns:a="http://schemas.openxmlformats.org/drawingml/2006/main">
            <a:off x="838200" y="2038350"/>
            <a:ext cx="495300" cy="495300"/>
          </a:xfrm>
          <a:prstGeom xmlns:a="http://schemas.openxmlformats.org/drawingml/2006/main" prst="rect">
            <a:avLst/>
          </a:prstGeom>
          <a:solidFill xmlns:a="http://schemas.openxmlformats.org/drawingml/2006/main">
            <a:srgbClr val="D2992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497EF091-BCC9-4041-B187-47726A3D99C6}"/>
              </a:ext>
            </a:extLst>
          </p:cNvPr>
          <p:cNvSpPr>
            <a:spLocks xmlns:a="http://schemas.openxmlformats.org/drawingml/2006/main" noGrp="1"/>
          </p:cNvSpPr>
          <p:nvPr/>
        </p:nvSpPr>
        <p:spPr>
          <a:xfrm xmlns:a="http://schemas.openxmlformats.org/drawingml/2006/main">
            <a:off x="838200" y="2686050"/>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0F6FC"/>
                </a:solidFill>
                <a:latin typeface="DejaVu Sans"/>
                <a:ea typeface="DejaVu Sans"/>
                <a:cs typeface="DejaVu Sans"/>
              </a:defRPr>
            </a:pPr>
            <a:r>
              <a:rPr sz="1725" b="1">
                <a:solidFill>
                  <a:srgbClr val="F0F6FC"/>
                </a:solidFill>
                <a:latin typeface="DejaVu Sans"/>
                <a:ea typeface="DejaVu Sans"/>
                <a:cs typeface="DejaVu Sans"/>
              </a:rPr>
              <a:t>Working directory</a:t>
            </a:r>
          </a:p>
        </p:txBody>
      </p:sp>
      <p:sp>
        <p:nvSpPr>
          <p:cNvPr id="9" name="">
            <a:extLst xmlns:a="http://schemas.openxmlformats.org/drawingml/2006/main">
              <a:ext uri="{FF2B5EF4-FFF2-40B4-BE49-F238E27FC236}">
                <a16:creationId xmlns:a16="http://schemas.microsoft.com/office/drawing/2014/main" id="{90341304-2C67-46E8-92C7-06D7536AC536}"/>
              </a:ext>
            </a:extLst>
          </p:cNvPr>
          <p:cNvSpPr>
            <a:spLocks xmlns:a="http://schemas.openxmlformats.org/drawingml/2006/main" noGrp="1"/>
          </p:cNvSpPr>
          <p:nvPr/>
        </p:nvSpPr>
        <p:spPr>
          <a:xfrm xmlns:a="http://schemas.openxmlformats.org/drawingml/2006/main">
            <a:off x="876300" y="3371850"/>
            <a:ext cx="274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8B949E"/>
                </a:solidFill>
                <a:latin typeface="DejaVu Sans"/>
                <a:ea typeface="DejaVu Sans"/>
                <a:cs typeface="DejaVu Sans"/>
              </a:defRPr>
            </a:pPr>
            <a:r>
              <a:rPr sz="1350" b="0">
                <a:solidFill>
                  <a:srgbClr val="8B949E"/>
                </a:solidFill>
                <a:latin typeface="DejaVu Sans"/>
                <a:ea typeface="DejaVu Sans"/>
                <a:cs typeface="DejaVu Sans"/>
              </a:rPr>
              <a:t>You edit files</a:t>
            </a:r>
          </a:p>
        </p:txBody>
      </p:sp>
      <p:sp>
        <p:nvSpPr>
          <p:cNvPr id="10" name="">
            <a:extLst xmlns:a="http://schemas.openxmlformats.org/drawingml/2006/main">
              <a:ext uri="{FF2B5EF4-FFF2-40B4-BE49-F238E27FC236}">
                <a16:creationId xmlns:a16="http://schemas.microsoft.com/office/drawing/2014/main" id="{6C9F0958-104D-4F1A-B3D6-061FA540312E}"/>
              </a:ext>
            </a:extLst>
          </p:cNvPr>
          <p:cNvSpPr>
            <a:spLocks xmlns:a="http://schemas.openxmlformats.org/drawingml/2006/main" noGrp="1"/>
          </p:cNvSpPr>
          <p:nvPr/>
        </p:nvSpPr>
        <p:spPr>
          <a:xfrm xmlns:a="http://schemas.openxmlformats.org/drawingml/2006/main">
            <a:off x="933450" y="4286250"/>
            <a:ext cx="2628900" cy="514350"/>
          </a:xfrm>
          <a:prstGeom xmlns:a="http://schemas.openxmlformats.org/drawingml/2006/main" prst="roundRect">
            <a:avLst>
              <a:gd name="adj" fmla="val 14815"/>
            </a:avLst>
          </a:prstGeom>
          <a:solidFill xmlns:a="http://schemas.openxmlformats.org/drawingml/2006/main">
            <a:srgbClr val="090C10"/>
          </a:solidFill>
          <a:ln xmlns:a="http://schemas.openxmlformats.org/drawingml/2006/main" w="9525">
            <a:solidFill>
              <a:srgbClr val="30363D"/>
            </a:solidFill>
          </a:ln>
        </p:spPr>
      </p:sp>
      <p:sp>
        <p:nvSpPr>
          <p:cNvPr id="11" name="">
            <a:extLst xmlns:a="http://schemas.openxmlformats.org/drawingml/2006/main">
              <a:ext uri="{FF2B5EF4-FFF2-40B4-BE49-F238E27FC236}">
                <a16:creationId xmlns:a16="http://schemas.microsoft.com/office/drawing/2014/main" id="{AF1E8F8F-A07D-415A-9661-987A123D7077}"/>
              </a:ext>
            </a:extLst>
          </p:cNvPr>
          <p:cNvSpPr>
            <a:spLocks xmlns:a="http://schemas.openxmlformats.org/drawingml/2006/main" noGrp="1"/>
          </p:cNvSpPr>
          <p:nvPr/>
        </p:nvSpPr>
        <p:spPr>
          <a:xfrm xmlns:a="http://schemas.openxmlformats.org/drawingml/2006/main">
            <a:off x="933450" y="4286250"/>
            <a:ext cx="76200" cy="514350"/>
          </a:xfrm>
          <a:prstGeom xmlns:a="http://schemas.openxmlformats.org/drawingml/2006/main" prst="rect">
            <a:avLst/>
          </a:prstGeom>
          <a:solidFill xmlns:a="http://schemas.openxmlformats.org/drawingml/2006/main">
            <a:srgbClr val="D2992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66E10EE-2EDF-4E19-9EBF-E5CF6CD4C32A}"/>
              </a:ext>
            </a:extLst>
          </p:cNvPr>
          <p:cNvSpPr>
            <a:spLocks xmlns:a="http://schemas.openxmlformats.org/drawingml/2006/main" noGrp="1"/>
          </p:cNvSpPr>
          <p:nvPr/>
        </p:nvSpPr>
        <p:spPr>
          <a:xfrm xmlns:a="http://schemas.openxmlformats.org/drawingml/2006/main">
            <a:off x="1162050" y="4438650"/>
            <a:ext cx="2209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0784"/>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status</a:t>
            </a:r>
          </a:p>
        </p:txBody>
      </p:sp>
      <p:sp>
        <p:nvSpPr>
          <p:cNvPr id="13" name="">
            <a:extLst xmlns:a="http://schemas.openxmlformats.org/drawingml/2006/main">
              <a:ext uri="{FF2B5EF4-FFF2-40B4-BE49-F238E27FC236}">
                <a16:creationId xmlns:a16="http://schemas.microsoft.com/office/drawing/2014/main" id="{B18F2C43-36A7-4CBD-9BE9-CD1F142A4D7B}"/>
              </a:ext>
            </a:extLst>
          </p:cNvPr>
          <p:cNvSpPr>
            <a:spLocks xmlns:a="http://schemas.openxmlformats.org/drawingml/2006/main" noGrp="1"/>
          </p:cNvSpPr>
          <p:nvPr/>
        </p:nvSpPr>
        <p:spPr>
          <a:xfrm xmlns:a="http://schemas.openxmlformats.org/drawingml/2006/main">
            <a:off x="4343400" y="1809750"/>
            <a:ext cx="3276600" cy="3048000"/>
          </a:xfrm>
          <a:prstGeom xmlns:a="http://schemas.openxmlformats.org/drawingml/2006/main" prst="roundRect">
            <a:avLst>
              <a:gd name="adj" fmla="val 2500"/>
            </a:avLst>
          </a:prstGeom>
          <a:solidFill xmlns:a="http://schemas.openxmlformats.org/drawingml/2006/main">
            <a:srgbClr val="21262D"/>
          </a:solidFill>
          <a:ln xmlns:a="http://schemas.openxmlformats.org/drawingml/2006/main" w="9525">
            <a:solidFill>
              <a:srgbClr val="30363D"/>
            </a:solidFill>
          </a:ln>
        </p:spPr>
      </p:sp>
      <p:sp>
        <p:nvSpPr>
          <p:cNvPr id="14" name="">
            <a:extLst xmlns:a="http://schemas.openxmlformats.org/drawingml/2006/main">
              <a:ext uri="{FF2B5EF4-FFF2-40B4-BE49-F238E27FC236}">
                <a16:creationId xmlns:a16="http://schemas.microsoft.com/office/drawing/2014/main" id="{A13E2DCA-986F-48FA-B20E-728298390200}"/>
              </a:ext>
            </a:extLst>
          </p:cNvPr>
          <p:cNvSpPr>
            <a:spLocks xmlns:a="http://schemas.openxmlformats.org/drawingml/2006/main" noGrp="1"/>
          </p:cNvSpPr>
          <p:nvPr/>
        </p:nvSpPr>
        <p:spPr>
          <a:xfrm xmlns:a="http://schemas.openxmlformats.org/drawingml/2006/main">
            <a:off x="4572000" y="2038350"/>
            <a:ext cx="495300" cy="495300"/>
          </a:xfrm>
          <a:prstGeom xmlns:a="http://schemas.openxmlformats.org/drawingml/2006/main" prst="rect">
            <a:avLst/>
          </a:prstGeom>
          <a:solidFill xmlns:a="http://schemas.openxmlformats.org/drawingml/2006/main">
            <a:srgbClr val="58A6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2</a:t>
            </a:r>
          </a:p>
        </p:txBody>
      </p:sp>
      <p:sp>
        <p:nvSpPr>
          <p:cNvPr id="15" name="">
            <a:extLst xmlns:a="http://schemas.openxmlformats.org/drawingml/2006/main">
              <a:ext uri="{FF2B5EF4-FFF2-40B4-BE49-F238E27FC236}">
                <a16:creationId xmlns:a16="http://schemas.microsoft.com/office/drawing/2014/main" id="{23B7C430-BA17-448F-BC0E-4572915326D4}"/>
              </a:ext>
            </a:extLst>
          </p:cNvPr>
          <p:cNvSpPr>
            <a:spLocks xmlns:a="http://schemas.openxmlformats.org/drawingml/2006/main" noGrp="1"/>
          </p:cNvSpPr>
          <p:nvPr/>
        </p:nvSpPr>
        <p:spPr>
          <a:xfrm xmlns:a="http://schemas.openxmlformats.org/drawingml/2006/main">
            <a:off x="4572000" y="2686050"/>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0F6FC"/>
                </a:solidFill>
                <a:latin typeface="DejaVu Sans"/>
                <a:ea typeface="DejaVu Sans"/>
                <a:cs typeface="DejaVu Sans"/>
              </a:defRPr>
            </a:pPr>
            <a:r>
              <a:rPr sz="1725" b="1">
                <a:solidFill>
                  <a:srgbClr val="F0F6FC"/>
                </a:solidFill>
                <a:latin typeface="DejaVu Sans"/>
                <a:ea typeface="DejaVu Sans"/>
                <a:cs typeface="DejaVu Sans"/>
              </a:rPr>
              <a:t>Staging area</a:t>
            </a:r>
          </a:p>
        </p:txBody>
      </p:sp>
      <p:sp>
        <p:nvSpPr>
          <p:cNvPr id="16" name="">
            <a:extLst xmlns:a="http://schemas.openxmlformats.org/drawingml/2006/main">
              <a:ext uri="{FF2B5EF4-FFF2-40B4-BE49-F238E27FC236}">
                <a16:creationId xmlns:a16="http://schemas.microsoft.com/office/drawing/2014/main" id="{50322664-0C68-4997-A65B-72E2E7C83C8F}"/>
              </a:ext>
            </a:extLst>
          </p:cNvPr>
          <p:cNvSpPr>
            <a:spLocks xmlns:a="http://schemas.openxmlformats.org/drawingml/2006/main" noGrp="1"/>
          </p:cNvSpPr>
          <p:nvPr/>
        </p:nvSpPr>
        <p:spPr>
          <a:xfrm xmlns:a="http://schemas.openxmlformats.org/drawingml/2006/main">
            <a:off x="4610100" y="3371850"/>
            <a:ext cx="274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8B949E"/>
                </a:solidFill>
                <a:latin typeface="DejaVu Sans"/>
                <a:ea typeface="DejaVu Sans"/>
                <a:cs typeface="DejaVu Sans"/>
              </a:defRPr>
            </a:pPr>
            <a:r>
              <a:rPr sz="1350" b="0">
                <a:solidFill>
                  <a:srgbClr val="8B949E"/>
                </a:solidFill>
                <a:latin typeface="DejaVu Sans"/>
                <a:ea typeface="DejaVu Sans"/>
                <a:cs typeface="DejaVu Sans"/>
              </a:rPr>
              <a:t>You select the commit contents</a:t>
            </a:r>
          </a:p>
        </p:txBody>
      </p:sp>
      <p:sp>
        <p:nvSpPr>
          <p:cNvPr id="17" name="">
            <a:extLst xmlns:a="http://schemas.openxmlformats.org/drawingml/2006/main">
              <a:ext uri="{FF2B5EF4-FFF2-40B4-BE49-F238E27FC236}">
                <a16:creationId xmlns:a16="http://schemas.microsoft.com/office/drawing/2014/main" id="{B89F5715-1B6E-4CC7-8B97-9ABC3C45CC6A}"/>
              </a:ext>
            </a:extLst>
          </p:cNvPr>
          <p:cNvSpPr>
            <a:spLocks xmlns:a="http://schemas.openxmlformats.org/drawingml/2006/main" noGrp="1"/>
          </p:cNvSpPr>
          <p:nvPr/>
        </p:nvSpPr>
        <p:spPr>
          <a:xfrm xmlns:a="http://schemas.openxmlformats.org/drawingml/2006/main">
            <a:off x="4667250" y="4286250"/>
            <a:ext cx="2628900" cy="514350"/>
          </a:xfrm>
          <a:prstGeom xmlns:a="http://schemas.openxmlformats.org/drawingml/2006/main" prst="roundRect">
            <a:avLst>
              <a:gd name="adj" fmla="val 14815"/>
            </a:avLst>
          </a:prstGeom>
          <a:solidFill xmlns:a="http://schemas.openxmlformats.org/drawingml/2006/main">
            <a:srgbClr val="090C10"/>
          </a:solidFill>
          <a:ln xmlns:a="http://schemas.openxmlformats.org/drawingml/2006/main" w="9525">
            <a:solidFill>
              <a:srgbClr val="30363D"/>
            </a:solidFill>
          </a:ln>
        </p:spPr>
      </p:sp>
      <p:sp>
        <p:nvSpPr>
          <p:cNvPr id="18" name="">
            <a:extLst xmlns:a="http://schemas.openxmlformats.org/drawingml/2006/main">
              <a:ext uri="{FF2B5EF4-FFF2-40B4-BE49-F238E27FC236}">
                <a16:creationId xmlns:a16="http://schemas.microsoft.com/office/drawing/2014/main" id="{EBC86435-EE47-4EB4-8737-98064515855D}"/>
              </a:ext>
            </a:extLst>
          </p:cNvPr>
          <p:cNvSpPr>
            <a:spLocks xmlns:a="http://schemas.openxmlformats.org/drawingml/2006/main" noGrp="1"/>
          </p:cNvSpPr>
          <p:nvPr/>
        </p:nvSpPr>
        <p:spPr>
          <a:xfrm xmlns:a="http://schemas.openxmlformats.org/drawingml/2006/main">
            <a:off x="4667250" y="4286250"/>
            <a:ext cx="76200" cy="51435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47B646C-374C-485B-8B4C-C0BEC52FAEE4}"/>
              </a:ext>
            </a:extLst>
          </p:cNvPr>
          <p:cNvSpPr>
            <a:spLocks xmlns:a="http://schemas.openxmlformats.org/drawingml/2006/main" noGrp="1"/>
          </p:cNvSpPr>
          <p:nvPr/>
        </p:nvSpPr>
        <p:spPr>
          <a:xfrm xmlns:a="http://schemas.openxmlformats.org/drawingml/2006/main">
            <a:off x="4895850" y="4438650"/>
            <a:ext cx="2209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0784"/>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add</a:t>
            </a:r>
          </a:p>
        </p:txBody>
      </p:sp>
      <p:sp>
        <p:nvSpPr>
          <p:cNvPr id="20" name="">
            <a:extLst xmlns:a="http://schemas.openxmlformats.org/drawingml/2006/main">
              <a:ext uri="{FF2B5EF4-FFF2-40B4-BE49-F238E27FC236}">
                <a16:creationId xmlns:a16="http://schemas.microsoft.com/office/drawing/2014/main" id="{9B41FA8A-8AB6-43C2-B85F-DEF00C7E7EBC}"/>
              </a:ext>
            </a:extLst>
          </p:cNvPr>
          <p:cNvSpPr>
            <a:spLocks xmlns:a="http://schemas.openxmlformats.org/drawingml/2006/main" noGrp="1"/>
          </p:cNvSpPr>
          <p:nvPr/>
        </p:nvSpPr>
        <p:spPr>
          <a:xfrm xmlns:a="http://schemas.openxmlformats.org/drawingml/2006/main">
            <a:off x="8077200" y="1809750"/>
            <a:ext cx="3276600" cy="3048000"/>
          </a:xfrm>
          <a:prstGeom xmlns:a="http://schemas.openxmlformats.org/drawingml/2006/main" prst="roundRect">
            <a:avLst>
              <a:gd name="adj" fmla="val 2500"/>
            </a:avLst>
          </a:prstGeom>
          <a:solidFill xmlns:a="http://schemas.openxmlformats.org/drawingml/2006/main">
            <a:srgbClr val="161B22"/>
          </a:solidFill>
          <a:ln xmlns:a="http://schemas.openxmlformats.org/drawingml/2006/main" w="9525">
            <a:solidFill>
              <a:srgbClr val="30363D"/>
            </a:solidFill>
          </a:ln>
        </p:spPr>
      </p:sp>
      <p:sp>
        <p:nvSpPr>
          <p:cNvPr id="21" name="">
            <a:extLst xmlns:a="http://schemas.openxmlformats.org/drawingml/2006/main">
              <a:ext uri="{FF2B5EF4-FFF2-40B4-BE49-F238E27FC236}">
                <a16:creationId xmlns:a16="http://schemas.microsoft.com/office/drawing/2014/main" id="{FEF01DB0-EBD2-4BCB-B2CD-ECFBC588ED1C}"/>
              </a:ext>
            </a:extLst>
          </p:cNvPr>
          <p:cNvSpPr>
            <a:spLocks xmlns:a="http://schemas.openxmlformats.org/drawingml/2006/main" noGrp="1"/>
          </p:cNvSpPr>
          <p:nvPr/>
        </p:nvSpPr>
        <p:spPr>
          <a:xfrm xmlns:a="http://schemas.openxmlformats.org/drawingml/2006/main">
            <a:off x="8305800" y="2038350"/>
            <a:ext cx="495300" cy="495300"/>
          </a:xfrm>
          <a:prstGeom xmlns:a="http://schemas.openxmlformats.org/drawingml/2006/main" prst="rect">
            <a:avLst/>
          </a:prstGeom>
          <a:solidFill xmlns:a="http://schemas.openxmlformats.org/drawingml/2006/main">
            <a:srgbClr val="3FB95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3</a:t>
            </a:r>
          </a:p>
        </p:txBody>
      </p:sp>
      <p:sp>
        <p:nvSpPr>
          <p:cNvPr id="22" name="">
            <a:extLst xmlns:a="http://schemas.openxmlformats.org/drawingml/2006/main">
              <a:ext uri="{FF2B5EF4-FFF2-40B4-BE49-F238E27FC236}">
                <a16:creationId xmlns:a16="http://schemas.microsoft.com/office/drawing/2014/main" id="{B4F9FBF7-BADF-4893-AF75-5A66BF787F04}"/>
              </a:ext>
            </a:extLst>
          </p:cNvPr>
          <p:cNvSpPr>
            <a:spLocks xmlns:a="http://schemas.openxmlformats.org/drawingml/2006/main" noGrp="1"/>
          </p:cNvSpPr>
          <p:nvPr/>
        </p:nvSpPr>
        <p:spPr>
          <a:xfrm xmlns:a="http://schemas.openxmlformats.org/drawingml/2006/main">
            <a:off x="8305800" y="2686050"/>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0F6FC"/>
                </a:solidFill>
                <a:latin typeface="DejaVu Sans"/>
                <a:ea typeface="DejaVu Sans"/>
                <a:cs typeface="DejaVu Sans"/>
              </a:defRPr>
            </a:pPr>
            <a:r>
              <a:rPr sz="1725" b="1">
                <a:solidFill>
                  <a:srgbClr val="F0F6FC"/>
                </a:solidFill>
                <a:latin typeface="DejaVu Sans"/>
                <a:ea typeface="DejaVu Sans"/>
                <a:cs typeface="DejaVu Sans"/>
              </a:rPr>
              <a:t>.git repository</a:t>
            </a:r>
          </a:p>
        </p:txBody>
      </p:sp>
      <p:sp>
        <p:nvSpPr>
          <p:cNvPr id="23" name="">
            <a:extLst xmlns:a="http://schemas.openxmlformats.org/drawingml/2006/main">
              <a:ext uri="{FF2B5EF4-FFF2-40B4-BE49-F238E27FC236}">
                <a16:creationId xmlns:a16="http://schemas.microsoft.com/office/drawing/2014/main" id="{CA6D15E8-E0A7-4AB9-B001-E448D1D595C4}"/>
              </a:ext>
            </a:extLst>
          </p:cNvPr>
          <p:cNvSpPr>
            <a:spLocks xmlns:a="http://schemas.openxmlformats.org/drawingml/2006/main" noGrp="1"/>
          </p:cNvSpPr>
          <p:nvPr/>
        </p:nvSpPr>
        <p:spPr>
          <a:xfrm xmlns:a="http://schemas.openxmlformats.org/drawingml/2006/main">
            <a:off x="8343900" y="3371850"/>
            <a:ext cx="274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8B949E"/>
                </a:solidFill>
                <a:latin typeface="DejaVu Sans"/>
                <a:ea typeface="DejaVu Sans"/>
                <a:cs typeface="DejaVu Sans"/>
              </a:defRPr>
            </a:pPr>
            <a:r>
              <a:rPr sz="1350" b="0">
                <a:solidFill>
                  <a:srgbClr val="8B949E"/>
                </a:solidFill>
                <a:latin typeface="DejaVu Sans"/>
                <a:ea typeface="DejaVu Sans"/>
                <a:cs typeface="DejaVu Sans"/>
              </a:rPr>
              <a:t>Git records the commit</a:t>
            </a:r>
          </a:p>
        </p:txBody>
      </p:sp>
      <p:sp>
        <p:nvSpPr>
          <p:cNvPr id="24" name="">
            <a:extLst xmlns:a="http://schemas.openxmlformats.org/drawingml/2006/main">
              <a:ext uri="{FF2B5EF4-FFF2-40B4-BE49-F238E27FC236}">
                <a16:creationId xmlns:a16="http://schemas.microsoft.com/office/drawing/2014/main" id="{6C4024A2-573C-44BF-B61A-0C5AA78BF457}"/>
              </a:ext>
            </a:extLst>
          </p:cNvPr>
          <p:cNvSpPr>
            <a:spLocks xmlns:a="http://schemas.openxmlformats.org/drawingml/2006/main" noGrp="1"/>
          </p:cNvSpPr>
          <p:nvPr/>
        </p:nvSpPr>
        <p:spPr>
          <a:xfrm xmlns:a="http://schemas.openxmlformats.org/drawingml/2006/main">
            <a:off x="8401050" y="4286250"/>
            <a:ext cx="2628900" cy="514350"/>
          </a:xfrm>
          <a:prstGeom xmlns:a="http://schemas.openxmlformats.org/drawingml/2006/main" prst="roundRect">
            <a:avLst>
              <a:gd name="adj" fmla="val 14815"/>
            </a:avLst>
          </a:prstGeom>
          <a:solidFill xmlns:a="http://schemas.openxmlformats.org/drawingml/2006/main">
            <a:srgbClr val="090C10"/>
          </a:solidFill>
          <a:ln xmlns:a="http://schemas.openxmlformats.org/drawingml/2006/main" w="9525">
            <a:solidFill>
              <a:srgbClr val="30363D"/>
            </a:solidFill>
          </a:ln>
        </p:spPr>
      </p:sp>
      <p:sp>
        <p:nvSpPr>
          <p:cNvPr id="25" name="">
            <a:extLst xmlns:a="http://schemas.openxmlformats.org/drawingml/2006/main">
              <a:ext uri="{FF2B5EF4-FFF2-40B4-BE49-F238E27FC236}">
                <a16:creationId xmlns:a16="http://schemas.microsoft.com/office/drawing/2014/main" id="{35FF3D0B-D1A3-4C56-9C10-348F4D39DDBE}"/>
              </a:ext>
            </a:extLst>
          </p:cNvPr>
          <p:cNvSpPr>
            <a:spLocks xmlns:a="http://schemas.openxmlformats.org/drawingml/2006/main" noGrp="1"/>
          </p:cNvSpPr>
          <p:nvPr/>
        </p:nvSpPr>
        <p:spPr>
          <a:xfrm xmlns:a="http://schemas.openxmlformats.org/drawingml/2006/main">
            <a:off x="8401050" y="4286250"/>
            <a:ext cx="76200" cy="514350"/>
          </a:xfrm>
          <a:prstGeom xmlns:a="http://schemas.openxmlformats.org/drawingml/2006/main" prst="rect">
            <a:avLst/>
          </a:prstGeom>
          <a:solidFill xmlns:a="http://schemas.openxmlformats.org/drawingml/2006/main">
            <a:srgbClr val="3FB95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7A5C8B3-1313-474F-BDB2-5016CE0351A8}"/>
              </a:ext>
            </a:extLst>
          </p:cNvPr>
          <p:cNvSpPr>
            <a:spLocks xmlns:a="http://schemas.openxmlformats.org/drawingml/2006/main" noGrp="1"/>
          </p:cNvSpPr>
          <p:nvPr/>
        </p:nvSpPr>
        <p:spPr>
          <a:xfrm xmlns:a="http://schemas.openxmlformats.org/drawingml/2006/main">
            <a:off x="8629650" y="4438650"/>
            <a:ext cx="2209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0784"/>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commit</a:t>
            </a:r>
          </a:p>
        </p:txBody>
      </p:sp>
      <p:sp>
        <p:nvSpPr>
          <p:cNvPr id="27" name="">
            <a:extLst xmlns:a="http://schemas.openxmlformats.org/drawingml/2006/main">
              <a:ext uri="{FF2B5EF4-FFF2-40B4-BE49-F238E27FC236}">
                <a16:creationId xmlns:a16="http://schemas.microsoft.com/office/drawing/2014/main" id="{3FCD7FB0-D544-4EA7-89D2-4807059CD510}"/>
              </a:ext>
            </a:extLst>
          </p:cNvPr>
          <p:cNvSpPr>
            <a:spLocks xmlns:a="http://schemas.openxmlformats.org/drawingml/2006/main" noGrp="1"/>
          </p:cNvSpPr>
          <p:nvPr/>
        </p:nvSpPr>
        <p:spPr>
          <a:xfrm xmlns:a="http://schemas.openxmlformats.org/drawingml/2006/main">
            <a:off x="1143000" y="53149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DDEBFF"/>
                </a:solidFill>
                <a:latin typeface="DejaVu Sans"/>
                <a:ea typeface="DejaVu Sans"/>
                <a:cs typeface="DejaVu Sans"/>
              </a:defRPr>
            </a:pPr>
            <a:r>
              <a:rPr sz="1425" b="1">
                <a:solidFill>
                  <a:srgbClr val="DDEBFF"/>
                </a:solidFill>
                <a:latin typeface="DejaVu Sans"/>
                <a:ea typeface="DejaVu Sans"/>
                <a:cs typeface="DejaVu Sans"/>
              </a:rPr>
              <a:t>A changed file will not enter the next commit until you stage it with git add.</a:t>
            </a:r>
          </a:p>
        </p:txBody>
      </p:sp>
    </p:spTree>
    <p:extLst>
      <p:ext uri="{BB962C8B-B14F-4D97-AF65-F5344CB8AC3E}">
        <p14:creationId xmlns:p14="http://schemas.microsoft.com/office/powerpoint/2010/main" val="456355848"/>
      </p:ext>
    </p:extLst>
  </p:cSld>
</p:sld>
</file>

<file path=ppt/slides/slide6.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2C2781-C8F1-4942-A126-59BDE0940FA9}"/>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Initial Git configuration</a:t>
            </a:r>
          </a:p>
        </p:txBody>
      </p:sp>
      <p:sp>
        <p:nvSpPr>
          <p:cNvPr id="2" name="">
            <a:extLst xmlns:a="http://schemas.openxmlformats.org/drawingml/2006/main">
              <a:ext uri="{FF2B5EF4-FFF2-40B4-BE49-F238E27FC236}">
                <a16:creationId xmlns:a16="http://schemas.microsoft.com/office/drawing/2014/main" id="{12693CF3-5492-4CCF-A358-981DA346E29B}"/>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Name and email become the author identity of new commits</a:t>
            </a:r>
          </a:p>
        </p:txBody>
      </p:sp>
      <p:sp>
        <p:nvSpPr>
          <p:cNvPr id="3" name="">
            <a:extLst xmlns:a="http://schemas.openxmlformats.org/drawingml/2006/main">
              <a:ext uri="{FF2B5EF4-FFF2-40B4-BE49-F238E27FC236}">
                <a16:creationId xmlns:a16="http://schemas.microsoft.com/office/drawing/2014/main" id="{CD738620-07A1-4F36-8E6B-9D51C32ACFB6}"/>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5B81C3-A5B0-4B93-A514-65BD00121E92}"/>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06</a:t>
            </a:r>
          </a:p>
        </p:txBody>
      </p:sp>
      <p:sp>
        <p:nvSpPr>
          <p:cNvPr id="5" name="">
            <a:extLst xmlns:a="http://schemas.openxmlformats.org/drawingml/2006/main">
              <a:ext uri="{FF2B5EF4-FFF2-40B4-BE49-F238E27FC236}">
                <a16:creationId xmlns:a16="http://schemas.microsoft.com/office/drawing/2014/main" id="{39F5CA0F-FDAF-4356-8A56-7B62930DDB63}"/>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D9912BD2-8C21-4DA5-B0EF-2673D21CFAAA}"/>
              </a:ext>
            </a:extLst>
          </p:cNvPr>
          <p:cNvSpPr>
            <a:spLocks xmlns:a="http://schemas.openxmlformats.org/drawingml/2006/main" noGrp="1"/>
          </p:cNvSpPr>
          <p:nvPr/>
        </p:nvSpPr>
        <p:spPr>
          <a:xfrm xmlns:a="http://schemas.openxmlformats.org/drawingml/2006/main">
            <a:off x="609600" y="1676400"/>
            <a:ext cx="7239000" cy="3752850"/>
          </a:xfrm>
          <a:prstGeom xmlns:a="http://schemas.openxmlformats.org/drawingml/2006/main" prst="roundRect">
            <a:avLst>
              <a:gd name="adj" fmla="val 2030"/>
            </a:avLst>
          </a:prstGeom>
          <a:solidFill xmlns:a="http://schemas.openxmlformats.org/drawingml/2006/main">
            <a:srgbClr val="090C10"/>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372BD6E9-5DF1-4591-A149-6816DA3AC48B}"/>
              </a:ext>
            </a:extLst>
          </p:cNvPr>
          <p:cNvSpPr>
            <a:spLocks xmlns:a="http://schemas.openxmlformats.org/drawingml/2006/main" noGrp="1"/>
          </p:cNvSpPr>
          <p:nvPr/>
        </p:nvSpPr>
        <p:spPr>
          <a:xfrm xmlns:a="http://schemas.openxmlformats.org/drawingml/2006/main">
            <a:off x="609600" y="1676400"/>
            <a:ext cx="76200" cy="3752850"/>
          </a:xfrm>
          <a:prstGeom xmlns:a="http://schemas.openxmlformats.org/drawingml/2006/main" prst="rect">
            <a:avLst/>
          </a:prstGeom>
          <a:solidFill xmlns:a="http://schemas.openxmlformats.org/drawingml/2006/main">
            <a:srgbClr val="D2992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B3C2D9B-5B40-42CF-90D5-7D49B14E4BC3}"/>
              </a:ext>
            </a:extLst>
          </p:cNvPr>
          <p:cNvSpPr>
            <a:spLocks xmlns:a="http://schemas.openxmlformats.org/drawingml/2006/main" noGrp="1"/>
          </p:cNvSpPr>
          <p:nvPr/>
        </p:nvSpPr>
        <p:spPr>
          <a:xfrm xmlns:a="http://schemas.openxmlformats.org/drawingml/2006/main">
            <a:off x="838200" y="1828800"/>
            <a:ext cx="6819900" cy="3448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--version</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config --global user.name "Farikha Nauruzbaeva"</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config --global user.email "student@example.com"</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config --global init.defaultBranch main</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config --list</a:t>
            </a:r>
          </a:p>
        </p:txBody>
      </p:sp>
      <p:sp>
        <p:nvSpPr>
          <p:cNvPr id="9" name="">
            <a:extLst xmlns:a="http://schemas.openxmlformats.org/drawingml/2006/main">
              <a:ext uri="{FF2B5EF4-FFF2-40B4-BE49-F238E27FC236}">
                <a16:creationId xmlns:a16="http://schemas.microsoft.com/office/drawing/2014/main" id="{107B1745-754D-4E6E-B228-E364442B72E9}"/>
              </a:ext>
            </a:extLst>
          </p:cNvPr>
          <p:cNvSpPr>
            <a:spLocks xmlns:a="http://schemas.openxmlformats.org/drawingml/2006/main" noGrp="1"/>
          </p:cNvSpPr>
          <p:nvPr/>
        </p:nvSpPr>
        <p:spPr>
          <a:xfrm xmlns:a="http://schemas.openxmlformats.org/drawingml/2006/main">
            <a:off x="8153400" y="1676400"/>
            <a:ext cx="3429000" cy="3752850"/>
          </a:xfrm>
          <a:prstGeom xmlns:a="http://schemas.openxmlformats.org/drawingml/2006/main" prst="roundRect">
            <a:avLst>
              <a:gd name="adj" fmla="val 2222"/>
            </a:avLst>
          </a:prstGeom>
          <a:solidFill xmlns:a="http://schemas.openxmlformats.org/drawingml/2006/main">
            <a:srgbClr val="21262D"/>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F6419864-03DA-4370-85F1-32C593488104}"/>
              </a:ext>
            </a:extLst>
          </p:cNvPr>
          <p:cNvSpPr>
            <a:spLocks xmlns:a="http://schemas.openxmlformats.org/drawingml/2006/main" noGrp="1"/>
          </p:cNvSpPr>
          <p:nvPr/>
        </p:nvSpPr>
        <p:spPr>
          <a:xfrm xmlns:a="http://schemas.openxmlformats.org/drawingml/2006/main">
            <a:off x="8420100" y="1885950"/>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58A6FF"/>
                </a:solidFill>
                <a:latin typeface="DejaVu Sans"/>
                <a:ea typeface="DejaVu Sans"/>
                <a:cs typeface="DejaVu Sans"/>
              </a:defRPr>
            </a:pPr>
            <a:r>
              <a:rPr sz="1800" b="1">
                <a:solidFill>
                  <a:srgbClr val="58A6FF"/>
                </a:solidFill>
                <a:latin typeface="DejaVu Sans"/>
                <a:ea typeface="DejaVu Sans"/>
                <a:cs typeface="DejaVu Sans"/>
              </a:rPr>
              <a:t>Option meanings</a:t>
            </a:r>
          </a:p>
        </p:txBody>
      </p:sp>
      <p:sp>
        <p:nvSpPr>
          <p:cNvPr id="11" name="">
            <a:extLst xmlns:a="http://schemas.openxmlformats.org/drawingml/2006/main">
              <a:ext uri="{FF2B5EF4-FFF2-40B4-BE49-F238E27FC236}">
                <a16:creationId xmlns:a16="http://schemas.microsoft.com/office/drawing/2014/main" id="{2450A754-818E-4D56-B3A7-94DB21E75759}"/>
              </a:ext>
            </a:extLst>
          </p:cNvPr>
          <p:cNvSpPr>
            <a:spLocks xmlns:a="http://schemas.openxmlformats.org/drawingml/2006/main" noGrp="1"/>
          </p:cNvSpPr>
          <p:nvPr/>
        </p:nvSpPr>
        <p:spPr>
          <a:xfrm xmlns:a="http://schemas.openxmlformats.org/drawingml/2006/main">
            <a:off x="8420100" y="2419350"/>
            <a:ext cx="28956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--global</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setting for the current user</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user.name / user.email</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commit author, not GitHub login</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init.defaultBranch</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branch name created by git init</a:t>
            </a:r>
          </a:p>
        </p:txBody>
      </p:sp>
    </p:spTree>
    <p:extLst>
      <p:ext uri="{BB962C8B-B14F-4D97-AF65-F5344CB8AC3E}">
        <p14:creationId xmlns:p14="http://schemas.microsoft.com/office/powerpoint/2010/main" val="1425167305"/>
      </p:ext>
    </p:extLst>
  </p:cSld>
</p:sld>
</file>

<file path=ppt/slides/slide7.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367B91-9D0A-414A-9AF5-753E7FD9A929}"/>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Two ways to obtain a repository</a:t>
            </a:r>
          </a:p>
        </p:txBody>
      </p:sp>
      <p:sp>
        <p:nvSpPr>
          <p:cNvPr id="2" name="">
            <a:extLst xmlns:a="http://schemas.openxmlformats.org/drawingml/2006/main">
              <a:ext uri="{FF2B5EF4-FFF2-40B4-BE49-F238E27FC236}">
                <a16:creationId xmlns:a16="http://schemas.microsoft.com/office/drawing/2014/main" id="{A56A77CC-FAF4-4AC1-A1C3-0E62F7304987}"/>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git init creates a new one; git clone copies an existing one</a:t>
            </a:r>
          </a:p>
        </p:txBody>
      </p:sp>
      <p:sp>
        <p:nvSpPr>
          <p:cNvPr id="3" name="">
            <a:extLst xmlns:a="http://schemas.openxmlformats.org/drawingml/2006/main">
              <a:ext uri="{FF2B5EF4-FFF2-40B4-BE49-F238E27FC236}">
                <a16:creationId xmlns:a16="http://schemas.microsoft.com/office/drawing/2014/main" id="{1E8020A2-A35A-4C4D-AF4F-6580DF3B262E}"/>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5B69A3-4B28-423D-810E-D83141900B4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07</a:t>
            </a:r>
          </a:p>
        </p:txBody>
      </p:sp>
      <p:sp>
        <p:nvSpPr>
          <p:cNvPr id="5" name="">
            <a:extLst xmlns:a="http://schemas.openxmlformats.org/drawingml/2006/main">
              <a:ext uri="{FF2B5EF4-FFF2-40B4-BE49-F238E27FC236}">
                <a16:creationId xmlns:a16="http://schemas.microsoft.com/office/drawing/2014/main" id="{52D0610A-9AFE-4150-8D97-A7CD30137BF9}"/>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94F54C96-A96D-4D6E-8E31-D063F071B5EC}"/>
              </a:ext>
            </a:extLst>
          </p:cNvPr>
          <p:cNvSpPr>
            <a:spLocks xmlns:a="http://schemas.openxmlformats.org/drawingml/2006/main" noGrp="1"/>
          </p:cNvSpPr>
          <p:nvPr/>
        </p:nvSpPr>
        <p:spPr>
          <a:xfrm xmlns:a="http://schemas.openxmlformats.org/drawingml/2006/main">
            <a:off x="609600" y="1581150"/>
            <a:ext cx="5257800" cy="4286250"/>
          </a:xfrm>
          <a:prstGeom xmlns:a="http://schemas.openxmlformats.org/drawingml/2006/main" prst="roundRect">
            <a:avLst>
              <a:gd name="adj" fmla="val 1778"/>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1DBDC907-3CD9-4F91-AE94-F4D59698F0D4}"/>
              </a:ext>
            </a:extLst>
          </p:cNvPr>
          <p:cNvSpPr>
            <a:spLocks xmlns:a="http://schemas.openxmlformats.org/drawingml/2006/main" noGrp="1"/>
          </p:cNvSpPr>
          <p:nvPr/>
        </p:nvSpPr>
        <p:spPr>
          <a:xfrm xmlns:a="http://schemas.openxmlformats.org/drawingml/2006/main">
            <a:off x="6324600" y="1581150"/>
            <a:ext cx="5257800" cy="4286250"/>
          </a:xfrm>
          <a:prstGeom xmlns:a="http://schemas.openxmlformats.org/drawingml/2006/main" prst="roundRect">
            <a:avLst>
              <a:gd name="adj" fmla="val 1778"/>
            </a:avLst>
          </a:prstGeom>
          <a:solidFill xmlns:a="http://schemas.openxmlformats.org/drawingml/2006/main">
            <a:srgbClr val="161B22"/>
          </a:solidFill>
          <a:ln xmlns:a="http://schemas.openxmlformats.org/drawingml/2006/main" w="9525">
            <a:solidFill>
              <a:srgbClr val="30363D"/>
            </a:solidFill>
          </a:ln>
        </p:spPr>
      </p:sp>
      <p:sp>
        <p:nvSpPr>
          <p:cNvPr id="8" name="">
            <a:extLst xmlns:a="http://schemas.openxmlformats.org/drawingml/2006/main">
              <a:ext uri="{FF2B5EF4-FFF2-40B4-BE49-F238E27FC236}">
                <a16:creationId xmlns:a16="http://schemas.microsoft.com/office/drawing/2014/main" id="{C67BD20F-04B8-4D88-9BA2-553BE0AA3573}"/>
              </a:ext>
            </a:extLst>
          </p:cNvPr>
          <p:cNvSpPr>
            <a:spLocks xmlns:a="http://schemas.openxmlformats.org/drawingml/2006/main" noGrp="1"/>
          </p:cNvSpPr>
          <p:nvPr/>
        </p:nvSpPr>
        <p:spPr>
          <a:xfrm xmlns:a="http://schemas.openxmlformats.org/drawingml/2006/main">
            <a:off x="876300" y="1809750"/>
            <a:ext cx="472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58A6FF"/>
                </a:solidFill>
                <a:latin typeface="DejaVu Sans"/>
                <a:ea typeface="DejaVu Sans"/>
                <a:cs typeface="DejaVu Sans"/>
              </a:defRPr>
            </a:pPr>
            <a:r>
              <a:rPr sz="1800" b="1">
                <a:solidFill>
                  <a:srgbClr val="58A6FF"/>
                </a:solidFill>
                <a:latin typeface="DejaVu Sans"/>
                <a:ea typeface="DejaVu Sans"/>
                <a:cs typeface="DejaVu Sans"/>
              </a:rPr>
              <a:t>New local project</a:t>
            </a:r>
          </a:p>
        </p:txBody>
      </p:sp>
      <p:sp>
        <p:nvSpPr>
          <p:cNvPr id="9" name="">
            <a:extLst xmlns:a="http://schemas.openxmlformats.org/drawingml/2006/main">
              <a:ext uri="{FF2B5EF4-FFF2-40B4-BE49-F238E27FC236}">
                <a16:creationId xmlns:a16="http://schemas.microsoft.com/office/drawing/2014/main" id="{7D62411A-0839-432B-820F-9AE42BB79F35}"/>
              </a:ext>
            </a:extLst>
          </p:cNvPr>
          <p:cNvSpPr>
            <a:spLocks xmlns:a="http://schemas.openxmlformats.org/drawingml/2006/main" noGrp="1"/>
          </p:cNvSpPr>
          <p:nvPr/>
        </p:nvSpPr>
        <p:spPr>
          <a:xfrm xmlns:a="http://schemas.openxmlformats.org/drawingml/2006/main">
            <a:off x="876300" y="2333625"/>
            <a:ext cx="47244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mkdir student-task-manager</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cd student-task-manager</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git init</a:t>
            </a:r>
          </a:p>
          <a:p xmlns:a="http://schemas.openxmlformats.org/drawingml/2006/main">
            <a:r>
              <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Creates a hidden .git directory.</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The history is initially empty.</a:t>
            </a:r>
          </a:p>
        </p:txBody>
      </p:sp>
      <p:sp>
        <p:nvSpPr>
          <p:cNvPr id="10" name="">
            <a:extLst xmlns:a="http://schemas.openxmlformats.org/drawingml/2006/main">
              <a:ext uri="{FF2B5EF4-FFF2-40B4-BE49-F238E27FC236}">
                <a16:creationId xmlns:a16="http://schemas.microsoft.com/office/drawing/2014/main" id="{70D51524-46BF-4192-903C-2FEB0EDA3775}"/>
              </a:ext>
            </a:extLst>
          </p:cNvPr>
          <p:cNvSpPr>
            <a:spLocks xmlns:a="http://schemas.openxmlformats.org/drawingml/2006/main" noGrp="1"/>
          </p:cNvSpPr>
          <p:nvPr/>
        </p:nvSpPr>
        <p:spPr>
          <a:xfrm xmlns:a="http://schemas.openxmlformats.org/drawingml/2006/main">
            <a:off x="6591300" y="1809750"/>
            <a:ext cx="472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3FB950"/>
                </a:solidFill>
                <a:latin typeface="DejaVu Sans"/>
                <a:ea typeface="DejaVu Sans"/>
                <a:cs typeface="DejaVu Sans"/>
              </a:defRPr>
            </a:pPr>
            <a:r>
              <a:rPr sz="1800" b="1">
                <a:solidFill>
                  <a:srgbClr val="3FB950"/>
                </a:solidFill>
                <a:latin typeface="DejaVu Sans"/>
                <a:ea typeface="DejaVu Sans"/>
                <a:cs typeface="DejaVu Sans"/>
              </a:rPr>
              <a:t>Project from GitHub</a:t>
            </a:r>
          </a:p>
        </p:txBody>
      </p:sp>
      <p:sp>
        <p:nvSpPr>
          <p:cNvPr id="11" name="">
            <a:extLst xmlns:a="http://schemas.openxmlformats.org/drawingml/2006/main">
              <a:ext uri="{FF2B5EF4-FFF2-40B4-BE49-F238E27FC236}">
                <a16:creationId xmlns:a16="http://schemas.microsoft.com/office/drawing/2014/main" id="{4D31FE10-40AF-48AB-B02A-B156A7F483E0}"/>
              </a:ext>
            </a:extLst>
          </p:cNvPr>
          <p:cNvSpPr>
            <a:spLocks xmlns:a="http://schemas.openxmlformats.org/drawingml/2006/main" noGrp="1"/>
          </p:cNvSpPr>
          <p:nvPr/>
        </p:nvSpPr>
        <p:spPr>
          <a:xfrm xmlns:a="http://schemas.openxmlformats.org/drawingml/2006/main">
            <a:off x="6591300" y="2333625"/>
            <a:ext cx="47244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git clone https://github.com/user/student-task-manager.git</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cd student-task-manager</a:t>
            </a:r>
          </a:p>
          <a:p xmlns:a="http://schemas.openxmlformats.org/drawingml/2006/main">
            <a:r>
              <a:t/>
            </a:r>
          </a:p>
          <a:p xmlns:a="http://schemas.openxmlformats.org/drawingml/2006/main">
            <a:pPr algn="l">
              <a:defRPr sz="1500" b="0">
                <a:solidFill>
                  <a:srgbClr val="F0F6FC"/>
                </a:solidFill>
                <a:latin typeface="DejaVu Sans"/>
                <a:ea typeface="DejaVu Sans"/>
                <a:cs typeface="DejaVu Sans"/>
              </a:defRPr>
            </a:pPr>
            <a:r>
              <a:rPr sz="1500" b="0">
                <a:solidFill>
                  <a:srgbClr val="F0F6FC"/>
                </a:solidFill>
                <a:latin typeface="DejaVu Sans"/>
                <a:ea typeface="DejaVu Sans"/>
                <a:cs typeface="DejaVu Sans"/>
              </a:rPr>
              <a:t>Copies files, history, and remote references.</a:t>
            </a:r>
          </a:p>
        </p:txBody>
      </p:sp>
    </p:spTree>
    <p:extLst>
      <p:ext uri="{BB962C8B-B14F-4D97-AF65-F5344CB8AC3E}">
        <p14:creationId xmlns:p14="http://schemas.microsoft.com/office/powerpoint/2010/main" val="1242314763"/>
      </p:ext>
    </p:extLst>
  </p:cSld>
</p:sld>
</file>

<file path=ppt/slides/slide8.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1C8E132-CEBF-4D17-8155-473E0B9E77FB}"/>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Creating a repository on GitHub</a:t>
            </a:r>
          </a:p>
        </p:txBody>
      </p:sp>
      <p:sp>
        <p:nvSpPr>
          <p:cNvPr id="2" name="">
            <a:extLst xmlns:a="http://schemas.openxmlformats.org/drawingml/2006/main">
              <a:ext uri="{FF2B5EF4-FFF2-40B4-BE49-F238E27FC236}">
                <a16:creationId xmlns:a16="http://schemas.microsoft.com/office/drawing/2014/main" id="{28891376-788E-48C5-94A2-BD6F4AF441EE}"/>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A minimal structure makes the project understandable and safer</a:t>
            </a:r>
          </a:p>
        </p:txBody>
      </p:sp>
      <p:sp>
        <p:nvSpPr>
          <p:cNvPr id="3" name="">
            <a:extLst xmlns:a="http://schemas.openxmlformats.org/drawingml/2006/main">
              <a:ext uri="{FF2B5EF4-FFF2-40B4-BE49-F238E27FC236}">
                <a16:creationId xmlns:a16="http://schemas.microsoft.com/office/drawing/2014/main" id="{E636A36F-546F-45ED-99A3-27E25DFBE6D9}"/>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18B5DE-4765-496F-981A-B82D8C3A010C}"/>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08</a:t>
            </a:r>
          </a:p>
        </p:txBody>
      </p:sp>
      <p:sp>
        <p:nvSpPr>
          <p:cNvPr id="5" name="">
            <a:extLst xmlns:a="http://schemas.openxmlformats.org/drawingml/2006/main">
              <a:ext uri="{FF2B5EF4-FFF2-40B4-BE49-F238E27FC236}">
                <a16:creationId xmlns:a16="http://schemas.microsoft.com/office/drawing/2014/main" id="{E9371F5E-EA64-463D-A5FF-EAB7833F135D}"/>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AC404248-BC91-4413-8CCC-324A13AFD12C}"/>
              </a:ext>
            </a:extLst>
          </p:cNvPr>
          <p:cNvSpPr>
            <a:spLocks xmlns:a="http://schemas.openxmlformats.org/drawingml/2006/main" noGrp="1"/>
          </p:cNvSpPr>
          <p:nvPr/>
        </p:nvSpPr>
        <p:spPr>
          <a:xfrm xmlns:a="http://schemas.openxmlformats.org/drawingml/2006/main">
            <a:off x="609600" y="1657350"/>
            <a:ext cx="6191250" cy="628650"/>
          </a:xfrm>
          <a:prstGeom xmlns:a="http://schemas.openxmlformats.org/drawingml/2006/main" prst="roundRect">
            <a:avLst>
              <a:gd name="adj" fmla="val 12121"/>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AFD58566-CDF8-4DF9-A3A9-8481DC95A6F0}"/>
              </a:ext>
            </a:extLst>
          </p:cNvPr>
          <p:cNvSpPr>
            <a:spLocks xmlns:a="http://schemas.openxmlformats.org/drawingml/2006/main" noGrp="1"/>
          </p:cNvSpPr>
          <p:nvPr/>
        </p:nvSpPr>
        <p:spPr>
          <a:xfrm xmlns:a="http://schemas.openxmlformats.org/drawingml/2006/main">
            <a:off x="838200" y="17716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58A6FF"/>
                </a:solidFill>
                <a:latin typeface="DejaVu Sans Mono"/>
                <a:ea typeface="DejaVu Sans Mono"/>
                <a:cs typeface="DejaVu Sans Mono"/>
              </a:defRPr>
            </a:pPr>
            <a:r>
              <a:rPr sz="1500" b="1">
                <a:solidFill>
                  <a:srgbClr val="58A6FF"/>
                </a:solidFill>
                <a:latin typeface="DejaVu Sans Mono"/>
                <a:ea typeface="DejaVu Sans Mono"/>
                <a:cs typeface="DejaVu Sans Mono"/>
              </a:rPr>
              <a:t>README.md</a:t>
            </a:r>
          </a:p>
        </p:txBody>
      </p:sp>
      <p:sp>
        <p:nvSpPr>
          <p:cNvPr id="8" name="">
            <a:extLst xmlns:a="http://schemas.openxmlformats.org/drawingml/2006/main">
              <a:ext uri="{FF2B5EF4-FFF2-40B4-BE49-F238E27FC236}">
                <a16:creationId xmlns:a16="http://schemas.microsoft.com/office/drawing/2014/main" id="{1A581273-7B2D-4150-93B0-4B398DE205F9}"/>
              </a:ext>
            </a:extLst>
          </p:cNvPr>
          <p:cNvSpPr>
            <a:spLocks xmlns:a="http://schemas.openxmlformats.org/drawingml/2006/main" noGrp="1"/>
          </p:cNvSpPr>
          <p:nvPr/>
        </p:nvSpPr>
        <p:spPr>
          <a:xfrm xmlns:a="http://schemas.openxmlformats.org/drawingml/2006/main">
            <a:off x="2781300" y="1771650"/>
            <a:ext cx="3752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purpose, setup, and examples</a:t>
            </a:r>
          </a:p>
        </p:txBody>
      </p:sp>
      <p:sp>
        <p:nvSpPr>
          <p:cNvPr id="9" name="">
            <a:extLst xmlns:a="http://schemas.openxmlformats.org/drawingml/2006/main">
              <a:ext uri="{FF2B5EF4-FFF2-40B4-BE49-F238E27FC236}">
                <a16:creationId xmlns:a16="http://schemas.microsoft.com/office/drawing/2014/main" id="{01C2CD7E-DEAE-4FB0-8CDA-F0AC0E05A3D5}"/>
              </a:ext>
            </a:extLst>
          </p:cNvPr>
          <p:cNvSpPr>
            <a:spLocks xmlns:a="http://schemas.openxmlformats.org/drawingml/2006/main" noGrp="1"/>
          </p:cNvSpPr>
          <p:nvPr/>
        </p:nvSpPr>
        <p:spPr>
          <a:xfrm xmlns:a="http://schemas.openxmlformats.org/drawingml/2006/main">
            <a:off x="609600" y="2495550"/>
            <a:ext cx="6191250" cy="628650"/>
          </a:xfrm>
          <a:prstGeom xmlns:a="http://schemas.openxmlformats.org/drawingml/2006/main" prst="roundRect">
            <a:avLst>
              <a:gd name="adj" fmla="val 12121"/>
            </a:avLst>
          </a:prstGeom>
          <a:solidFill xmlns:a="http://schemas.openxmlformats.org/drawingml/2006/main">
            <a:srgbClr val="161B22"/>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C93B60D1-D9EE-4F0F-B3F6-A612F920AB3A}"/>
              </a:ext>
            </a:extLst>
          </p:cNvPr>
          <p:cNvSpPr>
            <a:spLocks xmlns:a="http://schemas.openxmlformats.org/drawingml/2006/main" noGrp="1"/>
          </p:cNvSpPr>
          <p:nvPr/>
        </p:nvSpPr>
        <p:spPr>
          <a:xfrm xmlns:a="http://schemas.openxmlformats.org/drawingml/2006/main">
            <a:off x="838200" y="26098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58A6FF"/>
                </a:solidFill>
                <a:latin typeface="DejaVu Sans Mono"/>
                <a:ea typeface="DejaVu Sans Mono"/>
                <a:cs typeface="DejaVu Sans Mono"/>
              </a:defRPr>
            </a:pPr>
            <a:r>
              <a:rPr sz="1500" b="1">
                <a:solidFill>
                  <a:srgbClr val="58A6FF"/>
                </a:solidFill>
                <a:latin typeface="DejaVu Sans Mono"/>
                <a:ea typeface="DejaVu Sans Mono"/>
                <a:cs typeface="DejaVu Sans Mono"/>
              </a:rPr>
              <a:t>.gitignore</a:t>
            </a:r>
          </a:p>
        </p:txBody>
      </p:sp>
      <p:sp>
        <p:nvSpPr>
          <p:cNvPr id="11" name="">
            <a:extLst xmlns:a="http://schemas.openxmlformats.org/drawingml/2006/main">
              <a:ext uri="{FF2B5EF4-FFF2-40B4-BE49-F238E27FC236}">
                <a16:creationId xmlns:a16="http://schemas.microsoft.com/office/drawing/2014/main" id="{2445DC7C-9380-4405-9277-7727B35C04F9}"/>
              </a:ext>
            </a:extLst>
          </p:cNvPr>
          <p:cNvSpPr>
            <a:spLocks xmlns:a="http://schemas.openxmlformats.org/drawingml/2006/main" noGrp="1"/>
          </p:cNvSpPr>
          <p:nvPr/>
        </p:nvSpPr>
        <p:spPr>
          <a:xfrm xmlns:a="http://schemas.openxmlformats.org/drawingml/2006/main">
            <a:off x="2781300" y="2609850"/>
            <a:ext cx="3752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files that Git should not track</a:t>
            </a:r>
          </a:p>
        </p:txBody>
      </p:sp>
      <p:sp>
        <p:nvSpPr>
          <p:cNvPr id="12" name="">
            <a:extLst xmlns:a="http://schemas.openxmlformats.org/drawingml/2006/main">
              <a:ext uri="{FF2B5EF4-FFF2-40B4-BE49-F238E27FC236}">
                <a16:creationId xmlns:a16="http://schemas.microsoft.com/office/drawing/2014/main" id="{D597E4FD-D88A-4D9F-9200-D308BE64A7F0}"/>
              </a:ext>
            </a:extLst>
          </p:cNvPr>
          <p:cNvSpPr>
            <a:spLocks xmlns:a="http://schemas.openxmlformats.org/drawingml/2006/main" noGrp="1"/>
          </p:cNvSpPr>
          <p:nvPr/>
        </p:nvSpPr>
        <p:spPr>
          <a:xfrm xmlns:a="http://schemas.openxmlformats.org/drawingml/2006/main">
            <a:off x="609600" y="3333750"/>
            <a:ext cx="6191250" cy="628650"/>
          </a:xfrm>
          <a:prstGeom xmlns:a="http://schemas.openxmlformats.org/drawingml/2006/main" prst="roundRect">
            <a:avLst>
              <a:gd name="adj" fmla="val 12121"/>
            </a:avLst>
          </a:prstGeom>
          <a:solidFill xmlns:a="http://schemas.openxmlformats.org/drawingml/2006/main">
            <a:srgbClr val="161B22"/>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95AC5A7A-75F0-489A-BD2A-B5F67AF52E23}"/>
              </a:ext>
            </a:extLst>
          </p:cNvPr>
          <p:cNvSpPr>
            <a:spLocks xmlns:a="http://schemas.openxmlformats.org/drawingml/2006/main" noGrp="1"/>
          </p:cNvSpPr>
          <p:nvPr/>
        </p:nvSpPr>
        <p:spPr>
          <a:xfrm xmlns:a="http://schemas.openxmlformats.org/drawingml/2006/main">
            <a:off x="838200" y="34480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58A6FF"/>
                </a:solidFill>
                <a:latin typeface="DejaVu Sans Mono"/>
                <a:ea typeface="DejaVu Sans Mono"/>
                <a:cs typeface="DejaVu Sans Mono"/>
              </a:defRPr>
            </a:pPr>
            <a:r>
              <a:rPr sz="1500" b="1">
                <a:solidFill>
                  <a:srgbClr val="58A6FF"/>
                </a:solidFill>
                <a:latin typeface="DejaVu Sans Mono"/>
                <a:ea typeface="DejaVu Sans Mono"/>
                <a:cs typeface="DejaVu Sans Mono"/>
              </a:rPr>
              <a:t>LICENSE</a:t>
            </a:r>
          </a:p>
        </p:txBody>
      </p:sp>
      <p:sp>
        <p:nvSpPr>
          <p:cNvPr id="14" name="">
            <a:extLst xmlns:a="http://schemas.openxmlformats.org/drawingml/2006/main">
              <a:ext uri="{FF2B5EF4-FFF2-40B4-BE49-F238E27FC236}">
                <a16:creationId xmlns:a16="http://schemas.microsoft.com/office/drawing/2014/main" id="{88955ED7-12BE-4381-8BD7-4E9542DF9C52}"/>
              </a:ext>
            </a:extLst>
          </p:cNvPr>
          <p:cNvSpPr>
            <a:spLocks xmlns:a="http://schemas.openxmlformats.org/drawingml/2006/main" noGrp="1"/>
          </p:cNvSpPr>
          <p:nvPr/>
        </p:nvSpPr>
        <p:spPr>
          <a:xfrm xmlns:a="http://schemas.openxmlformats.org/drawingml/2006/main">
            <a:off x="2781300" y="3448050"/>
            <a:ext cx="3752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terms for using the code</a:t>
            </a:r>
          </a:p>
        </p:txBody>
      </p:sp>
      <p:sp>
        <p:nvSpPr>
          <p:cNvPr id="15" name="">
            <a:extLst xmlns:a="http://schemas.openxmlformats.org/drawingml/2006/main">
              <a:ext uri="{FF2B5EF4-FFF2-40B4-BE49-F238E27FC236}">
                <a16:creationId xmlns:a16="http://schemas.microsoft.com/office/drawing/2014/main" id="{70641C49-2276-454E-8D61-9CCC08E26A89}"/>
              </a:ext>
            </a:extLst>
          </p:cNvPr>
          <p:cNvSpPr>
            <a:spLocks xmlns:a="http://schemas.openxmlformats.org/drawingml/2006/main" noGrp="1"/>
          </p:cNvSpPr>
          <p:nvPr/>
        </p:nvSpPr>
        <p:spPr>
          <a:xfrm xmlns:a="http://schemas.openxmlformats.org/drawingml/2006/main">
            <a:off x="609600" y="4171950"/>
            <a:ext cx="6191250" cy="628650"/>
          </a:xfrm>
          <a:prstGeom xmlns:a="http://schemas.openxmlformats.org/drawingml/2006/main" prst="roundRect">
            <a:avLst>
              <a:gd name="adj" fmla="val 12121"/>
            </a:avLst>
          </a:prstGeom>
          <a:solidFill xmlns:a="http://schemas.openxmlformats.org/drawingml/2006/main">
            <a:srgbClr val="161B22"/>
          </a:solidFill>
          <a:ln xmlns:a="http://schemas.openxmlformats.org/drawingml/2006/main" w="9525">
            <a:solidFill>
              <a:srgbClr val="30363D"/>
            </a:solidFill>
          </a:ln>
        </p:spPr>
      </p:sp>
      <p:sp>
        <p:nvSpPr>
          <p:cNvPr id="16" name="">
            <a:extLst xmlns:a="http://schemas.openxmlformats.org/drawingml/2006/main">
              <a:ext uri="{FF2B5EF4-FFF2-40B4-BE49-F238E27FC236}">
                <a16:creationId xmlns:a16="http://schemas.microsoft.com/office/drawing/2014/main" id="{F1730451-0174-415F-8926-FD9713BF830B}"/>
              </a:ext>
            </a:extLst>
          </p:cNvPr>
          <p:cNvSpPr>
            <a:spLocks xmlns:a="http://schemas.openxmlformats.org/drawingml/2006/main" noGrp="1"/>
          </p:cNvSpPr>
          <p:nvPr/>
        </p:nvSpPr>
        <p:spPr>
          <a:xfrm xmlns:a="http://schemas.openxmlformats.org/drawingml/2006/main">
            <a:off x="838200" y="42862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42"/>
          </a:bodyPr>
          <a:lstStyle xmlns:a="http://schemas.openxmlformats.org/drawingml/2006/main"/>
          <a:p xmlns:a="http://schemas.openxmlformats.org/drawingml/2006/main">
            <a:pPr algn="l">
              <a:defRPr sz="1500" b="1">
                <a:solidFill>
                  <a:srgbClr val="58A6FF"/>
                </a:solidFill>
                <a:latin typeface="DejaVu Sans Mono"/>
                <a:ea typeface="DejaVu Sans Mono"/>
                <a:cs typeface="DejaVu Sans Mono"/>
              </a:defRPr>
            </a:pPr>
            <a:r>
              <a:rPr sz="1500" b="1">
                <a:solidFill>
                  <a:srgbClr val="58A6FF"/>
                </a:solidFill>
                <a:latin typeface="DejaVu Sans Mono"/>
                <a:ea typeface="DejaVu Sans Mono"/>
                <a:cs typeface="DejaVu Sans Mono"/>
              </a:rPr>
              <a:t>src/ and tests/</a:t>
            </a:r>
          </a:p>
        </p:txBody>
      </p:sp>
      <p:sp>
        <p:nvSpPr>
          <p:cNvPr id="17" name="">
            <a:extLst xmlns:a="http://schemas.openxmlformats.org/drawingml/2006/main">
              <a:ext uri="{FF2B5EF4-FFF2-40B4-BE49-F238E27FC236}">
                <a16:creationId xmlns:a16="http://schemas.microsoft.com/office/drawing/2014/main" id="{8C18E096-3778-40E9-8BE0-89F5377B537B}"/>
              </a:ext>
            </a:extLst>
          </p:cNvPr>
          <p:cNvSpPr>
            <a:spLocks xmlns:a="http://schemas.openxmlformats.org/drawingml/2006/main" noGrp="1"/>
          </p:cNvSpPr>
          <p:nvPr/>
        </p:nvSpPr>
        <p:spPr>
          <a:xfrm xmlns:a="http://schemas.openxmlformats.org/drawingml/2006/main">
            <a:off x="2781300" y="4286250"/>
            <a:ext cx="3752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source code and tests</a:t>
            </a:r>
          </a:p>
        </p:txBody>
      </p:sp>
      <p:sp>
        <p:nvSpPr>
          <p:cNvPr id="18" name="">
            <a:extLst xmlns:a="http://schemas.openxmlformats.org/drawingml/2006/main">
              <a:ext uri="{FF2B5EF4-FFF2-40B4-BE49-F238E27FC236}">
                <a16:creationId xmlns:a16="http://schemas.microsoft.com/office/drawing/2014/main" id="{EE3C056C-9DEE-4B92-8166-3C569737AE38}"/>
              </a:ext>
            </a:extLst>
          </p:cNvPr>
          <p:cNvSpPr>
            <a:spLocks xmlns:a="http://schemas.openxmlformats.org/drawingml/2006/main" noGrp="1"/>
          </p:cNvSpPr>
          <p:nvPr/>
        </p:nvSpPr>
        <p:spPr>
          <a:xfrm xmlns:a="http://schemas.openxmlformats.org/drawingml/2006/main">
            <a:off x="7239000" y="1657350"/>
            <a:ext cx="4343400" cy="3143250"/>
          </a:xfrm>
          <a:prstGeom xmlns:a="http://schemas.openxmlformats.org/drawingml/2006/main" prst="roundRect">
            <a:avLst>
              <a:gd name="adj" fmla="val 2424"/>
            </a:avLst>
          </a:prstGeom>
          <a:solidFill xmlns:a="http://schemas.openxmlformats.org/drawingml/2006/main">
            <a:srgbClr val="090C10"/>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AC789D00-80E4-46E7-828A-82F63800F09E}"/>
              </a:ext>
            </a:extLst>
          </p:cNvPr>
          <p:cNvSpPr>
            <a:spLocks xmlns:a="http://schemas.openxmlformats.org/drawingml/2006/main" noGrp="1"/>
          </p:cNvSpPr>
          <p:nvPr/>
        </p:nvSpPr>
        <p:spPr>
          <a:xfrm xmlns:a="http://schemas.openxmlformats.org/drawingml/2006/main">
            <a:off x="7239000" y="1657350"/>
            <a:ext cx="76200" cy="3143250"/>
          </a:xfrm>
          <a:prstGeom xmlns:a="http://schemas.openxmlformats.org/drawingml/2006/main" prst="rect">
            <a:avLst/>
          </a:prstGeom>
          <a:solidFill xmlns:a="http://schemas.openxmlformats.org/drawingml/2006/main">
            <a:srgbClr val="F8514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1257EA8-4A86-4CF7-A44C-0837BB286257}"/>
              </a:ext>
            </a:extLst>
          </p:cNvPr>
          <p:cNvSpPr>
            <a:spLocks xmlns:a="http://schemas.openxmlformats.org/drawingml/2006/main" noGrp="1"/>
          </p:cNvSpPr>
          <p:nvPr/>
        </p:nvSpPr>
        <p:spPr>
          <a:xfrm xmlns:a="http://schemas.openxmlformats.org/drawingml/2006/main">
            <a:off x="7467600" y="1809750"/>
            <a:ext cx="392430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.gitignore</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node_modules/</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.env</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dist/</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*.log</a:t>
            </a:r>
          </a:p>
        </p:txBody>
      </p:sp>
      <p:sp>
        <p:nvSpPr>
          <p:cNvPr id="21" name="">
            <a:extLst xmlns:a="http://schemas.openxmlformats.org/drawingml/2006/main">
              <a:ext uri="{FF2B5EF4-FFF2-40B4-BE49-F238E27FC236}">
                <a16:creationId xmlns:a16="http://schemas.microsoft.com/office/drawing/2014/main" id="{60BB57A8-B2C2-4EB1-8388-CB664178E777}"/>
              </a:ext>
            </a:extLst>
          </p:cNvPr>
          <p:cNvSpPr>
            <a:spLocks xmlns:a="http://schemas.openxmlformats.org/drawingml/2006/main" noGrp="1"/>
          </p:cNvSpPr>
          <p:nvPr/>
        </p:nvSpPr>
        <p:spPr>
          <a:xfrm xmlns:a="http://schemas.openxmlformats.org/drawingml/2006/main">
            <a:off x="7239000" y="5029200"/>
            <a:ext cx="4343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982"/>
          </a:bodyPr>
          <a:lstStyle xmlns:a="http://schemas.openxmlformats.org/drawingml/2006/main"/>
          <a:p xmlns:a="http://schemas.openxmlformats.org/drawingml/2006/main">
            <a:pPr algn="ctr">
              <a:defRPr sz="1425" b="1">
                <a:solidFill>
                  <a:srgbClr val="F85149"/>
                </a:solidFill>
                <a:latin typeface="DejaVu Sans"/>
                <a:ea typeface="DejaVu Sans"/>
                <a:cs typeface="DejaVu Sans"/>
              </a:defRPr>
            </a:pPr>
            <a:r>
              <a:rPr sz="1425" b="1">
                <a:solidFill>
                  <a:srgbClr val="F85149"/>
                </a:solidFill>
                <a:latin typeface="DejaVu Sans"/>
                <a:ea typeface="DejaVu Sans"/>
                <a:cs typeface="DejaVu Sans"/>
              </a:rPr>
              <a:t>Never commit secrets, even to a private repository.</a:t>
            </a:r>
          </a:p>
        </p:txBody>
      </p:sp>
    </p:spTree>
    <p:extLst>
      <p:ext uri="{BB962C8B-B14F-4D97-AF65-F5344CB8AC3E}">
        <p14:creationId xmlns:p14="http://schemas.microsoft.com/office/powerpoint/2010/main" val="2089298115"/>
      </p:ext>
    </p:extLst>
  </p:cSld>
</p:sld>
</file>

<file path=ppt/slides/slide9.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635F85A-C15A-412B-859F-2E12164140EE}"/>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First commit and publication</a:t>
            </a:r>
          </a:p>
        </p:txBody>
      </p:sp>
      <p:sp>
        <p:nvSpPr>
          <p:cNvPr id="2" name="">
            <a:extLst xmlns:a="http://schemas.openxmlformats.org/drawingml/2006/main">
              <a:ext uri="{FF2B5EF4-FFF2-40B4-BE49-F238E27FC236}">
                <a16:creationId xmlns:a16="http://schemas.microsoft.com/office/drawing/2014/main" id="{88C54905-B0B4-4E0A-BE23-4079CF73C64F}"/>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Inspect, stage, commit, then push</a:t>
            </a:r>
          </a:p>
        </p:txBody>
      </p:sp>
      <p:sp>
        <p:nvSpPr>
          <p:cNvPr id="3" name="">
            <a:extLst xmlns:a="http://schemas.openxmlformats.org/drawingml/2006/main">
              <a:ext uri="{FF2B5EF4-FFF2-40B4-BE49-F238E27FC236}">
                <a16:creationId xmlns:a16="http://schemas.microsoft.com/office/drawing/2014/main" id="{E7659D5B-2FA9-45F4-9883-D43A35812D7B}"/>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EA57B7-668A-4833-A70B-89CCA800B964}"/>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09</a:t>
            </a:r>
          </a:p>
        </p:txBody>
      </p:sp>
      <p:sp>
        <p:nvSpPr>
          <p:cNvPr id="5" name="">
            <a:extLst xmlns:a="http://schemas.openxmlformats.org/drawingml/2006/main">
              <a:ext uri="{FF2B5EF4-FFF2-40B4-BE49-F238E27FC236}">
                <a16:creationId xmlns:a16="http://schemas.microsoft.com/office/drawing/2014/main" id="{0814A363-5D57-47DC-BD1B-5743C5CCF693}"/>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7E6E8B1D-3C9E-48E9-8D96-57E5191A3D22}"/>
              </a:ext>
            </a:extLst>
          </p:cNvPr>
          <p:cNvSpPr>
            <a:spLocks xmlns:a="http://schemas.openxmlformats.org/drawingml/2006/main" noGrp="1"/>
          </p:cNvSpPr>
          <p:nvPr/>
        </p:nvSpPr>
        <p:spPr>
          <a:xfrm xmlns:a="http://schemas.openxmlformats.org/drawingml/2006/main">
            <a:off x="609600" y="1600200"/>
            <a:ext cx="7810500" cy="3943350"/>
          </a:xfrm>
          <a:prstGeom xmlns:a="http://schemas.openxmlformats.org/drawingml/2006/main" prst="roundRect">
            <a:avLst>
              <a:gd name="adj" fmla="val 1932"/>
            </a:avLst>
          </a:prstGeom>
          <a:solidFill xmlns:a="http://schemas.openxmlformats.org/drawingml/2006/main">
            <a:srgbClr val="090C10"/>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08DB6963-B7D8-4B59-BE55-CD6C130F9FAC}"/>
              </a:ext>
            </a:extLst>
          </p:cNvPr>
          <p:cNvSpPr>
            <a:spLocks xmlns:a="http://schemas.openxmlformats.org/drawingml/2006/main" noGrp="1"/>
          </p:cNvSpPr>
          <p:nvPr/>
        </p:nvSpPr>
        <p:spPr>
          <a:xfrm xmlns:a="http://schemas.openxmlformats.org/drawingml/2006/main">
            <a:off x="609600" y="1600200"/>
            <a:ext cx="76200" cy="3943350"/>
          </a:xfrm>
          <a:prstGeom xmlns:a="http://schemas.openxmlformats.org/drawingml/2006/main" prst="rect">
            <a:avLst/>
          </a:prstGeom>
          <a:solidFill xmlns:a="http://schemas.openxmlformats.org/drawingml/2006/main">
            <a:srgbClr val="3FB95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805F83-B6AE-403F-8B90-59135118677F}"/>
              </a:ext>
            </a:extLst>
          </p:cNvPr>
          <p:cNvSpPr>
            <a:spLocks xmlns:a="http://schemas.openxmlformats.org/drawingml/2006/main" noGrp="1"/>
          </p:cNvSpPr>
          <p:nvPr/>
        </p:nvSpPr>
        <p:spPr>
          <a:xfrm xmlns:a="http://schemas.openxmlformats.org/drawingml/2006/main">
            <a:off x="838200" y="1752600"/>
            <a:ext cx="7391400" cy="3638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echo "# Student Task Manager" &gt; README.md</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status</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add README.md</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commit -m "docs: add project README"</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remote add origin https://github.com/user/student-task-manager.git</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push -u origin main</a:t>
            </a:r>
          </a:p>
        </p:txBody>
      </p:sp>
      <p:sp>
        <p:nvSpPr>
          <p:cNvPr id="9" name="">
            <a:extLst xmlns:a="http://schemas.openxmlformats.org/drawingml/2006/main">
              <a:ext uri="{FF2B5EF4-FFF2-40B4-BE49-F238E27FC236}">
                <a16:creationId xmlns:a16="http://schemas.microsoft.com/office/drawing/2014/main" id="{616EEDA8-B28F-4BAB-981C-8F68767395EF}"/>
              </a:ext>
            </a:extLst>
          </p:cNvPr>
          <p:cNvSpPr>
            <a:spLocks xmlns:a="http://schemas.openxmlformats.org/drawingml/2006/main" noGrp="1"/>
          </p:cNvSpPr>
          <p:nvPr/>
        </p:nvSpPr>
        <p:spPr>
          <a:xfrm xmlns:a="http://schemas.openxmlformats.org/drawingml/2006/main">
            <a:off x="8724900" y="1600200"/>
            <a:ext cx="2857500" cy="3943350"/>
          </a:xfrm>
          <a:prstGeom xmlns:a="http://schemas.openxmlformats.org/drawingml/2006/main" prst="roundRect">
            <a:avLst>
              <a:gd name="adj" fmla="val 2667"/>
            </a:avLst>
          </a:prstGeom>
          <a:solidFill xmlns:a="http://schemas.openxmlformats.org/drawingml/2006/main">
            <a:srgbClr val="21262D"/>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EEBEE3C7-0102-4550-A8E3-BCEC2A96E1CE}"/>
              </a:ext>
            </a:extLst>
          </p:cNvPr>
          <p:cNvSpPr>
            <a:spLocks xmlns:a="http://schemas.openxmlformats.org/drawingml/2006/main" noGrp="1"/>
          </p:cNvSpPr>
          <p:nvPr/>
        </p:nvSpPr>
        <p:spPr>
          <a:xfrm xmlns:a="http://schemas.openxmlformats.org/drawingml/2006/main">
            <a:off x="8991600" y="1828800"/>
            <a:ext cx="2324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58A6FF"/>
                </a:solidFill>
                <a:latin typeface="DejaVu Sans"/>
                <a:ea typeface="DejaVu Sans"/>
                <a:cs typeface="DejaVu Sans"/>
              </a:defRPr>
            </a:pPr>
            <a:r>
              <a:rPr sz="1800" b="1">
                <a:solidFill>
                  <a:srgbClr val="58A6FF"/>
                </a:solidFill>
                <a:latin typeface="DejaVu Sans"/>
                <a:ea typeface="DejaVu Sans"/>
                <a:cs typeface="DejaVu Sans"/>
              </a:rPr>
              <a:t>Options</a:t>
            </a:r>
          </a:p>
        </p:txBody>
      </p:sp>
      <p:sp>
        <p:nvSpPr>
          <p:cNvPr id="11" name="">
            <a:extLst xmlns:a="http://schemas.openxmlformats.org/drawingml/2006/main">
              <a:ext uri="{FF2B5EF4-FFF2-40B4-BE49-F238E27FC236}">
                <a16:creationId xmlns:a16="http://schemas.microsoft.com/office/drawing/2014/main" id="{B201D4D3-B891-4ED2-9E29-6E9E7AF13770}"/>
              </a:ext>
            </a:extLst>
          </p:cNvPr>
          <p:cNvSpPr>
            <a:spLocks xmlns:a="http://schemas.openxmlformats.org/drawingml/2006/main" noGrp="1"/>
          </p:cNvSpPr>
          <p:nvPr/>
        </p:nvSpPr>
        <p:spPr>
          <a:xfrm xmlns:a="http://schemas.openxmlformats.org/drawingml/2006/main">
            <a:off x="8991600" y="2362200"/>
            <a:ext cx="23241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-m</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commit message text</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-u / --set-upstream</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link the local branch to origin/main</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Afterward, this is enough:</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git push</a:t>
            </a:r>
          </a:p>
        </p:txBody>
      </p:sp>
    </p:spTree>
    <p:extLst>
      <p:ext uri="{BB962C8B-B14F-4D97-AF65-F5344CB8AC3E}">
        <p14:creationId xmlns:p14="http://schemas.microsoft.com/office/powerpoint/2010/main" val="333019722"/>
      </p:ext>
    </p:extLst>
  </p:cSld>
</p:sld>
</file>

<file path=ppt/slides/slide10.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4DB468C-328A-4427-9F1E-CD9150492A1D}"/>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A branch isolates a task</a:t>
            </a:r>
          </a:p>
        </p:txBody>
      </p:sp>
      <p:sp>
        <p:nvSpPr>
          <p:cNvPr id="2" name="">
            <a:extLst xmlns:a="http://schemas.openxmlformats.org/drawingml/2006/main">
              <a:ext uri="{FF2B5EF4-FFF2-40B4-BE49-F238E27FC236}">
                <a16:creationId xmlns:a16="http://schemas.microsoft.com/office/drawing/2014/main" id="{910CC9E7-DA10-44E2-AA97-1246F6B71EA2}"/>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Each feature or fix gets a separate line of work</a:t>
            </a:r>
          </a:p>
        </p:txBody>
      </p:sp>
      <p:sp>
        <p:nvSpPr>
          <p:cNvPr id="3" name="">
            <a:extLst xmlns:a="http://schemas.openxmlformats.org/drawingml/2006/main">
              <a:ext uri="{FF2B5EF4-FFF2-40B4-BE49-F238E27FC236}">
                <a16:creationId xmlns:a16="http://schemas.microsoft.com/office/drawing/2014/main" id="{ED5386BD-A0D0-4645-9BAD-DCB050C705AF}"/>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BF97DE-14D3-4168-BA62-1254395A64F9}"/>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10</a:t>
            </a:r>
          </a:p>
        </p:txBody>
      </p:sp>
      <p:sp>
        <p:nvSpPr>
          <p:cNvPr id="5" name="">
            <a:extLst xmlns:a="http://schemas.openxmlformats.org/drawingml/2006/main">
              <a:ext uri="{FF2B5EF4-FFF2-40B4-BE49-F238E27FC236}">
                <a16:creationId xmlns:a16="http://schemas.microsoft.com/office/drawing/2014/main" id="{1C086107-6DDE-4B2B-A5C2-FFD21C74C8EC}"/>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FEDAC59F-695B-422C-A560-99D5A6D35DCD}"/>
              </a:ext>
            </a:extLst>
          </p:cNvPr>
          <p:cNvSpPr>
            <a:spLocks xmlns:a="http://schemas.openxmlformats.org/drawingml/2006/main" noGrp="1"/>
          </p:cNvSpPr>
          <p:nvPr/>
        </p:nvSpPr>
        <p:spPr>
          <a:xfrm xmlns:a="http://schemas.openxmlformats.org/drawingml/2006/main">
            <a:off x="1143000" y="2647950"/>
            <a:ext cx="533400" cy="533400"/>
          </a:xfrm>
          <a:prstGeom xmlns:a="http://schemas.openxmlformats.org/drawingml/2006/main" prst="ellipse">
            <a:avLst/>
          </a:prstGeom>
          <a:solidFill xmlns:a="http://schemas.openxmlformats.org/drawingml/2006/main">
            <a:srgbClr val="58A6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F1D54B-D82C-47D4-869C-673A32B62B43}"/>
              </a:ext>
            </a:extLst>
          </p:cNvPr>
          <p:cNvSpPr>
            <a:spLocks xmlns:a="http://schemas.openxmlformats.org/drawingml/2006/main" noGrp="1"/>
          </p:cNvSpPr>
          <p:nvPr/>
        </p:nvSpPr>
        <p:spPr>
          <a:xfrm xmlns:a="http://schemas.openxmlformats.org/drawingml/2006/main">
            <a:off x="1143000" y="2647950"/>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D1117"/>
                </a:solidFill>
                <a:latin typeface="DejaVu Sans"/>
                <a:ea typeface="DejaVu Sans"/>
                <a:cs typeface="DejaVu Sans"/>
              </a:defRPr>
            </a:pPr>
            <a:r>
              <a:rPr sz="1500" b="1">
                <a:solidFill>
                  <a:srgbClr val="0D1117"/>
                </a:solidFill>
                <a:latin typeface="DejaVu Sans"/>
                <a:ea typeface="DejaVu Sans"/>
                <a:cs typeface="DejaVu Sans"/>
              </a:rPr>
              <a:t>A</a:t>
            </a:r>
          </a:p>
        </p:txBody>
      </p:sp>
      <p:sp>
        <p:nvSpPr>
          <p:cNvPr id="8" name="">
            <a:extLst xmlns:a="http://schemas.openxmlformats.org/drawingml/2006/main">
              <a:ext uri="{FF2B5EF4-FFF2-40B4-BE49-F238E27FC236}">
                <a16:creationId xmlns:a16="http://schemas.microsoft.com/office/drawing/2014/main" id="{E1CA18AF-AEBF-4847-ADF7-D7A1A7ADFCA1}"/>
              </a:ext>
            </a:extLst>
          </p:cNvPr>
          <p:cNvSpPr>
            <a:spLocks xmlns:a="http://schemas.openxmlformats.org/drawingml/2006/main" noGrp="1"/>
          </p:cNvSpPr>
          <p:nvPr/>
        </p:nvSpPr>
        <p:spPr>
          <a:xfrm xmlns:a="http://schemas.openxmlformats.org/drawingml/2006/main">
            <a:off x="1676400" y="2886075"/>
            <a:ext cx="1276350" cy="57150"/>
          </a:xfrm>
          <a:prstGeom xmlns:a="http://schemas.openxmlformats.org/drawingml/2006/main" prst="rect">
            <a:avLst/>
          </a:prstGeom>
          <a:solidFill xmlns:a="http://schemas.openxmlformats.org/drawingml/2006/main">
            <a:srgbClr val="30363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AEC2E29-C7E6-4676-B9A0-6951DEE0DE7D}"/>
              </a:ext>
            </a:extLst>
          </p:cNvPr>
          <p:cNvSpPr>
            <a:spLocks xmlns:a="http://schemas.openxmlformats.org/drawingml/2006/main" noGrp="1"/>
          </p:cNvSpPr>
          <p:nvPr/>
        </p:nvSpPr>
        <p:spPr>
          <a:xfrm xmlns:a="http://schemas.openxmlformats.org/drawingml/2006/main">
            <a:off x="2952750" y="2647950"/>
            <a:ext cx="533400" cy="533400"/>
          </a:xfrm>
          <a:prstGeom xmlns:a="http://schemas.openxmlformats.org/drawingml/2006/main" prst="ellipse">
            <a:avLst/>
          </a:prstGeom>
          <a:solidFill xmlns:a="http://schemas.openxmlformats.org/drawingml/2006/main">
            <a:srgbClr val="58A6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C465BFD-AA3B-43E7-8AF2-DF7E44167765}"/>
              </a:ext>
            </a:extLst>
          </p:cNvPr>
          <p:cNvSpPr>
            <a:spLocks xmlns:a="http://schemas.openxmlformats.org/drawingml/2006/main" noGrp="1"/>
          </p:cNvSpPr>
          <p:nvPr/>
        </p:nvSpPr>
        <p:spPr>
          <a:xfrm xmlns:a="http://schemas.openxmlformats.org/drawingml/2006/main">
            <a:off x="2952750" y="2647950"/>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D1117"/>
                </a:solidFill>
                <a:latin typeface="DejaVu Sans"/>
                <a:ea typeface="DejaVu Sans"/>
                <a:cs typeface="DejaVu Sans"/>
              </a:defRPr>
            </a:pPr>
            <a:r>
              <a:rPr sz="1500" b="1">
                <a:solidFill>
                  <a:srgbClr val="0D1117"/>
                </a:solidFill>
                <a:latin typeface="DejaVu Sans"/>
                <a:ea typeface="DejaVu Sans"/>
                <a:cs typeface="DejaVu Sans"/>
              </a:rPr>
              <a:t>B</a:t>
            </a:r>
          </a:p>
        </p:txBody>
      </p:sp>
      <p:sp>
        <p:nvSpPr>
          <p:cNvPr id="11" name="">
            <a:extLst xmlns:a="http://schemas.openxmlformats.org/drawingml/2006/main">
              <a:ext uri="{FF2B5EF4-FFF2-40B4-BE49-F238E27FC236}">
                <a16:creationId xmlns:a16="http://schemas.microsoft.com/office/drawing/2014/main" id="{A702E693-20F1-4FF0-8E95-127AABB9B02D}"/>
              </a:ext>
            </a:extLst>
          </p:cNvPr>
          <p:cNvSpPr>
            <a:spLocks xmlns:a="http://schemas.openxmlformats.org/drawingml/2006/main" noGrp="1"/>
          </p:cNvSpPr>
          <p:nvPr/>
        </p:nvSpPr>
        <p:spPr>
          <a:xfrm xmlns:a="http://schemas.openxmlformats.org/drawingml/2006/main">
            <a:off x="3486150" y="2886075"/>
            <a:ext cx="1276350" cy="57150"/>
          </a:xfrm>
          <a:prstGeom xmlns:a="http://schemas.openxmlformats.org/drawingml/2006/main" prst="rect">
            <a:avLst/>
          </a:prstGeom>
          <a:solidFill xmlns:a="http://schemas.openxmlformats.org/drawingml/2006/main">
            <a:srgbClr val="30363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E4CDCF-C512-49F5-B299-48748511FCBE}"/>
              </a:ext>
            </a:extLst>
          </p:cNvPr>
          <p:cNvSpPr>
            <a:spLocks xmlns:a="http://schemas.openxmlformats.org/drawingml/2006/main" noGrp="1"/>
          </p:cNvSpPr>
          <p:nvPr/>
        </p:nvSpPr>
        <p:spPr>
          <a:xfrm xmlns:a="http://schemas.openxmlformats.org/drawingml/2006/main">
            <a:off x="4762500" y="2647950"/>
            <a:ext cx="533400" cy="533400"/>
          </a:xfrm>
          <a:prstGeom xmlns:a="http://schemas.openxmlformats.org/drawingml/2006/main" prst="ellipse">
            <a:avLst/>
          </a:prstGeom>
          <a:solidFill xmlns:a="http://schemas.openxmlformats.org/drawingml/2006/main">
            <a:srgbClr val="58A6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E370A5-6A25-4020-9680-D9D2E2A133BE}"/>
              </a:ext>
            </a:extLst>
          </p:cNvPr>
          <p:cNvSpPr>
            <a:spLocks xmlns:a="http://schemas.openxmlformats.org/drawingml/2006/main" noGrp="1"/>
          </p:cNvSpPr>
          <p:nvPr/>
        </p:nvSpPr>
        <p:spPr>
          <a:xfrm xmlns:a="http://schemas.openxmlformats.org/drawingml/2006/main">
            <a:off x="4762500" y="2647950"/>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D1117"/>
                </a:solidFill>
                <a:latin typeface="DejaVu Sans"/>
                <a:ea typeface="DejaVu Sans"/>
                <a:cs typeface="DejaVu Sans"/>
              </a:defRPr>
            </a:pPr>
            <a:r>
              <a:rPr sz="1500" b="1">
                <a:solidFill>
                  <a:srgbClr val="0D1117"/>
                </a:solidFill>
                <a:latin typeface="DejaVu Sans"/>
                <a:ea typeface="DejaVu Sans"/>
                <a:cs typeface="DejaVu Sans"/>
              </a:rPr>
              <a:t>C</a:t>
            </a:r>
          </a:p>
        </p:txBody>
      </p:sp>
      <p:sp>
        <p:nvSpPr>
          <p:cNvPr id="14" name="">
            <a:extLst xmlns:a="http://schemas.openxmlformats.org/drawingml/2006/main">
              <a:ext uri="{FF2B5EF4-FFF2-40B4-BE49-F238E27FC236}">
                <a16:creationId xmlns:a16="http://schemas.microsoft.com/office/drawing/2014/main" id="{CB4FD29D-DC3A-4C9B-B1C3-4AED83DFA1B9}"/>
              </a:ext>
            </a:extLst>
          </p:cNvPr>
          <p:cNvSpPr>
            <a:spLocks xmlns:a="http://schemas.openxmlformats.org/drawingml/2006/main" noGrp="1"/>
          </p:cNvSpPr>
          <p:nvPr/>
        </p:nvSpPr>
        <p:spPr>
          <a:xfrm xmlns:a="http://schemas.openxmlformats.org/drawingml/2006/main">
            <a:off x="5295900" y="2886075"/>
            <a:ext cx="1276350" cy="57150"/>
          </a:xfrm>
          <a:prstGeom xmlns:a="http://schemas.openxmlformats.org/drawingml/2006/main" prst="rect">
            <a:avLst/>
          </a:prstGeom>
          <a:solidFill xmlns:a="http://schemas.openxmlformats.org/drawingml/2006/main">
            <a:srgbClr val="30363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1C31BC0-C388-490A-9B55-393C1FAA0D99}"/>
              </a:ext>
            </a:extLst>
          </p:cNvPr>
          <p:cNvSpPr>
            <a:spLocks xmlns:a="http://schemas.openxmlformats.org/drawingml/2006/main" noGrp="1"/>
          </p:cNvSpPr>
          <p:nvPr/>
        </p:nvSpPr>
        <p:spPr>
          <a:xfrm xmlns:a="http://schemas.openxmlformats.org/drawingml/2006/main">
            <a:off x="6572250" y="2647950"/>
            <a:ext cx="533400" cy="533400"/>
          </a:xfrm>
          <a:prstGeom xmlns:a="http://schemas.openxmlformats.org/drawingml/2006/main" prst="ellipse">
            <a:avLst/>
          </a:prstGeom>
          <a:solidFill xmlns:a="http://schemas.openxmlformats.org/drawingml/2006/main">
            <a:srgbClr val="3FB95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C4EBC49-1AB3-4216-9AB2-B78F12A3C3DA}"/>
              </a:ext>
            </a:extLst>
          </p:cNvPr>
          <p:cNvSpPr>
            <a:spLocks xmlns:a="http://schemas.openxmlformats.org/drawingml/2006/main" noGrp="1"/>
          </p:cNvSpPr>
          <p:nvPr/>
        </p:nvSpPr>
        <p:spPr>
          <a:xfrm xmlns:a="http://schemas.openxmlformats.org/drawingml/2006/main">
            <a:off x="6572250" y="2647950"/>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D1117"/>
                </a:solidFill>
                <a:latin typeface="DejaVu Sans"/>
                <a:ea typeface="DejaVu Sans"/>
                <a:cs typeface="DejaVu Sans"/>
              </a:defRPr>
            </a:pPr>
            <a:r>
              <a:rPr sz="1500" b="1">
                <a:solidFill>
                  <a:srgbClr val="0D1117"/>
                </a:solidFill>
                <a:latin typeface="DejaVu Sans"/>
                <a:ea typeface="DejaVu Sans"/>
                <a:cs typeface="DejaVu Sans"/>
              </a:rPr>
              <a:t>D</a:t>
            </a:r>
          </a:p>
        </p:txBody>
      </p:sp>
      <p:sp>
        <p:nvSpPr>
          <p:cNvPr id="17" name="">
            <a:extLst xmlns:a="http://schemas.openxmlformats.org/drawingml/2006/main">
              <a:ext uri="{FF2B5EF4-FFF2-40B4-BE49-F238E27FC236}">
                <a16:creationId xmlns:a16="http://schemas.microsoft.com/office/drawing/2014/main" id="{F9BED5AB-B5B7-4738-95BB-8DCD46CA4D56}"/>
              </a:ext>
            </a:extLst>
          </p:cNvPr>
          <p:cNvSpPr>
            <a:spLocks xmlns:a="http://schemas.openxmlformats.org/drawingml/2006/main" noGrp="1"/>
          </p:cNvSpPr>
          <p:nvPr/>
        </p:nvSpPr>
        <p:spPr>
          <a:xfrm xmlns:a="http://schemas.openxmlformats.org/drawingml/2006/main">
            <a:off x="5295900" y="3714750"/>
            <a:ext cx="1047750" cy="57150"/>
          </a:xfrm>
          <a:prstGeom xmlns:a="http://schemas.openxmlformats.org/drawingml/2006/main" prst="rect">
            <a:avLst/>
          </a:prstGeom>
          <a:solidFill xmlns:a="http://schemas.openxmlformats.org/drawingml/2006/main">
            <a:srgbClr val="A371F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A0CBEB6-AB52-4994-9A18-97AB71F93607}"/>
              </a:ext>
            </a:extLst>
          </p:cNvPr>
          <p:cNvSpPr>
            <a:spLocks xmlns:a="http://schemas.openxmlformats.org/drawingml/2006/main" noGrp="1"/>
          </p:cNvSpPr>
          <p:nvPr/>
        </p:nvSpPr>
        <p:spPr>
          <a:xfrm xmlns:a="http://schemas.openxmlformats.org/drawingml/2006/main">
            <a:off x="5810250" y="3181350"/>
            <a:ext cx="57150" cy="590550"/>
          </a:xfrm>
          <a:prstGeom xmlns:a="http://schemas.openxmlformats.org/drawingml/2006/main" prst="rect">
            <a:avLst/>
          </a:prstGeom>
          <a:solidFill xmlns:a="http://schemas.openxmlformats.org/drawingml/2006/main">
            <a:srgbClr val="A371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F5F5B5-8070-45B8-8E5F-3B3128346874}"/>
              </a:ext>
            </a:extLst>
          </p:cNvPr>
          <p:cNvSpPr>
            <a:spLocks xmlns:a="http://schemas.openxmlformats.org/drawingml/2006/main" noGrp="1"/>
          </p:cNvSpPr>
          <p:nvPr/>
        </p:nvSpPr>
        <p:spPr>
          <a:xfrm xmlns:a="http://schemas.openxmlformats.org/drawingml/2006/main">
            <a:off x="6343650" y="3476625"/>
            <a:ext cx="533400" cy="533400"/>
          </a:xfrm>
          <a:prstGeom xmlns:a="http://schemas.openxmlformats.org/drawingml/2006/main" prst="ellipse">
            <a:avLst/>
          </a:prstGeom>
          <a:solidFill xmlns:a="http://schemas.openxmlformats.org/drawingml/2006/main">
            <a:srgbClr val="A371F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FE44066-2512-4872-9530-C6B6F491C304}"/>
              </a:ext>
            </a:extLst>
          </p:cNvPr>
          <p:cNvSpPr>
            <a:spLocks xmlns:a="http://schemas.openxmlformats.org/drawingml/2006/main" noGrp="1"/>
          </p:cNvSpPr>
          <p:nvPr/>
        </p:nvSpPr>
        <p:spPr>
          <a:xfrm xmlns:a="http://schemas.openxmlformats.org/drawingml/2006/main">
            <a:off x="6343650" y="3476625"/>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D1117"/>
                </a:solidFill>
                <a:latin typeface="DejaVu Sans"/>
                <a:ea typeface="DejaVu Sans"/>
                <a:cs typeface="DejaVu Sans"/>
              </a:defRPr>
            </a:pPr>
            <a:r>
              <a:rPr sz="1500" b="1">
                <a:solidFill>
                  <a:srgbClr val="0D1117"/>
                </a:solidFill>
                <a:latin typeface="DejaVu Sans"/>
                <a:ea typeface="DejaVu Sans"/>
                <a:cs typeface="DejaVu Sans"/>
              </a:rPr>
              <a:t>E</a:t>
            </a:r>
          </a:p>
        </p:txBody>
      </p:sp>
      <p:sp>
        <p:nvSpPr>
          <p:cNvPr id="21" name="">
            <a:extLst xmlns:a="http://schemas.openxmlformats.org/drawingml/2006/main">
              <a:ext uri="{FF2B5EF4-FFF2-40B4-BE49-F238E27FC236}">
                <a16:creationId xmlns:a16="http://schemas.microsoft.com/office/drawing/2014/main" id="{A02D86ED-4403-4264-AE21-5058060AB22B}"/>
              </a:ext>
            </a:extLst>
          </p:cNvPr>
          <p:cNvSpPr>
            <a:spLocks xmlns:a="http://schemas.openxmlformats.org/drawingml/2006/main" noGrp="1"/>
          </p:cNvSpPr>
          <p:nvPr/>
        </p:nvSpPr>
        <p:spPr>
          <a:xfrm xmlns:a="http://schemas.openxmlformats.org/drawingml/2006/main">
            <a:off x="6629400" y="2266950"/>
            <a:ext cx="104775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3FB950"/>
            </a:solidFill>
          </a:ln>
        </p:spPr>
      </p:sp>
      <p:sp>
        <p:nvSpPr>
          <p:cNvPr id="22" name="">
            <a:extLst xmlns:a="http://schemas.openxmlformats.org/drawingml/2006/main">
              <a:ext uri="{FF2B5EF4-FFF2-40B4-BE49-F238E27FC236}">
                <a16:creationId xmlns:a16="http://schemas.microsoft.com/office/drawing/2014/main" id="{3CCBC7F0-1203-4AA8-B6D8-098E50A09C06}"/>
              </a:ext>
            </a:extLst>
          </p:cNvPr>
          <p:cNvSpPr>
            <a:spLocks xmlns:a="http://schemas.openxmlformats.org/drawingml/2006/main" noGrp="1"/>
          </p:cNvSpPr>
          <p:nvPr/>
        </p:nvSpPr>
        <p:spPr>
          <a:xfrm xmlns:a="http://schemas.openxmlformats.org/drawingml/2006/main">
            <a:off x="6629400" y="226695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3FB950"/>
                </a:solidFill>
                <a:latin typeface="DejaVu Sans"/>
                <a:ea typeface="DejaVu Sans"/>
                <a:cs typeface="DejaVu Sans"/>
              </a:defRPr>
            </a:pPr>
            <a:r>
              <a:rPr sz="1050" b="1">
                <a:solidFill>
                  <a:srgbClr val="3FB950"/>
                </a:solidFill>
                <a:latin typeface="DejaVu Sans"/>
                <a:ea typeface="DejaVu Sans"/>
                <a:cs typeface="DejaVu Sans"/>
              </a:rPr>
              <a:t>main</a:t>
            </a:r>
          </a:p>
        </p:txBody>
      </p:sp>
      <p:sp>
        <p:nvSpPr>
          <p:cNvPr id="23" name="">
            <a:extLst xmlns:a="http://schemas.openxmlformats.org/drawingml/2006/main">
              <a:ext uri="{FF2B5EF4-FFF2-40B4-BE49-F238E27FC236}">
                <a16:creationId xmlns:a16="http://schemas.microsoft.com/office/drawing/2014/main" id="{DCDD9070-1A4C-46FF-B5AA-C82F214C9249}"/>
              </a:ext>
            </a:extLst>
          </p:cNvPr>
          <p:cNvSpPr>
            <a:spLocks xmlns:a="http://schemas.openxmlformats.org/drawingml/2006/main" noGrp="1"/>
          </p:cNvSpPr>
          <p:nvPr/>
        </p:nvSpPr>
        <p:spPr>
          <a:xfrm xmlns:a="http://schemas.openxmlformats.org/drawingml/2006/main">
            <a:off x="7029450" y="3581400"/>
            <a:ext cx="171450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A371F7"/>
            </a:solidFill>
          </a:ln>
        </p:spPr>
      </p:sp>
      <p:sp>
        <p:nvSpPr>
          <p:cNvPr id="24" name="">
            <a:extLst xmlns:a="http://schemas.openxmlformats.org/drawingml/2006/main">
              <a:ext uri="{FF2B5EF4-FFF2-40B4-BE49-F238E27FC236}">
                <a16:creationId xmlns:a16="http://schemas.microsoft.com/office/drawing/2014/main" id="{BE9C899C-1465-4248-9B74-01839CF8CB83}"/>
              </a:ext>
            </a:extLst>
          </p:cNvPr>
          <p:cNvSpPr>
            <a:spLocks xmlns:a="http://schemas.openxmlformats.org/drawingml/2006/main" noGrp="1"/>
          </p:cNvSpPr>
          <p:nvPr/>
        </p:nvSpPr>
        <p:spPr>
          <a:xfrm xmlns:a="http://schemas.openxmlformats.org/drawingml/2006/main">
            <a:off x="7029450" y="35814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A371F7"/>
                </a:solidFill>
                <a:latin typeface="DejaVu Sans"/>
                <a:ea typeface="DejaVu Sans"/>
                <a:cs typeface="DejaVu Sans"/>
              </a:defRPr>
            </a:pPr>
            <a:r>
              <a:rPr sz="1050" b="1">
                <a:solidFill>
                  <a:srgbClr val="A371F7"/>
                </a:solidFill>
                <a:latin typeface="DejaVu Sans"/>
                <a:ea typeface="DejaVu Sans"/>
                <a:cs typeface="DejaVu Sans"/>
              </a:rPr>
              <a:t>feature/login</a:t>
            </a:r>
          </a:p>
        </p:txBody>
      </p:sp>
      <p:sp>
        <p:nvSpPr>
          <p:cNvPr id="25" name="">
            <a:extLst xmlns:a="http://schemas.openxmlformats.org/drawingml/2006/main">
              <a:ext uri="{FF2B5EF4-FFF2-40B4-BE49-F238E27FC236}">
                <a16:creationId xmlns:a16="http://schemas.microsoft.com/office/drawing/2014/main" id="{93DA8033-B7E7-4D01-8717-C97DC7697D29}"/>
              </a:ext>
            </a:extLst>
          </p:cNvPr>
          <p:cNvSpPr>
            <a:spLocks xmlns:a="http://schemas.openxmlformats.org/drawingml/2006/main" noGrp="1"/>
          </p:cNvSpPr>
          <p:nvPr/>
        </p:nvSpPr>
        <p:spPr>
          <a:xfrm xmlns:a="http://schemas.openxmlformats.org/drawingml/2006/main">
            <a:off x="609600" y="4572000"/>
            <a:ext cx="10972800" cy="1238250"/>
          </a:xfrm>
          <a:prstGeom xmlns:a="http://schemas.openxmlformats.org/drawingml/2006/main" prst="roundRect">
            <a:avLst>
              <a:gd name="adj" fmla="val 6154"/>
            </a:avLst>
          </a:prstGeom>
          <a:solidFill xmlns:a="http://schemas.openxmlformats.org/drawingml/2006/main">
            <a:srgbClr val="090C10"/>
          </a:solidFill>
          <a:ln xmlns:a="http://schemas.openxmlformats.org/drawingml/2006/main" w="9525">
            <a:solidFill>
              <a:srgbClr val="30363D"/>
            </a:solidFill>
          </a:ln>
        </p:spPr>
      </p:sp>
      <p:sp>
        <p:nvSpPr>
          <p:cNvPr id="26" name="">
            <a:extLst xmlns:a="http://schemas.openxmlformats.org/drawingml/2006/main">
              <a:ext uri="{FF2B5EF4-FFF2-40B4-BE49-F238E27FC236}">
                <a16:creationId xmlns:a16="http://schemas.microsoft.com/office/drawing/2014/main" id="{11F1F6A4-D97E-47F2-9500-0BABABF59DE8}"/>
              </a:ext>
            </a:extLst>
          </p:cNvPr>
          <p:cNvSpPr>
            <a:spLocks xmlns:a="http://schemas.openxmlformats.org/drawingml/2006/main" noGrp="1"/>
          </p:cNvSpPr>
          <p:nvPr/>
        </p:nvSpPr>
        <p:spPr>
          <a:xfrm xmlns:a="http://schemas.openxmlformats.org/drawingml/2006/main">
            <a:off x="609600" y="4572000"/>
            <a:ext cx="76200" cy="1238250"/>
          </a:xfrm>
          <a:prstGeom xmlns:a="http://schemas.openxmlformats.org/drawingml/2006/main" prst="rect">
            <a:avLst/>
          </a:prstGeom>
          <a:solidFill xmlns:a="http://schemas.openxmlformats.org/drawingml/2006/main">
            <a:srgbClr val="A371F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7E414AA-11EB-45F0-9E70-08C2966E3FE2}"/>
              </a:ext>
            </a:extLst>
          </p:cNvPr>
          <p:cNvSpPr>
            <a:spLocks xmlns:a="http://schemas.openxmlformats.org/drawingml/2006/main" noGrp="1"/>
          </p:cNvSpPr>
          <p:nvPr/>
        </p:nvSpPr>
        <p:spPr>
          <a:xfrm xmlns:a="http://schemas.openxmlformats.org/drawingml/2006/main">
            <a:off x="838200" y="4724400"/>
            <a:ext cx="10553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switch -c feature/login</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-c = create: create and switch immediately</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branch</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status</a:t>
            </a:r>
          </a:p>
        </p:txBody>
      </p:sp>
    </p:spTree>
    <p:extLst>
      <p:ext uri="{BB962C8B-B14F-4D97-AF65-F5344CB8AC3E}">
        <p14:creationId xmlns:p14="http://schemas.microsoft.com/office/powerpoint/2010/main" val="1094762331"/>
      </p:ext>
    </p:extLst>
  </p:cSld>
</p:sld>
</file>

<file path=ppt/slides/slide11.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1B687F7-58EF-482F-AA8E-8F2D0A8AB382}"/>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Feature-branch work cycle</a:t>
            </a:r>
          </a:p>
        </p:txBody>
      </p:sp>
      <p:sp>
        <p:nvSpPr>
          <p:cNvPr id="2" name="">
            <a:extLst xmlns:a="http://schemas.openxmlformats.org/drawingml/2006/main">
              <a:ext uri="{FF2B5EF4-FFF2-40B4-BE49-F238E27FC236}">
                <a16:creationId xmlns:a16="http://schemas.microsoft.com/office/drawing/2014/main" id="{148B9387-9907-4C98-BA82-2DC2C7E9D60E}"/>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Small commits are easier to review, explain, and undo</a:t>
            </a:r>
          </a:p>
        </p:txBody>
      </p:sp>
      <p:sp>
        <p:nvSpPr>
          <p:cNvPr id="3" name="">
            <a:extLst xmlns:a="http://schemas.openxmlformats.org/drawingml/2006/main">
              <a:ext uri="{FF2B5EF4-FFF2-40B4-BE49-F238E27FC236}">
                <a16:creationId xmlns:a16="http://schemas.microsoft.com/office/drawing/2014/main" id="{631F3B4A-5D0C-417C-B43C-266CA2CEC5C9}"/>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333352-19F5-4930-983B-8E18F0811287}"/>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11</a:t>
            </a:r>
          </a:p>
        </p:txBody>
      </p:sp>
      <p:sp>
        <p:nvSpPr>
          <p:cNvPr id="5" name="">
            <a:extLst xmlns:a="http://schemas.openxmlformats.org/drawingml/2006/main">
              <a:ext uri="{FF2B5EF4-FFF2-40B4-BE49-F238E27FC236}">
                <a16:creationId xmlns:a16="http://schemas.microsoft.com/office/drawing/2014/main" id="{8440B57A-01C5-44B6-94CD-B4D2099B1A2E}"/>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839025B4-CD54-4C75-A195-7DDA6ADB04F0}"/>
              </a:ext>
            </a:extLst>
          </p:cNvPr>
          <p:cNvSpPr>
            <a:spLocks xmlns:a="http://schemas.openxmlformats.org/drawingml/2006/main" noGrp="1"/>
          </p:cNvSpPr>
          <p:nvPr/>
        </p:nvSpPr>
        <p:spPr>
          <a:xfrm xmlns:a="http://schemas.openxmlformats.org/drawingml/2006/main">
            <a:off x="609600" y="1600200"/>
            <a:ext cx="7505700" cy="4076700"/>
          </a:xfrm>
          <a:prstGeom xmlns:a="http://schemas.openxmlformats.org/drawingml/2006/main" prst="roundRect">
            <a:avLst>
              <a:gd name="adj" fmla="val 1869"/>
            </a:avLst>
          </a:prstGeom>
          <a:solidFill xmlns:a="http://schemas.openxmlformats.org/drawingml/2006/main">
            <a:srgbClr val="090C10"/>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72004897-8AC8-4CD1-BE20-3872049E9BE1}"/>
              </a:ext>
            </a:extLst>
          </p:cNvPr>
          <p:cNvSpPr>
            <a:spLocks xmlns:a="http://schemas.openxmlformats.org/drawingml/2006/main" noGrp="1"/>
          </p:cNvSpPr>
          <p:nvPr/>
        </p:nvSpPr>
        <p:spPr>
          <a:xfrm xmlns:a="http://schemas.openxmlformats.org/drawingml/2006/main">
            <a:off x="609600" y="1600200"/>
            <a:ext cx="76200" cy="4076700"/>
          </a:xfrm>
          <a:prstGeom xmlns:a="http://schemas.openxmlformats.org/drawingml/2006/main" prst="rect">
            <a:avLst/>
          </a:prstGeom>
          <a:solidFill xmlns:a="http://schemas.openxmlformats.org/drawingml/2006/main">
            <a:srgbClr val="A371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E2E2B2-EA34-4FAE-A0BD-B5B5D7339672}"/>
              </a:ext>
            </a:extLst>
          </p:cNvPr>
          <p:cNvSpPr>
            <a:spLocks xmlns:a="http://schemas.openxmlformats.org/drawingml/2006/main" noGrp="1"/>
          </p:cNvSpPr>
          <p:nvPr/>
        </p:nvSpPr>
        <p:spPr>
          <a:xfrm xmlns:a="http://schemas.openxmlformats.org/drawingml/2006/main">
            <a:off x="838200" y="1752600"/>
            <a:ext cx="70866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switch -c feature/login</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edit src/auth.js and tests/auth.test.js</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diff</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status</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add src/auth.js tests/auth.test.js</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diff --staged</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commit -m "feat: add login validation"</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push -u origin feature/login</a:t>
            </a:r>
          </a:p>
        </p:txBody>
      </p:sp>
      <p:sp>
        <p:nvSpPr>
          <p:cNvPr id="9" name="">
            <a:extLst xmlns:a="http://schemas.openxmlformats.org/drawingml/2006/main">
              <a:ext uri="{FF2B5EF4-FFF2-40B4-BE49-F238E27FC236}">
                <a16:creationId xmlns:a16="http://schemas.microsoft.com/office/drawing/2014/main" id="{D29EB756-49EF-4095-AE92-D92964BF47EA}"/>
              </a:ext>
            </a:extLst>
          </p:cNvPr>
          <p:cNvSpPr>
            <a:spLocks xmlns:a="http://schemas.openxmlformats.org/drawingml/2006/main" noGrp="1"/>
          </p:cNvSpPr>
          <p:nvPr/>
        </p:nvSpPr>
        <p:spPr>
          <a:xfrm xmlns:a="http://schemas.openxmlformats.org/drawingml/2006/main">
            <a:off x="8420100" y="1600200"/>
            <a:ext cx="3162300" cy="4076700"/>
          </a:xfrm>
          <a:prstGeom xmlns:a="http://schemas.openxmlformats.org/drawingml/2006/main" prst="roundRect">
            <a:avLst>
              <a:gd name="adj" fmla="val 2410"/>
            </a:avLst>
          </a:prstGeom>
          <a:solidFill xmlns:a="http://schemas.openxmlformats.org/drawingml/2006/main">
            <a:srgbClr val="21262D"/>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4CA74F00-CE7A-4108-A1C6-F31E45130FC8}"/>
              </a:ext>
            </a:extLst>
          </p:cNvPr>
          <p:cNvSpPr>
            <a:spLocks xmlns:a="http://schemas.openxmlformats.org/drawingml/2006/main" noGrp="1"/>
          </p:cNvSpPr>
          <p:nvPr/>
        </p:nvSpPr>
        <p:spPr>
          <a:xfrm xmlns:a="http://schemas.openxmlformats.org/drawingml/2006/main">
            <a:off x="8686800" y="1828800"/>
            <a:ext cx="2628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52"/>
          </a:bodyPr>
          <a:lstStyle xmlns:a="http://schemas.openxmlformats.org/drawingml/2006/main"/>
          <a:p xmlns:a="http://schemas.openxmlformats.org/drawingml/2006/main">
            <a:pPr algn="l">
              <a:defRPr sz="1725" b="1">
                <a:solidFill>
                  <a:srgbClr val="3FB950"/>
                </a:solidFill>
                <a:latin typeface="DejaVu Sans"/>
                <a:ea typeface="DejaVu Sans"/>
                <a:cs typeface="DejaVu Sans"/>
              </a:defRPr>
            </a:pPr>
            <a:r>
              <a:rPr sz="1725" b="1">
                <a:solidFill>
                  <a:srgbClr val="3FB950"/>
                </a:solidFill>
                <a:latin typeface="DejaVu Sans"/>
                <a:ea typeface="DejaVu Sans"/>
                <a:cs typeface="DejaVu Sans"/>
              </a:rPr>
              <a:t>A good commit</a:t>
            </a:r>
          </a:p>
        </p:txBody>
      </p:sp>
      <p:sp>
        <p:nvSpPr>
          <p:cNvPr id="11" name="">
            <a:extLst xmlns:a="http://schemas.openxmlformats.org/drawingml/2006/main">
              <a:ext uri="{FF2B5EF4-FFF2-40B4-BE49-F238E27FC236}">
                <a16:creationId xmlns:a16="http://schemas.microsoft.com/office/drawing/2014/main" id="{2B7AC14C-6CCF-4EA4-A290-F9AA8C5C9588}"/>
              </a:ext>
            </a:extLst>
          </p:cNvPr>
          <p:cNvSpPr>
            <a:spLocks xmlns:a="http://schemas.openxmlformats.org/drawingml/2006/main" noGrp="1"/>
          </p:cNvSpPr>
          <p:nvPr/>
        </p:nvSpPr>
        <p:spPr>
          <a:xfrm xmlns:a="http://schemas.openxmlformats.org/drawingml/2006/main">
            <a:off x="8686800" y="2400300"/>
            <a:ext cx="26289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One logical purpose</a:t>
            </a:r>
          </a:p>
          <a:p xmlns:a="http://schemas.openxmlformats.org/drawingml/2006/main">
            <a:r>
              <a:t/>
            </a:r>
          </a:p>
          <a:p xmlns:a="http://schemas.openxmlformats.org/drawingml/2006/main">
            <a:pPr algn="l">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A clear message</a:t>
            </a:r>
          </a:p>
          <a:p xmlns:a="http://schemas.openxmlformats.org/drawingml/2006/main">
            <a:r>
              <a:t/>
            </a:r>
          </a:p>
          <a:p xmlns:a="http://schemas.openxmlformats.org/drawingml/2006/main">
            <a:pPr algn="l">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Code with related tests</a:t>
            </a:r>
          </a:p>
          <a:p xmlns:a="http://schemas.openxmlformats.org/drawingml/2006/main">
            <a:r>
              <a:t/>
            </a:r>
          </a:p>
          <a:p xmlns:a="http://schemas.openxmlformats.org/drawingml/2006/main">
            <a:pPr algn="l">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No temporary files or secrets</a:t>
            </a:r>
          </a:p>
        </p:txBody>
      </p:sp>
      <p:sp>
        <p:nvSpPr>
          <p:cNvPr id="12" name="">
            <a:extLst xmlns:a="http://schemas.openxmlformats.org/drawingml/2006/main">
              <a:ext uri="{FF2B5EF4-FFF2-40B4-BE49-F238E27FC236}">
                <a16:creationId xmlns:a16="http://schemas.microsoft.com/office/drawing/2014/main" id="{18C28AF0-60A7-4672-8D0E-1CCCDCB3D6B1}"/>
              </a:ext>
            </a:extLst>
          </p:cNvPr>
          <p:cNvSpPr>
            <a:spLocks xmlns:a="http://schemas.openxmlformats.org/drawingml/2006/main" noGrp="1"/>
          </p:cNvSpPr>
          <p:nvPr/>
        </p:nvSpPr>
        <p:spPr>
          <a:xfrm xmlns:a="http://schemas.openxmlformats.org/drawingml/2006/main">
            <a:off x="8686800" y="5010150"/>
            <a:ext cx="2628900" cy="323850"/>
          </a:xfrm>
          <a:prstGeom xmlns:a="http://schemas.openxmlformats.org/drawingml/2006/main" prst="roundRect">
            <a:avLst>
              <a:gd name="adj" fmla="val 23529"/>
            </a:avLst>
          </a:prstGeom>
          <a:solidFill xmlns:a="http://schemas.openxmlformats.org/drawingml/2006/main">
            <a:srgbClr val="21262D"/>
          </a:solidFill>
          <a:ln xmlns:a="http://schemas.openxmlformats.org/drawingml/2006/main" w="9525">
            <a:solidFill>
              <a:srgbClr val="3FB950"/>
            </a:solidFill>
          </a:ln>
        </p:spPr>
      </p:sp>
      <p:sp>
        <p:nvSpPr>
          <p:cNvPr id="13" name="">
            <a:extLst xmlns:a="http://schemas.openxmlformats.org/drawingml/2006/main">
              <a:ext uri="{FF2B5EF4-FFF2-40B4-BE49-F238E27FC236}">
                <a16:creationId xmlns:a16="http://schemas.microsoft.com/office/drawing/2014/main" id="{42E07A2A-46CF-41CC-899B-C209CBFFA759}"/>
              </a:ext>
            </a:extLst>
          </p:cNvPr>
          <p:cNvSpPr>
            <a:spLocks xmlns:a="http://schemas.openxmlformats.org/drawingml/2006/main" noGrp="1"/>
          </p:cNvSpPr>
          <p:nvPr/>
        </p:nvSpPr>
        <p:spPr>
          <a:xfrm xmlns:a="http://schemas.openxmlformats.org/drawingml/2006/main">
            <a:off x="8686800" y="5010150"/>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3FB950"/>
                </a:solidFill>
                <a:latin typeface="DejaVu Sans"/>
                <a:ea typeface="DejaVu Sans"/>
                <a:cs typeface="DejaVu Sans"/>
              </a:defRPr>
            </a:pPr>
            <a:r>
              <a:rPr sz="1050" b="1">
                <a:solidFill>
                  <a:srgbClr val="3FB950"/>
                </a:solidFill>
                <a:latin typeface="DejaVu Sans"/>
                <a:ea typeface="DejaVu Sans"/>
                <a:cs typeface="DejaVu Sans"/>
              </a:rPr>
              <a:t>feat: action + object</a:t>
            </a:r>
          </a:p>
        </p:txBody>
      </p:sp>
    </p:spTree>
    <p:extLst>
      <p:ext uri="{BB962C8B-B14F-4D97-AF65-F5344CB8AC3E}">
        <p14:creationId xmlns:p14="http://schemas.microsoft.com/office/powerpoint/2010/main" val="381854344"/>
      </p:ext>
    </p:extLst>
  </p:cSld>
</p:sld>
</file>

<file path=ppt/slides/slide12.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40E79DE-E98E-4EDA-9E16-5D5227BD3B58}"/>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Synchronizing with the remote repository</a:t>
            </a:r>
          </a:p>
        </p:txBody>
      </p:sp>
      <p:sp>
        <p:nvSpPr>
          <p:cNvPr id="2" name="">
            <a:extLst xmlns:a="http://schemas.openxmlformats.org/drawingml/2006/main">
              <a:ext uri="{FF2B5EF4-FFF2-40B4-BE49-F238E27FC236}">
                <a16:creationId xmlns:a16="http://schemas.microsoft.com/office/drawing/2014/main" id="{D82FD8A7-2709-4D4B-A5A4-26FFD48F85F7}"/>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fetch downloads information; pull also integrates changes</a:t>
            </a:r>
          </a:p>
        </p:txBody>
      </p:sp>
      <p:sp>
        <p:nvSpPr>
          <p:cNvPr id="3" name="">
            <a:extLst xmlns:a="http://schemas.openxmlformats.org/drawingml/2006/main">
              <a:ext uri="{FF2B5EF4-FFF2-40B4-BE49-F238E27FC236}">
                <a16:creationId xmlns:a16="http://schemas.microsoft.com/office/drawing/2014/main" id="{6E748375-003D-4CC3-AA96-E9EC084D098F}"/>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C048B5-1F1C-4E6F-B9C8-68BEFDBA168E}"/>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12</a:t>
            </a:r>
          </a:p>
        </p:txBody>
      </p:sp>
      <p:sp>
        <p:nvSpPr>
          <p:cNvPr id="5" name="">
            <a:extLst xmlns:a="http://schemas.openxmlformats.org/drawingml/2006/main">
              <a:ext uri="{FF2B5EF4-FFF2-40B4-BE49-F238E27FC236}">
                <a16:creationId xmlns:a16="http://schemas.microsoft.com/office/drawing/2014/main" id="{F8E4126B-9C90-47FC-8DB1-9B578EC4CE9E}"/>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E3E19861-B999-47E3-BB2D-9719356C3A13}"/>
              </a:ext>
            </a:extLst>
          </p:cNvPr>
          <p:cNvSpPr>
            <a:spLocks xmlns:a="http://schemas.openxmlformats.org/drawingml/2006/main" noGrp="1"/>
          </p:cNvSpPr>
          <p:nvPr/>
        </p:nvSpPr>
        <p:spPr>
          <a:xfrm xmlns:a="http://schemas.openxmlformats.org/drawingml/2006/main">
            <a:off x="609600" y="1657350"/>
            <a:ext cx="10972800" cy="990600"/>
          </a:xfrm>
          <a:prstGeom xmlns:a="http://schemas.openxmlformats.org/drawingml/2006/main" prst="roundRect">
            <a:avLst>
              <a:gd name="adj" fmla="val 7692"/>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F15DF0E4-9F7B-4705-8414-55452F4C410A}"/>
              </a:ext>
            </a:extLst>
          </p:cNvPr>
          <p:cNvSpPr>
            <a:spLocks xmlns:a="http://schemas.openxmlformats.org/drawingml/2006/main" noGrp="1"/>
          </p:cNvSpPr>
          <p:nvPr/>
        </p:nvSpPr>
        <p:spPr>
          <a:xfrm xmlns:a="http://schemas.openxmlformats.org/drawingml/2006/main">
            <a:off x="838200" y="1866900"/>
            <a:ext cx="3009900" cy="571500"/>
          </a:xfrm>
          <a:prstGeom xmlns:a="http://schemas.openxmlformats.org/drawingml/2006/main" prst="roundRect">
            <a:avLst>
              <a:gd name="adj" fmla="val 13333"/>
            </a:avLst>
          </a:prstGeom>
          <a:solidFill xmlns:a="http://schemas.openxmlformats.org/drawingml/2006/main">
            <a:srgbClr val="090C10"/>
          </a:solidFill>
          <a:ln xmlns:a="http://schemas.openxmlformats.org/drawingml/2006/main" w="9525">
            <a:solidFill>
              <a:srgbClr val="30363D"/>
            </a:solidFill>
          </a:ln>
        </p:spPr>
      </p:sp>
      <p:sp>
        <p:nvSpPr>
          <p:cNvPr id="8" name="">
            <a:extLst xmlns:a="http://schemas.openxmlformats.org/drawingml/2006/main">
              <a:ext uri="{FF2B5EF4-FFF2-40B4-BE49-F238E27FC236}">
                <a16:creationId xmlns:a16="http://schemas.microsoft.com/office/drawing/2014/main" id="{2AD1E725-2DD3-4ED9-9E77-0B729B9A39F8}"/>
              </a:ext>
            </a:extLst>
          </p:cNvPr>
          <p:cNvSpPr>
            <a:spLocks xmlns:a="http://schemas.openxmlformats.org/drawingml/2006/main" noGrp="1"/>
          </p:cNvSpPr>
          <p:nvPr/>
        </p:nvSpPr>
        <p:spPr>
          <a:xfrm xmlns:a="http://schemas.openxmlformats.org/drawingml/2006/main">
            <a:off x="838200" y="1866900"/>
            <a:ext cx="76200" cy="5715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99CB12-1B7F-4DBF-A621-0BB2306263DF}"/>
              </a:ext>
            </a:extLst>
          </p:cNvPr>
          <p:cNvSpPr>
            <a:spLocks xmlns:a="http://schemas.openxmlformats.org/drawingml/2006/main" noGrp="1"/>
          </p:cNvSpPr>
          <p:nvPr/>
        </p:nvSpPr>
        <p:spPr>
          <a:xfrm xmlns:a="http://schemas.openxmlformats.org/drawingml/2006/main">
            <a:off x="1066800" y="201930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fetch origin</a:t>
            </a:r>
          </a:p>
        </p:txBody>
      </p:sp>
      <p:sp>
        <p:nvSpPr>
          <p:cNvPr id="10" name="">
            <a:extLst xmlns:a="http://schemas.openxmlformats.org/drawingml/2006/main">
              <a:ext uri="{FF2B5EF4-FFF2-40B4-BE49-F238E27FC236}">
                <a16:creationId xmlns:a16="http://schemas.microsoft.com/office/drawing/2014/main" id="{1597AC62-B85B-4E8E-A706-6ED664ED7D0F}"/>
              </a:ext>
            </a:extLst>
          </p:cNvPr>
          <p:cNvSpPr>
            <a:spLocks xmlns:a="http://schemas.openxmlformats.org/drawingml/2006/main" noGrp="1"/>
          </p:cNvSpPr>
          <p:nvPr/>
        </p:nvSpPr>
        <p:spPr>
          <a:xfrm xmlns:a="http://schemas.openxmlformats.org/drawingml/2006/main">
            <a:off x="4171950" y="1809750"/>
            <a:ext cx="706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Download new commits and update origin/*</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Current working files remain unchanged</a:t>
            </a:r>
          </a:p>
        </p:txBody>
      </p:sp>
      <p:sp>
        <p:nvSpPr>
          <p:cNvPr id="11" name="">
            <a:extLst xmlns:a="http://schemas.openxmlformats.org/drawingml/2006/main">
              <a:ext uri="{FF2B5EF4-FFF2-40B4-BE49-F238E27FC236}">
                <a16:creationId xmlns:a16="http://schemas.microsoft.com/office/drawing/2014/main" id="{1D34413E-991C-4E5A-B4FB-8CF394B5347E}"/>
              </a:ext>
            </a:extLst>
          </p:cNvPr>
          <p:cNvSpPr>
            <a:spLocks xmlns:a="http://schemas.openxmlformats.org/drawingml/2006/main" noGrp="1"/>
          </p:cNvSpPr>
          <p:nvPr/>
        </p:nvSpPr>
        <p:spPr>
          <a:xfrm xmlns:a="http://schemas.openxmlformats.org/drawingml/2006/main">
            <a:off x="609600" y="2914650"/>
            <a:ext cx="10972800" cy="990600"/>
          </a:xfrm>
          <a:prstGeom xmlns:a="http://schemas.openxmlformats.org/drawingml/2006/main" prst="roundRect">
            <a:avLst>
              <a:gd name="adj" fmla="val 7692"/>
            </a:avLst>
          </a:prstGeom>
          <a:solidFill xmlns:a="http://schemas.openxmlformats.org/drawingml/2006/main">
            <a:srgbClr val="161B22"/>
          </a:solidFill>
          <a:ln xmlns:a="http://schemas.openxmlformats.org/drawingml/2006/main" w="9525">
            <a:solidFill>
              <a:srgbClr val="30363D"/>
            </a:solidFill>
          </a:ln>
        </p:spPr>
      </p:sp>
      <p:sp>
        <p:nvSpPr>
          <p:cNvPr id="12" name="">
            <a:extLst xmlns:a="http://schemas.openxmlformats.org/drawingml/2006/main">
              <a:ext uri="{FF2B5EF4-FFF2-40B4-BE49-F238E27FC236}">
                <a16:creationId xmlns:a16="http://schemas.microsoft.com/office/drawing/2014/main" id="{159B8AC6-CCCF-470B-BDA7-ED054652BC81}"/>
              </a:ext>
            </a:extLst>
          </p:cNvPr>
          <p:cNvSpPr>
            <a:spLocks xmlns:a="http://schemas.openxmlformats.org/drawingml/2006/main" noGrp="1"/>
          </p:cNvSpPr>
          <p:nvPr/>
        </p:nvSpPr>
        <p:spPr>
          <a:xfrm xmlns:a="http://schemas.openxmlformats.org/drawingml/2006/main">
            <a:off x="838200" y="3124200"/>
            <a:ext cx="3009900" cy="571500"/>
          </a:xfrm>
          <a:prstGeom xmlns:a="http://schemas.openxmlformats.org/drawingml/2006/main" prst="roundRect">
            <a:avLst>
              <a:gd name="adj" fmla="val 13333"/>
            </a:avLst>
          </a:prstGeom>
          <a:solidFill xmlns:a="http://schemas.openxmlformats.org/drawingml/2006/main">
            <a:srgbClr val="090C10"/>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A092D118-6E9B-4A58-835C-F033A145E333}"/>
              </a:ext>
            </a:extLst>
          </p:cNvPr>
          <p:cNvSpPr>
            <a:spLocks xmlns:a="http://schemas.openxmlformats.org/drawingml/2006/main" noGrp="1"/>
          </p:cNvSpPr>
          <p:nvPr/>
        </p:nvSpPr>
        <p:spPr>
          <a:xfrm xmlns:a="http://schemas.openxmlformats.org/drawingml/2006/main">
            <a:off x="838200" y="3124200"/>
            <a:ext cx="76200" cy="571500"/>
          </a:xfrm>
          <a:prstGeom xmlns:a="http://schemas.openxmlformats.org/drawingml/2006/main" prst="rect">
            <a:avLst/>
          </a:prstGeom>
          <a:solidFill xmlns:a="http://schemas.openxmlformats.org/drawingml/2006/main">
            <a:srgbClr val="3FB9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C303DD-B6FD-459D-A440-78260461A8E5}"/>
              </a:ext>
            </a:extLst>
          </p:cNvPr>
          <p:cNvSpPr>
            <a:spLocks xmlns:a="http://schemas.openxmlformats.org/drawingml/2006/main" noGrp="1"/>
          </p:cNvSpPr>
          <p:nvPr/>
        </p:nvSpPr>
        <p:spPr>
          <a:xfrm xmlns:a="http://schemas.openxmlformats.org/drawingml/2006/main">
            <a:off x="1066800" y="327660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pull --ff-only</a:t>
            </a:r>
          </a:p>
        </p:txBody>
      </p:sp>
      <p:sp>
        <p:nvSpPr>
          <p:cNvPr id="15" name="">
            <a:extLst xmlns:a="http://schemas.openxmlformats.org/drawingml/2006/main">
              <a:ext uri="{FF2B5EF4-FFF2-40B4-BE49-F238E27FC236}">
                <a16:creationId xmlns:a16="http://schemas.microsoft.com/office/drawing/2014/main" id="{AFF99FCA-FC04-45CA-8871-A60F8BB23361}"/>
              </a:ext>
            </a:extLst>
          </p:cNvPr>
          <p:cNvSpPr>
            <a:spLocks xmlns:a="http://schemas.openxmlformats.org/drawingml/2006/main" noGrp="1"/>
          </p:cNvSpPr>
          <p:nvPr/>
        </p:nvSpPr>
        <p:spPr>
          <a:xfrm xmlns:a="http://schemas.openxmlformats.org/drawingml/2006/main">
            <a:off x="4171950" y="3067050"/>
            <a:ext cx="706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Download and advance only when history has not diverged</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The command stops if branches diverged</a:t>
            </a:r>
          </a:p>
        </p:txBody>
      </p:sp>
      <p:sp>
        <p:nvSpPr>
          <p:cNvPr id="16" name="">
            <a:extLst xmlns:a="http://schemas.openxmlformats.org/drawingml/2006/main">
              <a:ext uri="{FF2B5EF4-FFF2-40B4-BE49-F238E27FC236}">
                <a16:creationId xmlns:a16="http://schemas.microsoft.com/office/drawing/2014/main" id="{138A258F-D8C3-492C-B104-34721B4B1C64}"/>
              </a:ext>
            </a:extLst>
          </p:cNvPr>
          <p:cNvSpPr>
            <a:spLocks xmlns:a="http://schemas.openxmlformats.org/drawingml/2006/main" noGrp="1"/>
          </p:cNvSpPr>
          <p:nvPr/>
        </p:nvSpPr>
        <p:spPr>
          <a:xfrm xmlns:a="http://schemas.openxmlformats.org/drawingml/2006/main">
            <a:off x="609600" y="4171950"/>
            <a:ext cx="10972800" cy="990600"/>
          </a:xfrm>
          <a:prstGeom xmlns:a="http://schemas.openxmlformats.org/drawingml/2006/main" prst="roundRect">
            <a:avLst>
              <a:gd name="adj" fmla="val 7692"/>
            </a:avLst>
          </a:prstGeom>
          <a:solidFill xmlns:a="http://schemas.openxmlformats.org/drawingml/2006/main">
            <a:srgbClr val="161B22"/>
          </a:solidFill>
          <a:ln xmlns:a="http://schemas.openxmlformats.org/drawingml/2006/main" w="9525">
            <a:solidFill>
              <a:srgbClr val="30363D"/>
            </a:solidFill>
          </a:ln>
        </p:spPr>
      </p:sp>
      <p:sp>
        <p:nvSpPr>
          <p:cNvPr id="17" name="">
            <a:extLst xmlns:a="http://schemas.openxmlformats.org/drawingml/2006/main">
              <a:ext uri="{FF2B5EF4-FFF2-40B4-BE49-F238E27FC236}">
                <a16:creationId xmlns:a16="http://schemas.microsoft.com/office/drawing/2014/main" id="{567316A0-3EEF-4297-B695-923341195A1E}"/>
              </a:ext>
            </a:extLst>
          </p:cNvPr>
          <p:cNvSpPr>
            <a:spLocks xmlns:a="http://schemas.openxmlformats.org/drawingml/2006/main" noGrp="1"/>
          </p:cNvSpPr>
          <p:nvPr/>
        </p:nvSpPr>
        <p:spPr>
          <a:xfrm xmlns:a="http://schemas.openxmlformats.org/drawingml/2006/main">
            <a:off x="838200" y="4381500"/>
            <a:ext cx="3009900" cy="571500"/>
          </a:xfrm>
          <a:prstGeom xmlns:a="http://schemas.openxmlformats.org/drawingml/2006/main" prst="roundRect">
            <a:avLst>
              <a:gd name="adj" fmla="val 13333"/>
            </a:avLst>
          </a:prstGeom>
          <a:solidFill xmlns:a="http://schemas.openxmlformats.org/drawingml/2006/main">
            <a:srgbClr val="090C10"/>
          </a:solidFill>
          <a:ln xmlns:a="http://schemas.openxmlformats.org/drawingml/2006/main" w="9525">
            <a:solidFill>
              <a:srgbClr val="30363D"/>
            </a:solidFill>
          </a:ln>
        </p:spPr>
      </p:sp>
      <p:sp>
        <p:nvSpPr>
          <p:cNvPr id="18" name="">
            <a:extLst xmlns:a="http://schemas.openxmlformats.org/drawingml/2006/main">
              <a:ext uri="{FF2B5EF4-FFF2-40B4-BE49-F238E27FC236}">
                <a16:creationId xmlns:a16="http://schemas.microsoft.com/office/drawing/2014/main" id="{78FADB8D-8E8D-4D0A-8F5A-0A54CEABA20A}"/>
              </a:ext>
            </a:extLst>
          </p:cNvPr>
          <p:cNvSpPr>
            <a:spLocks xmlns:a="http://schemas.openxmlformats.org/drawingml/2006/main" noGrp="1"/>
          </p:cNvSpPr>
          <p:nvPr/>
        </p:nvSpPr>
        <p:spPr>
          <a:xfrm xmlns:a="http://schemas.openxmlformats.org/drawingml/2006/main">
            <a:off x="838200" y="4381500"/>
            <a:ext cx="76200" cy="571500"/>
          </a:xfrm>
          <a:prstGeom xmlns:a="http://schemas.openxmlformats.org/drawingml/2006/main" prst="rect">
            <a:avLst/>
          </a:prstGeom>
          <a:solidFill xmlns:a="http://schemas.openxmlformats.org/drawingml/2006/main">
            <a:srgbClr val="A371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AF406E-D1CC-4123-80EA-F24C6C94FE76}"/>
              </a:ext>
            </a:extLst>
          </p:cNvPr>
          <p:cNvSpPr>
            <a:spLocks xmlns:a="http://schemas.openxmlformats.org/drawingml/2006/main" noGrp="1"/>
          </p:cNvSpPr>
          <p:nvPr/>
        </p:nvSpPr>
        <p:spPr>
          <a:xfrm xmlns:a="http://schemas.openxmlformats.org/drawingml/2006/main">
            <a:off x="1066800" y="453390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push</a:t>
            </a:r>
          </a:p>
        </p:txBody>
      </p:sp>
      <p:sp>
        <p:nvSpPr>
          <p:cNvPr id="20" name="">
            <a:extLst xmlns:a="http://schemas.openxmlformats.org/drawingml/2006/main">
              <a:ext uri="{FF2B5EF4-FFF2-40B4-BE49-F238E27FC236}">
                <a16:creationId xmlns:a16="http://schemas.microsoft.com/office/drawing/2014/main" id="{6FA1EE7E-9EE0-4D9B-A654-588785514579}"/>
              </a:ext>
            </a:extLst>
          </p:cNvPr>
          <p:cNvSpPr>
            <a:spLocks xmlns:a="http://schemas.openxmlformats.org/drawingml/2006/main" noGrp="1"/>
          </p:cNvSpPr>
          <p:nvPr/>
        </p:nvSpPr>
        <p:spPr>
          <a:xfrm xmlns:a="http://schemas.openxmlformats.org/drawingml/2006/main">
            <a:off x="4171950" y="4324350"/>
            <a:ext cx="706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Send local commits to the upstream branch</a:t>
            </a:r>
          </a:p>
        </p:txBody>
      </p:sp>
      <p:sp>
        <p:nvSpPr>
          <p:cNvPr id="21" name="">
            <a:extLst xmlns:a="http://schemas.openxmlformats.org/drawingml/2006/main">
              <a:ext uri="{FF2B5EF4-FFF2-40B4-BE49-F238E27FC236}">
                <a16:creationId xmlns:a16="http://schemas.microsoft.com/office/drawing/2014/main" id="{424C6BEC-F319-4705-BF73-B5783B8422FD}"/>
              </a:ext>
            </a:extLst>
          </p:cNvPr>
          <p:cNvSpPr>
            <a:spLocks xmlns:a="http://schemas.openxmlformats.org/drawingml/2006/main" noGrp="1"/>
          </p:cNvSpPr>
          <p:nvPr/>
        </p:nvSpPr>
        <p:spPr>
          <a:xfrm xmlns:a="http://schemas.openxmlformats.org/drawingml/2006/main">
            <a:off x="876300" y="55816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29922"/>
                </a:solidFill>
                <a:latin typeface="DejaVu Sans"/>
                <a:ea typeface="DejaVu Sans"/>
                <a:cs typeface="DejaVu Sans"/>
              </a:defRPr>
            </a:pPr>
            <a:r>
              <a:rPr sz="1350" b="1">
                <a:solidFill>
                  <a:srgbClr val="D29922"/>
                </a:solidFill>
                <a:latin typeface="DejaVu Sans"/>
                <a:ea typeface="DejaVu Sans"/>
                <a:cs typeface="DejaVu Sans"/>
              </a:rPr>
              <a:t>A useful start-of-work habit: git switch main &amp;&amp; git pull --ff-only</a:t>
            </a:r>
          </a:p>
        </p:txBody>
      </p:sp>
    </p:spTree>
    <p:extLst>
      <p:ext uri="{BB962C8B-B14F-4D97-AF65-F5344CB8AC3E}">
        <p14:creationId xmlns:p14="http://schemas.microsoft.com/office/powerpoint/2010/main" val="781931249"/>
      </p:ext>
    </p:extLst>
  </p:cSld>
</p:sld>
</file>

<file path=ppt/slides/slide13.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A833B69-3474-4259-9179-365DF76B3E19}"/>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A Pull Request proposes combining changes</a:t>
            </a:r>
          </a:p>
        </p:txBody>
      </p:sp>
      <p:sp>
        <p:nvSpPr>
          <p:cNvPr id="2" name="">
            <a:extLst xmlns:a="http://schemas.openxmlformats.org/drawingml/2006/main">
              <a:ext uri="{FF2B5EF4-FFF2-40B4-BE49-F238E27FC236}">
                <a16:creationId xmlns:a16="http://schemas.microsoft.com/office/drawing/2014/main" id="{15CAD235-81E4-4ECC-BB77-8EDFB679A298}"/>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A PR turns a set of commits into a reviewable change</a:t>
            </a:r>
          </a:p>
        </p:txBody>
      </p:sp>
      <p:sp>
        <p:nvSpPr>
          <p:cNvPr id="3" name="">
            <a:extLst xmlns:a="http://schemas.openxmlformats.org/drawingml/2006/main">
              <a:ext uri="{FF2B5EF4-FFF2-40B4-BE49-F238E27FC236}">
                <a16:creationId xmlns:a16="http://schemas.microsoft.com/office/drawing/2014/main" id="{22D81AD7-12B0-4536-AE3D-5BBEA39EDC3E}"/>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AC9FFF-9C14-4CF5-86CE-3322362D9D55}"/>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13</a:t>
            </a:r>
          </a:p>
        </p:txBody>
      </p:sp>
      <p:sp>
        <p:nvSpPr>
          <p:cNvPr id="5" name="">
            <a:extLst xmlns:a="http://schemas.openxmlformats.org/drawingml/2006/main">
              <a:ext uri="{FF2B5EF4-FFF2-40B4-BE49-F238E27FC236}">
                <a16:creationId xmlns:a16="http://schemas.microsoft.com/office/drawing/2014/main" id="{966FAA90-43D0-4D7E-B612-794F6F1CE1A3}"/>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8EECB484-9F2F-4FAC-BC6A-73628EF0FCE5}"/>
              </a:ext>
            </a:extLst>
          </p:cNvPr>
          <p:cNvSpPr>
            <a:spLocks xmlns:a="http://schemas.openxmlformats.org/drawingml/2006/main" noGrp="1"/>
          </p:cNvSpPr>
          <p:nvPr/>
        </p:nvSpPr>
        <p:spPr>
          <a:xfrm xmlns:a="http://schemas.openxmlformats.org/drawingml/2006/main">
            <a:off x="609600" y="1885950"/>
            <a:ext cx="1943100" cy="2476500"/>
          </a:xfrm>
          <a:prstGeom xmlns:a="http://schemas.openxmlformats.org/drawingml/2006/main" prst="roundRect">
            <a:avLst>
              <a:gd name="adj" fmla="val 3922"/>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5E1348FD-AA5D-4DB4-AB61-6900E480F9DF}"/>
              </a:ext>
            </a:extLst>
          </p:cNvPr>
          <p:cNvSpPr>
            <a:spLocks xmlns:a="http://schemas.openxmlformats.org/drawingml/2006/main" noGrp="1"/>
          </p:cNvSpPr>
          <p:nvPr/>
        </p:nvSpPr>
        <p:spPr>
          <a:xfrm xmlns:a="http://schemas.openxmlformats.org/drawingml/2006/main">
            <a:off x="1219200" y="2095500"/>
            <a:ext cx="723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83E5BA2D-06BE-472D-A431-A67CC220F3B5}"/>
              </a:ext>
            </a:extLst>
          </p:cNvPr>
          <p:cNvSpPr>
            <a:spLocks xmlns:a="http://schemas.openxmlformats.org/drawingml/2006/main" noGrp="1"/>
          </p:cNvSpPr>
          <p:nvPr/>
        </p:nvSpPr>
        <p:spPr>
          <a:xfrm xmlns:a="http://schemas.openxmlformats.org/drawingml/2006/main">
            <a:off x="762000" y="2800350"/>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0F6FC"/>
                </a:solidFill>
                <a:latin typeface="DejaVu Sans"/>
                <a:ea typeface="DejaVu Sans"/>
                <a:cs typeface="DejaVu Sans"/>
              </a:defRPr>
            </a:pPr>
            <a:r>
              <a:rPr sz="1575" b="1">
                <a:solidFill>
                  <a:srgbClr val="F0F6FC"/>
                </a:solidFill>
                <a:latin typeface="DejaVu Sans"/>
                <a:ea typeface="DejaVu Sans"/>
                <a:cs typeface="DejaVu Sans"/>
              </a:rPr>
              <a:t>Push</a:t>
            </a:r>
          </a:p>
        </p:txBody>
      </p:sp>
      <p:sp>
        <p:nvSpPr>
          <p:cNvPr id="9" name="">
            <a:extLst xmlns:a="http://schemas.openxmlformats.org/drawingml/2006/main">
              <a:ext uri="{FF2B5EF4-FFF2-40B4-BE49-F238E27FC236}">
                <a16:creationId xmlns:a16="http://schemas.microsoft.com/office/drawing/2014/main" id="{2935D3E2-B419-4B6B-93BC-D846445B5C90}"/>
              </a:ext>
            </a:extLst>
          </p:cNvPr>
          <p:cNvSpPr>
            <a:spLocks xmlns:a="http://schemas.openxmlformats.org/drawingml/2006/main" noGrp="1"/>
          </p:cNvSpPr>
          <p:nvPr/>
        </p:nvSpPr>
        <p:spPr>
          <a:xfrm xmlns:a="http://schemas.openxmlformats.org/drawingml/2006/main">
            <a:off x="781050" y="3333750"/>
            <a:ext cx="1600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the branch appears on GitHub</a:t>
            </a:r>
          </a:p>
        </p:txBody>
      </p:sp>
      <p:sp>
        <p:nvSpPr>
          <p:cNvPr id="10" name="">
            <a:extLst xmlns:a="http://schemas.openxmlformats.org/drawingml/2006/main">
              <a:ext uri="{FF2B5EF4-FFF2-40B4-BE49-F238E27FC236}">
                <a16:creationId xmlns:a16="http://schemas.microsoft.com/office/drawing/2014/main" id="{53DDB881-6650-4002-8291-EFAF38E0F8A1}"/>
              </a:ext>
            </a:extLst>
          </p:cNvPr>
          <p:cNvSpPr>
            <a:spLocks xmlns:a="http://schemas.openxmlformats.org/drawingml/2006/main" noGrp="1"/>
          </p:cNvSpPr>
          <p:nvPr/>
        </p:nvSpPr>
        <p:spPr>
          <a:xfrm xmlns:a="http://schemas.openxmlformats.org/drawingml/2006/main">
            <a:off x="2800350" y="1885950"/>
            <a:ext cx="1943100" cy="2476500"/>
          </a:xfrm>
          <a:prstGeom xmlns:a="http://schemas.openxmlformats.org/drawingml/2006/main" prst="roundRect">
            <a:avLst>
              <a:gd name="adj" fmla="val 3922"/>
            </a:avLst>
          </a:prstGeom>
          <a:solidFill xmlns:a="http://schemas.openxmlformats.org/drawingml/2006/main">
            <a:srgbClr val="161B22"/>
          </a:solidFill>
          <a:ln xmlns:a="http://schemas.openxmlformats.org/drawingml/2006/main" w="9525">
            <a:solidFill>
              <a:srgbClr val="30363D"/>
            </a:solidFill>
          </a:ln>
        </p:spPr>
      </p:sp>
      <p:sp>
        <p:nvSpPr>
          <p:cNvPr id="11" name="">
            <a:extLst xmlns:a="http://schemas.openxmlformats.org/drawingml/2006/main">
              <a:ext uri="{FF2B5EF4-FFF2-40B4-BE49-F238E27FC236}">
                <a16:creationId xmlns:a16="http://schemas.microsoft.com/office/drawing/2014/main" id="{8B2126BE-BF0E-41B2-BC8F-1ED8B300649E}"/>
              </a:ext>
            </a:extLst>
          </p:cNvPr>
          <p:cNvSpPr>
            <a:spLocks xmlns:a="http://schemas.openxmlformats.org/drawingml/2006/main" noGrp="1"/>
          </p:cNvSpPr>
          <p:nvPr/>
        </p:nvSpPr>
        <p:spPr>
          <a:xfrm xmlns:a="http://schemas.openxmlformats.org/drawingml/2006/main">
            <a:off x="3409950" y="2095500"/>
            <a:ext cx="723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4D81A30E-CC75-442F-A167-609A10536823}"/>
              </a:ext>
            </a:extLst>
          </p:cNvPr>
          <p:cNvSpPr>
            <a:spLocks xmlns:a="http://schemas.openxmlformats.org/drawingml/2006/main" noGrp="1"/>
          </p:cNvSpPr>
          <p:nvPr/>
        </p:nvSpPr>
        <p:spPr>
          <a:xfrm xmlns:a="http://schemas.openxmlformats.org/drawingml/2006/main">
            <a:off x="2952750" y="2800350"/>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0F6FC"/>
                </a:solidFill>
                <a:latin typeface="DejaVu Sans"/>
                <a:ea typeface="DejaVu Sans"/>
                <a:cs typeface="DejaVu Sans"/>
              </a:defRPr>
            </a:pPr>
            <a:r>
              <a:rPr sz="1575" b="1">
                <a:solidFill>
                  <a:srgbClr val="F0F6FC"/>
                </a:solidFill>
                <a:latin typeface="DejaVu Sans"/>
                <a:ea typeface="DejaVu Sans"/>
                <a:cs typeface="DejaVu Sans"/>
              </a:rPr>
              <a:t>Open PR</a:t>
            </a:r>
          </a:p>
        </p:txBody>
      </p:sp>
      <p:sp>
        <p:nvSpPr>
          <p:cNvPr id="13" name="">
            <a:extLst xmlns:a="http://schemas.openxmlformats.org/drawingml/2006/main">
              <a:ext uri="{FF2B5EF4-FFF2-40B4-BE49-F238E27FC236}">
                <a16:creationId xmlns:a16="http://schemas.microsoft.com/office/drawing/2014/main" id="{0E7270D2-6578-404B-88A7-409E60332C1A}"/>
              </a:ext>
            </a:extLst>
          </p:cNvPr>
          <p:cNvSpPr>
            <a:spLocks xmlns:a="http://schemas.openxmlformats.org/drawingml/2006/main" noGrp="1"/>
          </p:cNvSpPr>
          <p:nvPr/>
        </p:nvSpPr>
        <p:spPr>
          <a:xfrm xmlns:a="http://schemas.openxmlformats.org/drawingml/2006/main">
            <a:off x="2971800" y="3333750"/>
            <a:ext cx="1600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base: main, compare: feature/login</a:t>
            </a:r>
          </a:p>
        </p:txBody>
      </p:sp>
      <p:sp>
        <p:nvSpPr>
          <p:cNvPr id="14" name="">
            <a:extLst xmlns:a="http://schemas.openxmlformats.org/drawingml/2006/main">
              <a:ext uri="{FF2B5EF4-FFF2-40B4-BE49-F238E27FC236}">
                <a16:creationId xmlns:a16="http://schemas.microsoft.com/office/drawing/2014/main" id="{DD5BC858-AC71-48E0-B784-99DBF06CF826}"/>
              </a:ext>
            </a:extLst>
          </p:cNvPr>
          <p:cNvSpPr>
            <a:spLocks xmlns:a="http://schemas.openxmlformats.org/drawingml/2006/main" noGrp="1"/>
          </p:cNvSpPr>
          <p:nvPr/>
        </p:nvSpPr>
        <p:spPr>
          <a:xfrm xmlns:a="http://schemas.openxmlformats.org/drawingml/2006/main">
            <a:off x="4991100" y="1885950"/>
            <a:ext cx="1943100" cy="2476500"/>
          </a:xfrm>
          <a:prstGeom xmlns:a="http://schemas.openxmlformats.org/drawingml/2006/main" prst="roundRect">
            <a:avLst>
              <a:gd name="adj" fmla="val 3922"/>
            </a:avLst>
          </a:prstGeom>
          <a:solidFill xmlns:a="http://schemas.openxmlformats.org/drawingml/2006/main">
            <a:srgbClr val="161B22"/>
          </a:solidFill>
          <a:ln xmlns:a="http://schemas.openxmlformats.org/drawingml/2006/main" w="9525">
            <a:solidFill>
              <a:srgbClr val="30363D"/>
            </a:solidFill>
          </a:ln>
        </p:spPr>
      </p:sp>
      <p:sp>
        <p:nvSpPr>
          <p:cNvPr id="15" name="">
            <a:extLst xmlns:a="http://schemas.openxmlformats.org/drawingml/2006/main">
              <a:ext uri="{FF2B5EF4-FFF2-40B4-BE49-F238E27FC236}">
                <a16:creationId xmlns:a16="http://schemas.microsoft.com/office/drawing/2014/main" id="{974E956B-3E6A-4893-8AFA-E8F947BA923D}"/>
              </a:ext>
            </a:extLst>
          </p:cNvPr>
          <p:cNvSpPr>
            <a:spLocks xmlns:a="http://schemas.openxmlformats.org/drawingml/2006/main" noGrp="1"/>
          </p:cNvSpPr>
          <p:nvPr/>
        </p:nvSpPr>
        <p:spPr>
          <a:xfrm xmlns:a="http://schemas.openxmlformats.org/drawingml/2006/main">
            <a:off x="5600700" y="2095500"/>
            <a:ext cx="723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304248F9-8254-427C-B822-93EAD73266C6}"/>
              </a:ext>
            </a:extLst>
          </p:cNvPr>
          <p:cNvSpPr>
            <a:spLocks xmlns:a="http://schemas.openxmlformats.org/drawingml/2006/main" noGrp="1"/>
          </p:cNvSpPr>
          <p:nvPr/>
        </p:nvSpPr>
        <p:spPr>
          <a:xfrm xmlns:a="http://schemas.openxmlformats.org/drawingml/2006/main">
            <a:off x="5143500" y="2800350"/>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0F6FC"/>
                </a:solidFill>
                <a:latin typeface="DejaVu Sans"/>
                <a:ea typeface="DejaVu Sans"/>
                <a:cs typeface="DejaVu Sans"/>
              </a:defRPr>
            </a:pPr>
            <a:r>
              <a:rPr sz="1575" b="1">
                <a:solidFill>
                  <a:srgbClr val="F0F6FC"/>
                </a:solidFill>
                <a:latin typeface="DejaVu Sans"/>
                <a:ea typeface="DejaVu Sans"/>
                <a:cs typeface="DejaVu Sans"/>
              </a:rPr>
              <a:t>Review</a:t>
            </a:r>
          </a:p>
        </p:txBody>
      </p:sp>
      <p:sp>
        <p:nvSpPr>
          <p:cNvPr id="17" name="">
            <a:extLst xmlns:a="http://schemas.openxmlformats.org/drawingml/2006/main">
              <a:ext uri="{FF2B5EF4-FFF2-40B4-BE49-F238E27FC236}">
                <a16:creationId xmlns:a16="http://schemas.microsoft.com/office/drawing/2014/main" id="{D3DB3DB9-81AB-4963-87DF-F5007B7644A5}"/>
              </a:ext>
            </a:extLst>
          </p:cNvPr>
          <p:cNvSpPr>
            <a:spLocks xmlns:a="http://schemas.openxmlformats.org/drawingml/2006/main" noGrp="1"/>
          </p:cNvSpPr>
          <p:nvPr/>
        </p:nvSpPr>
        <p:spPr>
          <a:xfrm xmlns:a="http://schemas.openxmlformats.org/drawingml/2006/main">
            <a:off x="5162550" y="3333750"/>
            <a:ext cx="1600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comments and change requests</a:t>
            </a:r>
          </a:p>
        </p:txBody>
      </p:sp>
      <p:sp>
        <p:nvSpPr>
          <p:cNvPr id="18" name="">
            <a:extLst xmlns:a="http://schemas.openxmlformats.org/drawingml/2006/main">
              <a:ext uri="{FF2B5EF4-FFF2-40B4-BE49-F238E27FC236}">
                <a16:creationId xmlns:a16="http://schemas.microsoft.com/office/drawing/2014/main" id="{12CB4616-CDAE-4A22-A52D-42B6ACFB063D}"/>
              </a:ext>
            </a:extLst>
          </p:cNvPr>
          <p:cNvSpPr>
            <a:spLocks xmlns:a="http://schemas.openxmlformats.org/drawingml/2006/main" noGrp="1"/>
          </p:cNvSpPr>
          <p:nvPr/>
        </p:nvSpPr>
        <p:spPr>
          <a:xfrm xmlns:a="http://schemas.openxmlformats.org/drawingml/2006/main">
            <a:off x="7181850" y="1885950"/>
            <a:ext cx="1943100" cy="2476500"/>
          </a:xfrm>
          <a:prstGeom xmlns:a="http://schemas.openxmlformats.org/drawingml/2006/main" prst="roundRect">
            <a:avLst>
              <a:gd name="adj" fmla="val 3922"/>
            </a:avLst>
          </a:prstGeom>
          <a:solidFill xmlns:a="http://schemas.openxmlformats.org/drawingml/2006/main">
            <a:srgbClr val="161B22"/>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59E834BE-3F53-4883-BB8B-1E344059EB94}"/>
              </a:ext>
            </a:extLst>
          </p:cNvPr>
          <p:cNvSpPr>
            <a:spLocks xmlns:a="http://schemas.openxmlformats.org/drawingml/2006/main" noGrp="1"/>
          </p:cNvSpPr>
          <p:nvPr/>
        </p:nvSpPr>
        <p:spPr>
          <a:xfrm xmlns:a="http://schemas.openxmlformats.org/drawingml/2006/main">
            <a:off x="7791450" y="2095500"/>
            <a:ext cx="723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8A6FF"/>
                </a:solidFill>
                <a:latin typeface="DejaVu Sans"/>
                <a:ea typeface="DejaVu Sans"/>
                <a:cs typeface="DejaVu Sans"/>
              </a:defRPr>
            </a:pPr>
            <a:r>
              <a:rPr sz="2100" b="1">
                <a:solidFill>
                  <a:srgbClr val="58A6FF"/>
                </a:solidFill>
                <a:latin typeface="DejaVu Sans"/>
                <a:ea typeface="DejaVu Sans"/>
                <a:cs typeface="DejaVu Sans"/>
              </a:rPr>
              <a:t>4</a:t>
            </a:r>
          </a:p>
        </p:txBody>
      </p:sp>
      <p:sp>
        <p:nvSpPr>
          <p:cNvPr id="20" name="">
            <a:extLst xmlns:a="http://schemas.openxmlformats.org/drawingml/2006/main">
              <a:ext uri="{FF2B5EF4-FFF2-40B4-BE49-F238E27FC236}">
                <a16:creationId xmlns:a16="http://schemas.microsoft.com/office/drawing/2014/main" id="{7A3CA587-FE2D-41D6-926D-A893DA2B31B0}"/>
              </a:ext>
            </a:extLst>
          </p:cNvPr>
          <p:cNvSpPr>
            <a:spLocks xmlns:a="http://schemas.openxmlformats.org/drawingml/2006/main" noGrp="1"/>
          </p:cNvSpPr>
          <p:nvPr/>
        </p:nvSpPr>
        <p:spPr>
          <a:xfrm xmlns:a="http://schemas.openxmlformats.org/drawingml/2006/main">
            <a:off x="7334250" y="2800350"/>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0F6FC"/>
                </a:solidFill>
                <a:latin typeface="DejaVu Sans"/>
                <a:ea typeface="DejaVu Sans"/>
                <a:cs typeface="DejaVu Sans"/>
              </a:defRPr>
            </a:pPr>
            <a:r>
              <a:rPr sz="1575" b="1">
                <a:solidFill>
                  <a:srgbClr val="F0F6FC"/>
                </a:solidFill>
                <a:latin typeface="DejaVu Sans"/>
                <a:ea typeface="DejaVu Sans"/>
                <a:cs typeface="DejaVu Sans"/>
              </a:rPr>
              <a:t>Checks</a:t>
            </a:r>
          </a:p>
        </p:txBody>
      </p:sp>
      <p:sp>
        <p:nvSpPr>
          <p:cNvPr id="21" name="">
            <a:extLst xmlns:a="http://schemas.openxmlformats.org/drawingml/2006/main">
              <a:ext uri="{FF2B5EF4-FFF2-40B4-BE49-F238E27FC236}">
                <a16:creationId xmlns:a16="http://schemas.microsoft.com/office/drawing/2014/main" id="{EF8730FE-C1B2-4076-94FF-B07BA9747FBA}"/>
              </a:ext>
            </a:extLst>
          </p:cNvPr>
          <p:cNvSpPr>
            <a:spLocks xmlns:a="http://schemas.openxmlformats.org/drawingml/2006/main" noGrp="1"/>
          </p:cNvSpPr>
          <p:nvPr/>
        </p:nvSpPr>
        <p:spPr>
          <a:xfrm xmlns:a="http://schemas.openxmlformats.org/drawingml/2006/main">
            <a:off x="7353300" y="3333750"/>
            <a:ext cx="1600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tests, linter, and build</a:t>
            </a:r>
          </a:p>
        </p:txBody>
      </p:sp>
      <p:sp>
        <p:nvSpPr>
          <p:cNvPr id="22" name="">
            <a:extLst xmlns:a="http://schemas.openxmlformats.org/drawingml/2006/main">
              <a:ext uri="{FF2B5EF4-FFF2-40B4-BE49-F238E27FC236}">
                <a16:creationId xmlns:a16="http://schemas.microsoft.com/office/drawing/2014/main" id="{7223C011-054C-4E3C-BC27-91C6BCE639B3}"/>
              </a:ext>
            </a:extLst>
          </p:cNvPr>
          <p:cNvSpPr>
            <a:spLocks xmlns:a="http://schemas.openxmlformats.org/drawingml/2006/main" noGrp="1"/>
          </p:cNvSpPr>
          <p:nvPr/>
        </p:nvSpPr>
        <p:spPr>
          <a:xfrm xmlns:a="http://schemas.openxmlformats.org/drawingml/2006/main">
            <a:off x="9372600" y="1885950"/>
            <a:ext cx="1943100" cy="2476500"/>
          </a:xfrm>
          <a:prstGeom xmlns:a="http://schemas.openxmlformats.org/drawingml/2006/main" prst="roundRect">
            <a:avLst>
              <a:gd name="adj" fmla="val 3922"/>
            </a:avLst>
          </a:prstGeom>
          <a:solidFill xmlns:a="http://schemas.openxmlformats.org/drawingml/2006/main">
            <a:srgbClr val="17351F"/>
          </a:solidFill>
          <a:ln xmlns:a="http://schemas.openxmlformats.org/drawingml/2006/main" w="9525">
            <a:solidFill>
              <a:srgbClr val="30363D"/>
            </a:solidFill>
          </a:ln>
        </p:spPr>
      </p:sp>
      <p:sp>
        <p:nvSpPr>
          <p:cNvPr id="23" name="">
            <a:extLst xmlns:a="http://schemas.openxmlformats.org/drawingml/2006/main">
              <a:ext uri="{FF2B5EF4-FFF2-40B4-BE49-F238E27FC236}">
                <a16:creationId xmlns:a16="http://schemas.microsoft.com/office/drawing/2014/main" id="{A3C214AE-79F1-4BCF-9113-677B5D05C623}"/>
              </a:ext>
            </a:extLst>
          </p:cNvPr>
          <p:cNvSpPr>
            <a:spLocks xmlns:a="http://schemas.openxmlformats.org/drawingml/2006/main" noGrp="1"/>
          </p:cNvSpPr>
          <p:nvPr/>
        </p:nvSpPr>
        <p:spPr>
          <a:xfrm xmlns:a="http://schemas.openxmlformats.org/drawingml/2006/main">
            <a:off x="9982200" y="2095500"/>
            <a:ext cx="723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3FB950"/>
                </a:solidFill>
                <a:latin typeface="DejaVu Sans"/>
                <a:ea typeface="DejaVu Sans"/>
                <a:cs typeface="DejaVu Sans"/>
              </a:defRPr>
            </a:pPr>
            <a:r>
              <a:rPr sz="2100" b="1">
                <a:solidFill>
                  <a:srgbClr val="3FB950"/>
                </a:solidFill>
                <a:latin typeface="DejaVu Sans"/>
                <a:ea typeface="DejaVu Sans"/>
                <a:cs typeface="DejaVu Sans"/>
              </a:rPr>
              <a:t>5</a:t>
            </a:r>
          </a:p>
        </p:txBody>
      </p:sp>
      <p:sp>
        <p:nvSpPr>
          <p:cNvPr id="24" name="">
            <a:extLst xmlns:a="http://schemas.openxmlformats.org/drawingml/2006/main">
              <a:ext uri="{FF2B5EF4-FFF2-40B4-BE49-F238E27FC236}">
                <a16:creationId xmlns:a16="http://schemas.microsoft.com/office/drawing/2014/main" id="{69E8BA06-7538-48E8-B62C-BA2412E13356}"/>
              </a:ext>
            </a:extLst>
          </p:cNvPr>
          <p:cNvSpPr>
            <a:spLocks xmlns:a="http://schemas.openxmlformats.org/drawingml/2006/main" noGrp="1"/>
          </p:cNvSpPr>
          <p:nvPr/>
        </p:nvSpPr>
        <p:spPr>
          <a:xfrm xmlns:a="http://schemas.openxmlformats.org/drawingml/2006/main">
            <a:off x="9525000" y="2800350"/>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0F6FC"/>
                </a:solidFill>
                <a:latin typeface="DejaVu Sans"/>
                <a:ea typeface="DejaVu Sans"/>
                <a:cs typeface="DejaVu Sans"/>
              </a:defRPr>
            </a:pPr>
            <a:r>
              <a:rPr sz="1575" b="1">
                <a:solidFill>
                  <a:srgbClr val="F0F6FC"/>
                </a:solidFill>
                <a:latin typeface="DejaVu Sans"/>
                <a:ea typeface="DejaVu Sans"/>
                <a:cs typeface="DejaVu Sans"/>
              </a:rPr>
              <a:t>Merge</a:t>
            </a:r>
          </a:p>
        </p:txBody>
      </p:sp>
      <p:sp>
        <p:nvSpPr>
          <p:cNvPr id="25" name="">
            <a:extLst xmlns:a="http://schemas.openxmlformats.org/drawingml/2006/main">
              <a:ext uri="{FF2B5EF4-FFF2-40B4-BE49-F238E27FC236}">
                <a16:creationId xmlns:a16="http://schemas.microsoft.com/office/drawing/2014/main" id="{41007DC6-D8A9-46A0-969D-715F57C0D37D}"/>
              </a:ext>
            </a:extLst>
          </p:cNvPr>
          <p:cNvSpPr>
            <a:spLocks xmlns:a="http://schemas.openxmlformats.org/drawingml/2006/main" noGrp="1"/>
          </p:cNvSpPr>
          <p:nvPr/>
        </p:nvSpPr>
        <p:spPr>
          <a:xfrm xmlns:a="http://schemas.openxmlformats.org/drawingml/2006/main">
            <a:off x="9544050" y="3333750"/>
            <a:ext cx="1600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the change enters main</a:t>
            </a:r>
          </a:p>
        </p:txBody>
      </p:sp>
      <p:sp>
        <p:nvSpPr>
          <p:cNvPr id="26" name="">
            <a:extLst xmlns:a="http://schemas.openxmlformats.org/drawingml/2006/main">
              <a:ext uri="{FF2B5EF4-FFF2-40B4-BE49-F238E27FC236}">
                <a16:creationId xmlns:a16="http://schemas.microsoft.com/office/drawing/2014/main" id="{C1A9F0AF-FA47-4BC1-9280-802FCCBAF8CA}"/>
              </a:ext>
            </a:extLst>
          </p:cNvPr>
          <p:cNvSpPr>
            <a:spLocks xmlns:a="http://schemas.openxmlformats.org/drawingml/2006/main" noGrp="1"/>
          </p:cNvSpPr>
          <p:nvPr/>
        </p:nvSpPr>
        <p:spPr>
          <a:xfrm xmlns:a="http://schemas.openxmlformats.org/drawingml/2006/main">
            <a:off x="1390650" y="4857750"/>
            <a:ext cx="941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DDEBFF"/>
                </a:solidFill>
                <a:latin typeface="DejaVu Sans"/>
                <a:ea typeface="DejaVu Sans"/>
                <a:cs typeface="DejaVu Sans"/>
              </a:defRPr>
            </a:pPr>
            <a:r>
              <a:rPr sz="1500" b="1">
                <a:solidFill>
                  <a:srgbClr val="DDEBFF"/>
                </a:solidFill>
                <a:latin typeface="DejaVu Sans"/>
                <a:ea typeface="DejaVu Sans"/>
                <a:cs typeface="DejaVu Sans"/>
              </a:rPr>
              <a:t>base receives changes     compare/head contains the proposed changes</a:t>
            </a:r>
          </a:p>
        </p:txBody>
      </p:sp>
    </p:spTree>
    <p:extLst>
      <p:ext uri="{BB962C8B-B14F-4D97-AF65-F5344CB8AC3E}">
        <p14:creationId xmlns:p14="http://schemas.microsoft.com/office/powerpoint/2010/main" val="323459926"/>
      </p:ext>
    </p:extLst>
  </p:cSld>
</p:sld>
</file>

<file path=ppt/slides/slide14.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4020D0-6A3A-4F4E-9AB2-E9C12A928AB9}"/>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Creating a Pull Request step by step</a:t>
            </a:r>
          </a:p>
        </p:txBody>
      </p:sp>
      <p:sp>
        <p:nvSpPr>
          <p:cNvPr id="2" name="">
            <a:extLst xmlns:a="http://schemas.openxmlformats.org/drawingml/2006/main">
              <a:ext uri="{FF2B5EF4-FFF2-40B4-BE49-F238E27FC236}">
                <a16:creationId xmlns:a16="http://schemas.microsoft.com/office/drawing/2014/main" id="{C97C8791-ADAC-4D9F-BCF5-A1145DF2530D}"/>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Examples using GitHub CLI and the web interface</a:t>
            </a:r>
          </a:p>
        </p:txBody>
      </p:sp>
      <p:sp>
        <p:nvSpPr>
          <p:cNvPr id="3" name="">
            <a:extLst xmlns:a="http://schemas.openxmlformats.org/drawingml/2006/main">
              <a:ext uri="{FF2B5EF4-FFF2-40B4-BE49-F238E27FC236}">
                <a16:creationId xmlns:a16="http://schemas.microsoft.com/office/drawing/2014/main" id="{57FBAF52-9690-4129-B187-25193E90E9D4}"/>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3709C3-ECDF-4889-833B-D7B50451200E}"/>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14</a:t>
            </a:r>
          </a:p>
        </p:txBody>
      </p:sp>
      <p:sp>
        <p:nvSpPr>
          <p:cNvPr id="5" name="">
            <a:extLst xmlns:a="http://schemas.openxmlformats.org/drawingml/2006/main">
              <a:ext uri="{FF2B5EF4-FFF2-40B4-BE49-F238E27FC236}">
                <a16:creationId xmlns:a16="http://schemas.microsoft.com/office/drawing/2014/main" id="{8FB21911-7890-4F52-8579-53BE6822C23D}"/>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8FF4B7B8-9069-4103-BC30-C942A85F4C7D}"/>
              </a:ext>
            </a:extLst>
          </p:cNvPr>
          <p:cNvSpPr>
            <a:spLocks xmlns:a="http://schemas.openxmlformats.org/drawingml/2006/main" noGrp="1"/>
          </p:cNvSpPr>
          <p:nvPr/>
        </p:nvSpPr>
        <p:spPr>
          <a:xfrm xmlns:a="http://schemas.openxmlformats.org/drawingml/2006/main">
            <a:off x="609600" y="1600200"/>
            <a:ext cx="6667500" cy="3943350"/>
          </a:xfrm>
          <a:prstGeom xmlns:a="http://schemas.openxmlformats.org/drawingml/2006/main" prst="roundRect">
            <a:avLst>
              <a:gd name="adj" fmla="val 1932"/>
            </a:avLst>
          </a:prstGeom>
          <a:solidFill xmlns:a="http://schemas.openxmlformats.org/drawingml/2006/main">
            <a:srgbClr val="090C10"/>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20EFC94A-A33C-483C-9FA6-6B3F7D22101A}"/>
              </a:ext>
            </a:extLst>
          </p:cNvPr>
          <p:cNvSpPr>
            <a:spLocks xmlns:a="http://schemas.openxmlformats.org/drawingml/2006/main" noGrp="1"/>
          </p:cNvSpPr>
          <p:nvPr/>
        </p:nvSpPr>
        <p:spPr>
          <a:xfrm xmlns:a="http://schemas.openxmlformats.org/drawingml/2006/main">
            <a:off x="609600" y="1600200"/>
            <a:ext cx="76200" cy="394335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7FC32B9-C9F5-448B-AF3C-CB4BF74BD1AC}"/>
              </a:ext>
            </a:extLst>
          </p:cNvPr>
          <p:cNvSpPr>
            <a:spLocks xmlns:a="http://schemas.openxmlformats.org/drawingml/2006/main" noGrp="1"/>
          </p:cNvSpPr>
          <p:nvPr/>
        </p:nvSpPr>
        <p:spPr>
          <a:xfrm xmlns:a="http://schemas.openxmlformats.org/drawingml/2006/main">
            <a:off x="838200" y="1752600"/>
            <a:ext cx="6248400" cy="3638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push -u origin feature/login</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GitHub CLI</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gh pr create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--base main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--head feature/login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--title "Add login validation"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--body "Closes #12"</a:t>
            </a:r>
          </a:p>
        </p:txBody>
      </p:sp>
      <p:sp>
        <p:nvSpPr>
          <p:cNvPr id="9" name="">
            <a:extLst xmlns:a="http://schemas.openxmlformats.org/drawingml/2006/main">
              <a:ext uri="{FF2B5EF4-FFF2-40B4-BE49-F238E27FC236}">
                <a16:creationId xmlns:a16="http://schemas.microsoft.com/office/drawing/2014/main" id="{8B98BCBE-0F82-4D4E-8655-7CBF9060AD92}"/>
              </a:ext>
            </a:extLst>
          </p:cNvPr>
          <p:cNvSpPr>
            <a:spLocks xmlns:a="http://schemas.openxmlformats.org/drawingml/2006/main" noGrp="1"/>
          </p:cNvSpPr>
          <p:nvPr/>
        </p:nvSpPr>
        <p:spPr>
          <a:xfrm xmlns:a="http://schemas.openxmlformats.org/drawingml/2006/main">
            <a:off x="7581900" y="1600200"/>
            <a:ext cx="4000500" cy="3943350"/>
          </a:xfrm>
          <a:prstGeom xmlns:a="http://schemas.openxmlformats.org/drawingml/2006/main" prst="roundRect">
            <a:avLst>
              <a:gd name="adj" fmla="val 1932"/>
            </a:avLst>
          </a:prstGeom>
          <a:solidFill xmlns:a="http://schemas.openxmlformats.org/drawingml/2006/main">
            <a:srgbClr val="21262D"/>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23B9E30E-41CD-49E2-8A1F-1278522DE6DC}"/>
              </a:ext>
            </a:extLst>
          </p:cNvPr>
          <p:cNvSpPr>
            <a:spLocks xmlns:a="http://schemas.openxmlformats.org/drawingml/2006/main" noGrp="1"/>
          </p:cNvSpPr>
          <p:nvPr/>
        </p:nvSpPr>
        <p:spPr>
          <a:xfrm xmlns:a="http://schemas.openxmlformats.org/drawingml/2006/main">
            <a:off x="7848600" y="182880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52"/>
          </a:bodyPr>
          <a:lstStyle xmlns:a="http://schemas.openxmlformats.org/drawingml/2006/main"/>
          <a:p xmlns:a="http://schemas.openxmlformats.org/drawingml/2006/main">
            <a:pPr algn="l">
              <a:defRPr sz="1725" b="1">
                <a:solidFill>
                  <a:srgbClr val="3FB950"/>
                </a:solidFill>
                <a:latin typeface="DejaVu Sans"/>
                <a:ea typeface="DejaVu Sans"/>
                <a:cs typeface="DejaVu Sans"/>
              </a:defRPr>
            </a:pPr>
            <a:r>
              <a:rPr sz="1725" b="1">
                <a:solidFill>
                  <a:srgbClr val="3FB950"/>
                </a:solidFill>
                <a:latin typeface="DejaVu Sans"/>
                <a:ea typeface="DejaVu Sans"/>
                <a:cs typeface="DejaVu Sans"/>
              </a:rPr>
              <a:t>Using the GitHub website</a:t>
            </a:r>
          </a:p>
        </p:txBody>
      </p:sp>
      <p:sp>
        <p:nvSpPr>
          <p:cNvPr id="11" name="">
            <a:extLst xmlns:a="http://schemas.openxmlformats.org/drawingml/2006/main">
              <a:ext uri="{FF2B5EF4-FFF2-40B4-BE49-F238E27FC236}">
                <a16:creationId xmlns:a16="http://schemas.microsoft.com/office/drawing/2014/main" id="{EDF990C3-00BE-4961-B90D-08C9239D8806}"/>
              </a:ext>
            </a:extLst>
          </p:cNvPr>
          <p:cNvSpPr>
            <a:spLocks xmlns:a="http://schemas.openxmlformats.org/drawingml/2006/main" noGrp="1"/>
          </p:cNvSpPr>
          <p:nvPr/>
        </p:nvSpPr>
        <p:spPr>
          <a:xfrm xmlns:a="http://schemas.openxmlformats.org/drawingml/2006/main">
            <a:off x="7848600" y="2381250"/>
            <a:ext cx="34671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1. Open the repository</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2. Select Compare &amp; pull request</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3. Verify base and compare</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4. Explain what changed and why</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5. Add reviewers and create the PR</a:t>
            </a:r>
          </a:p>
        </p:txBody>
      </p:sp>
    </p:spTree>
    <p:extLst>
      <p:ext uri="{BB962C8B-B14F-4D97-AF65-F5344CB8AC3E}">
        <p14:creationId xmlns:p14="http://schemas.microsoft.com/office/powerpoint/2010/main" val="228320352"/>
      </p:ext>
    </p:extLst>
  </p:cSld>
</p:sld>
</file>

<file path=ppt/slides/slide15.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9A33B6A-EE0E-4187-9C0B-832CAC97A58A}"/>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Review checks code and transfers knowledge</a:t>
            </a:r>
          </a:p>
        </p:txBody>
      </p:sp>
      <p:sp>
        <p:nvSpPr>
          <p:cNvPr id="2" name="">
            <a:extLst xmlns:a="http://schemas.openxmlformats.org/drawingml/2006/main">
              <a:ext uri="{FF2B5EF4-FFF2-40B4-BE49-F238E27FC236}">
                <a16:creationId xmlns:a16="http://schemas.microsoft.com/office/drawing/2014/main" id="{579096F2-B293-4552-A814-594291A18882}"/>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The author responds with new commits in the same branch</a:t>
            </a:r>
          </a:p>
        </p:txBody>
      </p:sp>
      <p:sp>
        <p:nvSpPr>
          <p:cNvPr id="3" name="">
            <a:extLst xmlns:a="http://schemas.openxmlformats.org/drawingml/2006/main">
              <a:ext uri="{FF2B5EF4-FFF2-40B4-BE49-F238E27FC236}">
                <a16:creationId xmlns:a16="http://schemas.microsoft.com/office/drawing/2014/main" id="{40EC4716-9E16-4726-94CB-4C6BDB9BDA73}"/>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65F573-AA46-4D73-A53D-926D90A09CFB}"/>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15</a:t>
            </a:r>
          </a:p>
        </p:txBody>
      </p:sp>
      <p:sp>
        <p:nvSpPr>
          <p:cNvPr id="5" name="">
            <a:extLst xmlns:a="http://schemas.openxmlformats.org/drawingml/2006/main">
              <a:ext uri="{FF2B5EF4-FFF2-40B4-BE49-F238E27FC236}">
                <a16:creationId xmlns:a16="http://schemas.microsoft.com/office/drawing/2014/main" id="{3360615B-AF90-4291-A08F-B698A5AD6F24}"/>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AE412F63-1A78-4456-8BED-4689686CD86E}"/>
              </a:ext>
            </a:extLst>
          </p:cNvPr>
          <p:cNvSpPr>
            <a:spLocks xmlns:a="http://schemas.openxmlformats.org/drawingml/2006/main" noGrp="1"/>
          </p:cNvSpPr>
          <p:nvPr/>
        </p:nvSpPr>
        <p:spPr>
          <a:xfrm xmlns:a="http://schemas.openxmlformats.org/drawingml/2006/main">
            <a:off x="609600" y="1714500"/>
            <a:ext cx="3276600" cy="3143250"/>
          </a:xfrm>
          <a:prstGeom xmlns:a="http://schemas.openxmlformats.org/drawingml/2006/main" prst="roundRect">
            <a:avLst>
              <a:gd name="adj" fmla="val 2424"/>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C3A48A66-6035-4857-994E-FAC01301257D}"/>
              </a:ext>
            </a:extLst>
          </p:cNvPr>
          <p:cNvSpPr>
            <a:spLocks xmlns:a="http://schemas.openxmlformats.org/drawingml/2006/main" noGrp="1"/>
          </p:cNvSpPr>
          <p:nvPr/>
        </p:nvSpPr>
        <p:spPr>
          <a:xfrm xmlns:a="http://schemas.openxmlformats.org/drawingml/2006/main">
            <a:off x="876300" y="1962150"/>
            <a:ext cx="2743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A371F7"/>
                </a:solidFill>
                <a:latin typeface="DejaVu Sans"/>
                <a:ea typeface="DejaVu Sans"/>
                <a:cs typeface="DejaVu Sans"/>
              </a:defRPr>
            </a:pPr>
            <a:r>
              <a:rPr sz="1800" b="1">
                <a:solidFill>
                  <a:srgbClr val="A371F7"/>
                </a:solidFill>
                <a:latin typeface="DejaVu Sans"/>
                <a:ea typeface="DejaVu Sans"/>
                <a:cs typeface="DejaVu Sans"/>
              </a:rPr>
              <a:t>Author</a:t>
            </a:r>
          </a:p>
        </p:txBody>
      </p:sp>
      <p:sp>
        <p:nvSpPr>
          <p:cNvPr id="8" name="">
            <a:extLst xmlns:a="http://schemas.openxmlformats.org/drawingml/2006/main">
              <a:ext uri="{FF2B5EF4-FFF2-40B4-BE49-F238E27FC236}">
                <a16:creationId xmlns:a16="http://schemas.microsoft.com/office/drawing/2014/main" id="{44E97A4A-C5A0-43D5-A016-3174C4E76CED}"/>
              </a:ext>
            </a:extLst>
          </p:cNvPr>
          <p:cNvSpPr>
            <a:spLocks xmlns:a="http://schemas.openxmlformats.org/drawingml/2006/main" noGrp="1"/>
          </p:cNvSpPr>
          <p:nvPr/>
        </p:nvSpPr>
        <p:spPr>
          <a:xfrm xmlns:a="http://schemas.openxmlformats.org/drawingml/2006/main">
            <a:off x="895350" y="2686050"/>
            <a:ext cx="27051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explains context</a:t>
            </a:r>
          </a:p>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keeps the PR small</a:t>
            </a:r>
          </a:p>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responds to feedback</a:t>
            </a:r>
          </a:p>
        </p:txBody>
      </p:sp>
      <p:sp>
        <p:nvSpPr>
          <p:cNvPr id="9" name="">
            <a:extLst xmlns:a="http://schemas.openxmlformats.org/drawingml/2006/main">
              <a:ext uri="{FF2B5EF4-FFF2-40B4-BE49-F238E27FC236}">
                <a16:creationId xmlns:a16="http://schemas.microsoft.com/office/drawing/2014/main" id="{73192A72-DCEF-41D3-9978-46EDFFBC1155}"/>
              </a:ext>
            </a:extLst>
          </p:cNvPr>
          <p:cNvSpPr>
            <a:spLocks xmlns:a="http://schemas.openxmlformats.org/drawingml/2006/main" noGrp="1"/>
          </p:cNvSpPr>
          <p:nvPr/>
        </p:nvSpPr>
        <p:spPr>
          <a:xfrm xmlns:a="http://schemas.openxmlformats.org/drawingml/2006/main">
            <a:off x="4343400" y="1714500"/>
            <a:ext cx="3276600" cy="3143250"/>
          </a:xfrm>
          <a:prstGeom xmlns:a="http://schemas.openxmlformats.org/drawingml/2006/main" prst="roundRect">
            <a:avLst>
              <a:gd name="adj" fmla="val 2424"/>
            </a:avLst>
          </a:prstGeom>
          <a:solidFill xmlns:a="http://schemas.openxmlformats.org/drawingml/2006/main">
            <a:srgbClr val="161B22"/>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0C265175-505F-4A40-B783-DFFE885E1C7E}"/>
              </a:ext>
            </a:extLst>
          </p:cNvPr>
          <p:cNvSpPr>
            <a:spLocks xmlns:a="http://schemas.openxmlformats.org/drawingml/2006/main" noGrp="1"/>
          </p:cNvSpPr>
          <p:nvPr/>
        </p:nvSpPr>
        <p:spPr>
          <a:xfrm xmlns:a="http://schemas.openxmlformats.org/drawingml/2006/main">
            <a:off x="4610100" y="1962150"/>
            <a:ext cx="2743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58A6FF"/>
                </a:solidFill>
                <a:latin typeface="DejaVu Sans"/>
                <a:ea typeface="DejaVu Sans"/>
                <a:cs typeface="DejaVu Sans"/>
              </a:defRPr>
            </a:pPr>
            <a:r>
              <a:rPr sz="1800" b="1">
                <a:solidFill>
                  <a:srgbClr val="58A6FF"/>
                </a:solidFill>
                <a:latin typeface="DejaVu Sans"/>
                <a:ea typeface="DejaVu Sans"/>
                <a:cs typeface="DejaVu Sans"/>
              </a:rPr>
              <a:t>Reviewer</a:t>
            </a:r>
          </a:p>
        </p:txBody>
      </p:sp>
      <p:sp>
        <p:nvSpPr>
          <p:cNvPr id="11" name="">
            <a:extLst xmlns:a="http://schemas.openxmlformats.org/drawingml/2006/main">
              <a:ext uri="{FF2B5EF4-FFF2-40B4-BE49-F238E27FC236}">
                <a16:creationId xmlns:a16="http://schemas.microsoft.com/office/drawing/2014/main" id="{7012AD79-C8A5-486F-B2C8-9EFFADBCE2B2}"/>
              </a:ext>
            </a:extLst>
          </p:cNvPr>
          <p:cNvSpPr>
            <a:spLocks xmlns:a="http://schemas.openxmlformats.org/drawingml/2006/main" noGrp="1"/>
          </p:cNvSpPr>
          <p:nvPr/>
        </p:nvSpPr>
        <p:spPr>
          <a:xfrm xmlns:a="http://schemas.openxmlformats.org/drawingml/2006/main">
            <a:off x="4629150" y="2686050"/>
            <a:ext cx="27051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checks correctness</a:t>
            </a:r>
          </a:p>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evaluates tests and readability</a:t>
            </a:r>
          </a:p>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explains risks</a:t>
            </a:r>
          </a:p>
        </p:txBody>
      </p:sp>
      <p:sp>
        <p:nvSpPr>
          <p:cNvPr id="12" name="">
            <a:extLst xmlns:a="http://schemas.openxmlformats.org/drawingml/2006/main">
              <a:ext uri="{FF2B5EF4-FFF2-40B4-BE49-F238E27FC236}">
                <a16:creationId xmlns:a16="http://schemas.microsoft.com/office/drawing/2014/main" id="{8D8489EA-3109-44C1-90FF-AB7B2CD8CB5B}"/>
              </a:ext>
            </a:extLst>
          </p:cNvPr>
          <p:cNvSpPr>
            <a:spLocks xmlns:a="http://schemas.openxmlformats.org/drawingml/2006/main" noGrp="1"/>
          </p:cNvSpPr>
          <p:nvPr/>
        </p:nvSpPr>
        <p:spPr>
          <a:xfrm xmlns:a="http://schemas.openxmlformats.org/drawingml/2006/main">
            <a:off x="8077200" y="1714500"/>
            <a:ext cx="3276600" cy="3143250"/>
          </a:xfrm>
          <a:prstGeom xmlns:a="http://schemas.openxmlformats.org/drawingml/2006/main" prst="roundRect">
            <a:avLst>
              <a:gd name="adj" fmla="val 2424"/>
            </a:avLst>
          </a:prstGeom>
          <a:solidFill xmlns:a="http://schemas.openxmlformats.org/drawingml/2006/main">
            <a:srgbClr val="161B22"/>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EB68B169-53BD-42C3-8973-673EDD4151FA}"/>
              </a:ext>
            </a:extLst>
          </p:cNvPr>
          <p:cNvSpPr>
            <a:spLocks xmlns:a="http://schemas.openxmlformats.org/drawingml/2006/main" noGrp="1"/>
          </p:cNvSpPr>
          <p:nvPr/>
        </p:nvSpPr>
        <p:spPr>
          <a:xfrm xmlns:a="http://schemas.openxmlformats.org/drawingml/2006/main">
            <a:off x="8343900" y="1962150"/>
            <a:ext cx="2743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3FB950"/>
                </a:solidFill>
                <a:latin typeface="DejaVu Sans"/>
                <a:ea typeface="DejaVu Sans"/>
                <a:cs typeface="DejaVu Sans"/>
              </a:defRPr>
            </a:pPr>
            <a:r>
              <a:rPr sz="1800" b="1">
                <a:solidFill>
                  <a:srgbClr val="3FB950"/>
                </a:solidFill>
                <a:latin typeface="DejaVu Sans"/>
                <a:ea typeface="DejaVu Sans"/>
                <a:cs typeface="DejaVu Sans"/>
              </a:rPr>
              <a:t>Checks</a:t>
            </a:r>
          </a:p>
        </p:txBody>
      </p:sp>
      <p:sp>
        <p:nvSpPr>
          <p:cNvPr id="14" name="">
            <a:extLst xmlns:a="http://schemas.openxmlformats.org/drawingml/2006/main">
              <a:ext uri="{FF2B5EF4-FFF2-40B4-BE49-F238E27FC236}">
                <a16:creationId xmlns:a16="http://schemas.microsoft.com/office/drawing/2014/main" id="{0F2BC10B-3976-4934-BB7D-8D1A2C6F527C}"/>
              </a:ext>
            </a:extLst>
          </p:cNvPr>
          <p:cNvSpPr>
            <a:spLocks xmlns:a="http://schemas.openxmlformats.org/drawingml/2006/main" noGrp="1"/>
          </p:cNvSpPr>
          <p:nvPr/>
        </p:nvSpPr>
        <p:spPr>
          <a:xfrm xmlns:a="http://schemas.openxmlformats.org/drawingml/2006/main">
            <a:off x="8362950" y="2686050"/>
            <a:ext cx="27051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automatically run tests,</a:t>
            </a:r>
          </a:p>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linting, builds, and</a:t>
            </a:r>
          </a:p>
          <a:p xmlns:a="http://schemas.openxmlformats.org/drawingml/2006/main">
            <a:pPr algn="ctr">
              <a:defRPr sz="1425" b="0">
                <a:solidFill>
                  <a:srgbClr val="F0F6FC"/>
                </a:solidFill>
                <a:latin typeface="DejaVu Sans"/>
                <a:ea typeface="DejaVu Sans"/>
                <a:cs typeface="DejaVu Sans"/>
              </a:defRPr>
            </a:pPr>
            <a:r>
              <a:rPr sz="1425" b="0">
                <a:solidFill>
                  <a:srgbClr val="F0F6FC"/>
                </a:solidFill>
                <a:latin typeface="DejaVu Sans"/>
                <a:ea typeface="DejaVu Sans"/>
                <a:cs typeface="DejaVu Sans"/>
              </a:rPr>
              <a:t>security checks</a:t>
            </a:r>
          </a:p>
        </p:txBody>
      </p:sp>
      <p:sp>
        <p:nvSpPr>
          <p:cNvPr id="15" name="">
            <a:extLst xmlns:a="http://schemas.openxmlformats.org/drawingml/2006/main">
              <a:ext uri="{FF2B5EF4-FFF2-40B4-BE49-F238E27FC236}">
                <a16:creationId xmlns:a16="http://schemas.microsoft.com/office/drawing/2014/main" id="{5C0095A4-1A52-45A7-8CEE-939AA0DF6C5F}"/>
              </a:ext>
            </a:extLst>
          </p:cNvPr>
          <p:cNvSpPr>
            <a:spLocks xmlns:a="http://schemas.openxmlformats.org/drawingml/2006/main" noGrp="1"/>
          </p:cNvSpPr>
          <p:nvPr/>
        </p:nvSpPr>
        <p:spPr>
          <a:xfrm xmlns:a="http://schemas.openxmlformats.org/drawingml/2006/main">
            <a:off x="2152650" y="5162550"/>
            <a:ext cx="7886700" cy="838200"/>
          </a:xfrm>
          <a:prstGeom xmlns:a="http://schemas.openxmlformats.org/drawingml/2006/main" prst="roundRect">
            <a:avLst>
              <a:gd name="adj" fmla="val 9091"/>
            </a:avLst>
          </a:prstGeom>
          <a:solidFill xmlns:a="http://schemas.openxmlformats.org/drawingml/2006/main">
            <a:srgbClr val="090C10"/>
          </a:solidFill>
          <a:ln xmlns:a="http://schemas.openxmlformats.org/drawingml/2006/main" w="9525">
            <a:solidFill>
              <a:srgbClr val="30363D"/>
            </a:solidFill>
          </a:ln>
        </p:spPr>
      </p:sp>
      <p:sp>
        <p:nvSpPr>
          <p:cNvPr id="16" name="">
            <a:extLst xmlns:a="http://schemas.openxmlformats.org/drawingml/2006/main">
              <a:ext uri="{FF2B5EF4-FFF2-40B4-BE49-F238E27FC236}">
                <a16:creationId xmlns:a16="http://schemas.microsoft.com/office/drawing/2014/main" id="{109B3972-697F-4C5C-A4BB-E0132213ABEF}"/>
              </a:ext>
            </a:extLst>
          </p:cNvPr>
          <p:cNvSpPr>
            <a:spLocks xmlns:a="http://schemas.openxmlformats.org/drawingml/2006/main" noGrp="1"/>
          </p:cNvSpPr>
          <p:nvPr/>
        </p:nvSpPr>
        <p:spPr>
          <a:xfrm xmlns:a="http://schemas.openxmlformats.org/drawingml/2006/main">
            <a:off x="2152650" y="5162550"/>
            <a:ext cx="76200" cy="838200"/>
          </a:xfrm>
          <a:prstGeom xmlns:a="http://schemas.openxmlformats.org/drawingml/2006/main" prst="rect">
            <a:avLst/>
          </a:prstGeom>
          <a:solidFill xmlns:a="http://schemas.openxmlformats.org/drawingml/2006/main">
            <a:srgbClr val="D2992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D7719AE-07DB-4CD5-92A9-042E88CEC4B2}"/>
              </a:ext>
            </a:extLst>
          </p:cNvPr>
          <p:cNvSpPr>
            <a:spLocks xmlns:a="http://schemas.openxmlformats.org/drawingml/2006/main" noGrp="1"/>
          </p:cNvSpPr>
          <p:nvPr/>
        </p:nvSpPr>
        <p:spPr>
          <a:xfrm xmlns:a="http://schemas.openxmlformats.org/drawingml/2006/main">
            <a:off x="2381250" y="5314950"/>
            <a:ext cx="746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6863"/>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correction after review</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add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commit -m "fix: handle empty email"</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push</a:t>
            </a:r>
          </a:p>
        </p:txBody>
      </p:sp>
    </p:spTree>
    <p:extLst>
      <p:ext uri="{BB962C8B-B14F-4D97-AF65-F5344CB8AC3E}">
        <p14:creationId xmlns:p14="http://schemas.microsoft.com/office/powerpoint/2010/main" val="440409609"/>
      </p:ext>
    </p:extLst>
  </p:cSld>
</p:sld>
</file>

<file path=ppt/slides/slide16.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37764C-04C5-4F33-B9E3-2E1F9B35ED73}"/>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Three Pull Request merge strategies</a:t>
            </a:r>
          </a:p>
        </p:txBody>
      </p:sp>
      <p:sp>
        <p:nvSpPr>
          <p:cNvPr id="2" name="">
            <a:extLst xmlns:a="http://schemas.openxmlformats.org/drawingml/2006/main">
              <a:ext uri="{FF2B5EF4-FFF2-40B4-BE49-F238E27FC236}">
                <a16:creationId xmlns:a16="http://schemas.microsoft.com/office/drawing/2014/main" id="{8BB0A3F0-65F3-428D-9AE5-02DCB01DAC8C}"/>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The choice changes history shape, not the resulting files</a:t>
            </a:r>
          </a:p>
        </p:txBody>
      </p:sp>
      <p:sp>
        <p:nvSpPr>
          <p:cNvPr id="3" name="">
            <a:extLst xmlns:a="http://schemas.openxmlformats.org/drawingml/2006/main">
              <a:ext uri="{FF2B5EF4-FFF2-40B4-BE49-F238E27FC236}">
                <a16:creationId xmlns:a16="http://schemas.microsoft.com/office/drawing/2014/main" id="{AA7B91E0-A074-4876-AA91-8041729695B9}"/>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A1CB72-17AA-44EA-9E78-84ED5704BDD9}"/>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16</a:t>
            </a:r>
          </a:p>
        </p:txBody>
      </p:sp>
      <p:sp>
        <p:nvSpPr>
          <p:cNvPr id="5" name="">
            <a:extLst xmlns:a="http://schemas.openxmlformats.org/drawingml/2006/main">
              <a:ext uri="{FF2B5EF4-FFF2-40B4-BE49-F238E27FC236}">
                <a16:creationId xmlns:a16="http://schemas.microsoft.com/office/drawing/2014/main" id="{77A25B0D-A595-49D7-8B9E-46AFA66015FD}"/>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1A65F6E9-E8DC-4301-9C33-638C9A98677A}"/>
              </a:ext>
            </a:extLst>
          </p:cNvPr>
          <p:cNvSpPr>
            <a:spLocks xmlns:a="http://schemas.openxmlformats.org/drawingml/2006/main" noGrp="1"/>
          </p:cNvSpPr>
          <p:nvPr/>
        </p:nvSpPr>
        <p:spPr>
          <a:xfrm xmlns:a="http://schemas.openxmlformats.org/drawingml/2006/main">
            <a:off x="609600" y="1657350"/>
            <a:ext cx="3276600" cy="3790950"/>
          </a:xfrm>
          <a:prstGeom xmlns:a="http://schemas.openxmlformats.org/drawingml/2006/main" prst="roundRect">
            <a:avLst>
              <a:gd name="adj" fmla="val 2326"/>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426C1FC3-8E7D-4024-9085-CB2D1097F2B5}"/>
              </a:ext>
            </a:extLst>
          </p:cNvPr>
          <p:cNvSpPr>
            <a:spLocks xmlns:a="http://schemas.openxmlformats.org/drawingml/2006/main" noGrp="1"/>
          </p:cNvSpPr>
          <p:nvPr/>
        </p:nvSpPr>
        <p:spPr>
          <a:xfrm xmlns:a="http://schemas.openxmlformats.org/drawingml/2006/main">
            <a:off x="838200" y="1885950"/>
            <a:ext cx="281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58A6FF"/>
                </a:solidFill>
                <a:latin typeface="DejaVu Sans"/>
                <a:ea typeface="DejaVu Sans"/>
                <a:cs typeface="DejaVu Sans"/>
              </a:defRPr>
            </a:pPr>
            <a:r>
              <a:rPr sz="1725" b="1">
                <a:solidFill>
                  <a:srgbClr val="58A6FF"/>
                </a:solidFill>
                <a:latin typeface="DejaVu Sans"/>
                <a:ea typeface="DejaVu Sans"/>
                <a:cs typeface="DejaVu Sans"/>
              </a:rPr>
              <a:t>Merge commit</a:t>
            </a:r>
          </a:p>
        </p:txBody>
      </p:sp>
      <p:sp>
        <p:nvSpPr>
          <p:cNvPr id="8" name="">
            <a:extLst xmlns:a="http://schemas.openxmlformats.org/drawingml/2006/main">
              <a:ext uri="{FF2B5EF4-FFF2-40B4-BE49-F238E27FC236}">
                <a16:creationId xmlns:a16="http://schemas.microsoft.com/office/drawing/2014/main" id="{DA4C8890-D926-4246-A3FD-A9055972E3A8}"/>
              </a:ext>
            </a:extLst>
          </p:cNvPr>
          <p:cNvSpPr>
            <a:spLocks xmlns:a="http://schemas.openxmlformats.org/drawingml/2006/main" noGrp="1"/>
          </p:cNvSpPr>
          <p:nvPr/>
        </p:nvSpPr>
        <p:spPr>
          <a:xfrm xmlns:a="http://schemas.openxmlformats.org/drawingml/2006/main">
            <a:off x="876300" y="27241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Keeps all commits and creates a separate merge commit</a:t>
            </a:r>
          </a:p>
        </p:txBody>
      </p:sp>
      <p:sp>
        <p:nvSpPr>
          <p:cNvPr id="9" name="">
            <a:extLst xmlns:a="http://schemas.openxmlformats.org/drawingml/2006/main">
              <a:ext uri="{FF2B5EF4-FFF2-40B4-BE49-F238E27FC236}">
                <a16:creationId xmlns:a16="http://schemas.microsoft.com/office/drawing/2014/main" id="{C8C17386-AF56-46AA-A9AB-669BD30C78FB}"/>
              </a:ext>
            </a:extLst>
          </p:cNvPr>
          <p:cNvSpPr>
            <a:spLocks xmlns:a="http://schemas.openxmlformats.org/drawingml/2006/main" noGrp="1"/>
          </p:cNvSpPr>
          <p:nvPr/>
        </p:nvSpPr>
        <p:spPr>
          <a:xfrm xmlns:a="http://schemas.openxmlformats.org/drawingml/2006/main">
            <a:off x="876300" y="4057650"/>
            <a:ext cx="2743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8B949E"/>
                </a:solidFill>
                <a:latin typeface="DejaVu Sans"/>
                <a:ea typeface="DejaVu Sans"/>
                <a:cs typeface="DejaVu Sans"/>
              </a:defRPr>
            </a:pPr>
            <a:r>
              <a:rPr sz="1275" b="0">
                <a:solidFill>
                  <a:srgbClr val="8B949E"/>
                </a:solidFill>
                <a:latin typeface="DejaVu Sans"/>
                <a:ea typeface="DejaVu Sans"/>
                <a:cs typeface="DejaVu Sans"/>
              </a:rPr>
              <a:t>Useful when branch structure matters</a:t>
            </a:r>
          </a:p>
        </p:txBody>
      </p:sp>
      <p:sp>
        <p:nvSpPr>
          <p:cNvPr id="10" name="">
            <a:extLst xmlns:a="http://schemas.openxmlformats.org/drawingml/2006/main">
              <a:ext uri="{FF2B5EF4-FFF2-40B4-BE49-F238E27FC236}">
                <a16:creationId xmlns:a16="http://schemas.microsoft.com/office/drawing/2014/main" id="{525A5C79-A874-40E2-A46B-64004503F59E}"/>
              </a:ext>
            </a:extLst>
          </p:cNvPr>
          <p:cNvSpPr>
            <a:spLocks xmlns:a="http://schemas.openxmlformats.org/drawingml/2006/main" noGrp="1"/>
          </p:cNvSpPr>
          <p:nvPr/>
        </p:nvSpPr>
        <p:spPr>
          <a:xfrm xmlns:a="http://schemas.openxmlformats.org/drawingml/2006/main">
            <a:off x="4343400" y="1657350"/>
            <a:ext cx="3276600" cy="3790950"/>
          </a:xfrm>
          <a:prstGeom xmlns:a="http://schemas.openxmlformats.org/drawingml/2006/main" prst="roundRect">
            <a:avLst>
              <a:gd name="adj" fmla="val 2326"/>
            </a:avLst>
          </a:prstGeom>
          <a:solidFill xmlns:a="http://schemas.openxmlformats.org/drawingml/2006/main">
            <a:srgbClr val="161B22"/>
          </a:solidFill>
          <a:ln xmlns:a="http://schemas.openxmlformats.org/drawingml/2006/main" w="9525">
            <a:solidFill>
              <a:srgbClr val="30363D"/>
            </a:solidFill>
          </a:ln>
        </p:spPr>
      </p:sp>
      <p:sp>
        <p:nvSpPr>
          <p:cNvPr id="11" name="">
            <a:extLst xmlns:a="http://schemas.openxmlformats.org/drawingml/2006/main">
              <a:ext uri="{FF2B5EF4-FFF2-40B4-BE49-F238E27FC236}">
                <a16:creationId xmlns:a16="http://schemas.microsoft.com/office/drawing/2014/main" id="{5C274E63-2A08-407D-A9D4-0C4685A2FC2D}"/>
              </a:ext>
            </a:extLst>
          </p:cNvPr>
          <p:cNvSpPr>
            <a:spLocks xmlns:a="http://schemas.openxmlformats.org/drawingml/2006/main" noGrp="1"/>
          </p:cNvSpPr>
          <p:nvPr/>
        </p:nvSpPr>
        <p:spPr>
          <a:xfrm xmlns:a="http://schemas.openxmlformats.org/drawingml/2006/main">
            <a:off x="4572000" y="1885950"/>
            <a:ext cx="281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3FB950"/>
                </a:solidFill>
                <a:latin typeface="DejaVu Sans"/>
                <a:ea typeface="DejaVu Sans"/>
                <a:cs typeface="DejaVu Sans"/>
              </a:defRPr>
            </a:pPr>
            <a:r>
              <a:rPr sz="1725" b="1">
                <a:solidFill>
                  <a:srgbClr val="3FB950"/>
                </a:solidFill>
                <a:latin typeface="DejaVu Sans"/>
                <a:ea typeface="DejaVu Sans"/>
                <a:cs typeface="DejaVu Sans"/>
              </a:rPr>
              <a:t>Squash and merge</a:t>
            </a:r>
          </a:p>
        </p:txBody>
      </p:sp>
      <p:sp>
        <p:nvSpPr>
          <p:cNvPr id="12" name="">
            <a:extLst xmlns:a="http://schemas.openxmlformats.org/drawingml/2006/main">
              <a:ext uri="{FF2B5EF4-FFF2-40B4-BE49-F238E27FC236}">
                <a16:creationId xmlns:a16="http://schemas.microsoft.com/office/drawing/2014/main" id="{708F0A52-0286-4196-821E-5CB1176F423A}"/>
              </a:ext>
            </a:extLst>
          </p:cNvPr>
          <p:cNvSpPr>
            <a:spLocks xmlns:a="http://schemas.openxmlformats.org/drawingml/2006/main" noGrp="1"/>
          </p:cNvSpPr>
          <p:nvPr/>
        </p:nvSpPr>
        <p:spPr>
          <a:xfrm xmlns:a="http://schemas.openxmlformats.org/drawingml/2006/main">
            <a:off x="4610100" y="27241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Combines all PR commits into one commit</a:t>
            </a:r>
          </a:p>
        </p:txBody>
      </p:sp>
      <p:sp>
        <p:nvSpPr>
          <p:cNvPr id="13" name="">
            <a:extLst xmlns:a="http://schemas.openxmlformats.org/drawingml/2006/main">
              <a:ext uri="{FF2B5EF4-FFF2-40B4-BE49-F238E27FC236}">
                <a16:creationId xmlns:a16="http://schemas.microsoft.com/office/drawing/2014/main" id="{260E9908-7A5F-4B51-A7FE-8A8D9F478D61}"/>
              </a:ext>
            </a:extLst>
          </p:cNvPr>
          <p:cNvSpPr>
            <a:spLocks xmlns:a="http://schemas.openxmlformats.org/drawingml/2006/main" noGrp="1"/>
          </p:cNvSpPr>
          <p:nvPr/>
        </p:nvSpPr>
        <p:spPr>
          <a:xfrm xmlns:a="http://schemas.openxmlformats.org/drawingml/2006/main">
            <a:off x="4610100" y="4057650"/>
            <a:ext cx="2743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8B949E"/>
                </a:solidFill>
                <a:latin typeface="DejaVu Sans"/>
                <a:ea typeface="DejaVu Sans"/>
                <a:cs typeface="DejaVu Sans"/>
              </a:defRPr>
            </a:pPr>
            <a:r>
              <a:rPr sz="1275" b="0">
                <a:solidFill>
                  <a:srgbClr val="8B949E"/>
                </a:solidFill>
                <a:latin typeface="DejaVu Sans"/>
                <a:ea typeface="DejaVu Sans"/>
                <a:cs typeface="DejaVu Sans"/>
              </a:rPr>
              <a:t>A clean history for small PRs</a:t>
            </a:r>
          </a:p>
        </p:txBody>
      </p:sp>
      <p:sp>
        <p:nvSpPr>
          <p:cNvPr id="14" name="">
            <a:extLst xmlns:a="http://schemas.openxmlformats.org/drawingml/2006/main">
              <a:ext uri="{FF2B5EF4-FFF2-40B4-BE49-F238E27FC236}">
                <a16:creationId xmlns:a16="http://schemas.microsoft.com/office/drawing/2014/main" id="{3B76EA65-ADC0-46D1-9AEF-B86288AAB4BA}"/>
              </a:ext>
            </a:extLst>
          </p:cNvPr>
          <p:cNvSpPr>
            <a:spLocks xmlns:a="http://schemas.openxmlformats.org/drawingml/2006/main" noGrp="1"/>
          </p:cNvSpPr>
          <p:nvPr/>
        </p:nvSpPr>
        <p:spPr>
          <a:xfrm xmlns:a="http://schemas.openxmlformats.org/drawingml/2006/main">
            <a:off x="8077200" y="1657350"/>
            <a:ext cx="3276600" cy="3790950"/>
          </a:xfrm>
          <a:prstGeom xmlns:a="http://schemas.openxmlformats.org/drawingml/2006/main" prst="roundRect">
            <a:avLst>
              <a:gd name="adj" fmla="val 2326"/>
            </a:avLst>
          </a:prstGeom>
          <a:solidFill xmlns:a="http://schemas.openxmlformats.org/drawingml/2006/main">
            <a:srgbClr val="161B22"/>
          </a:solidFill>
          <a:ln xmlns:a="http://schemas.openxmlformats.org/drawingml/2006/main" w="9525">
            <a:solidFill>
              <a:srgbClr val="30363D"/>
            </a:solidFill>
          </a:ln>
        </p:spPr>
      </p:sp>
      <p:sp>
        <p:nvSpPr>
          <p:cNvPr id="15" name="">
            <a:extLst xmlns:a="http://schemas.openxmlformats.org/drawingml/2006/main">
              <a:ext uri="{FF2B5EF4-FFF2-40B4-BE49-F238E27FC236}">
                <a16:creationId xmlns:a16="http://schemas.microsoft.com/office/drawing/2014/main" id="{75D6F9CD-05D6-43CE-A116-54C354BBEC58}"/>
              </a:ext>
            </a:extLst>
          </p:cNvPr>
          <p:cNvSpPr>
            <a:spLocks xmlns:a="http://schemas.openxmlformats.org/drawingml/2006/main" noGrp="1"/>
          </p:cNvSpPr>
          <p:nvPr/>
        </p:nvSpPr>
        <p:spPr>
          <a:xfrm xmlns:a="http://schemas.openxmlformats.org/drawingml/2006/main">
            <a:off x="8305800" y="1885950"/>
            <a:ext cx="281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A371F7"/>
                </a:solidFill>
                <a:latin typeface="DejaVu Sans"/>
                <a:ea typeface="DejaVu Sans"/>
                <a:cs typeface="DejaVu Sans"/>
              </a:defRPr>
            </a:pPr>
            <a:r>
              <a:rPr sz="1725" b="1">
                <a:solidFill>
                  <a:srgbClr val="A371F7"/>
                </a:solidFill>
                <a:latin typeface="DejaVu Sans"/>
                <a:ea typeface="DejaVu Sans"/>
                <a:cs typeface="DejaVu Sans"/>
              </a:rPr>
              <a:t>Rebase and merge</a:t>
            </a:r>
          </a:p>
        </p:txBody>
      </p:sp>
      <p:sp>
        <p:nvSpPr>
          <p:cNvPr id="16" name="">
            <a:extLst xmlns:a="http://schemas.openxmlformats.org/drawingml/2006/main">
              <a:ext uri="{FF2B5EF4-FFF2-40B4-BE49-F238E27FC236}">
                <a16:creationId xmlns:a16="http://schemas.microsoft.com/office/drawing/2014/main" id="{EE401D14-FB02-4C62-BC17-6E69274B86FD}"/>
              </a:ext>
            </a:extLst>
          </p:cNvPr>
          <p:cNvSpPr>
            <a:spLocks xmlns:a="http://schemas.openxmlformats.org/drawingml/2006/main" noGrp="1"/>
          </p:cNvSpPr>
          <p:nvPr/>
        </p:nvSpPr>
        <p:spPr>
          <a:xfrm xmlns:a="http://schemas.openxmlformats.org/drawingml/2006/main">
            <a:off x="8343900" y="27241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Replays commits on top of base without a merge commit</a:t>
            </a:r>
          </a:p>
        </p:txBody>
      </p:sp>
      <p:sp>
        <p:nvSpPr>
          <p:cNvPr id="17" name="">
            <a:extLst xmlns:a="http://schemas.openxmlformats.org/drawingml/2006/main">
              <a:ext uri="{FF2B5EF4-FFF2-40B4-BE49-F238E27FC236}">
                <a16:creationId xmlns:a16="http://schemas.microsoft.com/office/drawing/2014/main" id="{EAD3F41A-4D7A-43BD-98DC-E2B24A702E44}"/>
              </a:ext>
            </a:extLst>
          </p:cNvPr>
          <p:cNvSpPr>
            <a:spLocks xmlns:a="http://schemas.openxmlformats.org/drawingml/2006/main" noGrp="1"/>
          </p:cNvSpPr>
          <p:nvPr/>
        </p:nvSpPr>
        <p:spPr>
          <a:xfrm xmlns:a="http://schemas.openxmlformats.org/drawingml/2006/main">
            <a:off x="8343900" y="4057650"/>
            <a:ext cx="2743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8B949E"/>
                </a:solidFill>
                <a:latin typeface="DejaVu Sans"/>
                <a:ea typeface="DejaVu Sans"/>
                <a:cs typeface="DejaVu Sans"/>
              </a:defRPr>
            </a:pPr>
            <a:r>
              <a:rPr sz="1275" b="0">
                <a:solidFill>
                  <a:srgbClr val="8B949E"/>
                </a:solidFill>
                <a:latin typeface="DejaVu Sans"/>
                <a:ea typeface="DejaVu Sans"/>
                <a:cs typeface="DejaVu Sans"/>
              </a:rPr>
              <a:t>Linear history with each commit retained</a:t>
            </a:r>
          </a:p>
        </p:txBody>
      </p:sp>
    </p:spTree>
    <p:extLst>
      <p:ext uri="{BB962C8B-B14F-4D97-AF65-F5344CB8AC3E}">
        <p14:creationId xmlns:p14="http://schemas.microsoft.com/office/powerpoint/2010/main" val="1444734213"/>
      </p:ext>
    </p:extLst>
  </p:cSld>
</p:sld>
</file>

<file path=ppt/slides/slide17.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CC6646-5589-49BA-A8BB-0B8295227BFE}"/>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A conflict occurs when changes are incompatible</a:t>
            </a:r>
          </a:p>
        </p:txBody>
      </p:sp>
      <p:sp>
        <p:nvSpPr>
          <p:cNvPr id="2" name="">
            <a:extLst xmlns:a="http://schemas.openxmlformats.org/drawingml/2006/main">
              <a:ext uri="{FF2B5EF4-FFF2-40B4-BE49-F238E27FC236}">
                <a16:creationId xmlns:a16="http://schemas.microsoft.com/office/drawing/2014/main" id="{BAB4469D-E795-4355-866E-D4BB3A420EE1}"/>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Git stops and asks a person to choose the final result</a:t>
            </a:r>
          </a:p>
        </p:txBody>
      </p:sp>
      <p:sp>
        <p:nvSpPr>
          <p:cNvPr id="3" name="">
            <a:extLst xmlns:a="http://schemas.openxmlformats.org/drawingml/2006/main">
              <a:ext uri="{FF2B5EF4-FFF2-40B4-BE49-F238E27FC236}">
                <a16:creationId xmlns:a16="http://schemas.microsoft.com/office/drawing/2014/main" id="{9FE1FB9B-52F9-41D0-B67F-E0349B9E2583}"/>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5BC025-208F-4D75-A4A6-319462BDB97C}"/>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17</a:t>
            </a:r>
          </a:p>
        </p:txBody>
      </p:sp>
      <p:sp>
        <p:nvSpPr>
          <p:cNvPr id="5" name="">
            <a:extLst xmlns:a="http://schemas.openxmlformats.org/drawingml/2006/main">
              <a:ext uri="{FF2B5EF4-FFF2-40B4-BE49-F238E27FC236}">
                <a16:creationId xmlns:a16="http://schemas.microsoft.com/office/drawing/2014/main" id="{BC866E8D-B2FE-498F-8ACA-112BA04634B0}"/>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BC39404E-2FA6-490D-AA26-7609D4284E11}"/>
              </a:ext>
            </a:extLst>
          </p:cNvPr>
          <p:cNvSpPr>
            <a:spLocks xmlns:a="http://schemas.openxmlformats.org/drawingml/2006/main" noGrp="1"/>
          </p:cNvSpPr>
          <p:nvPr/>
        </p:nvSpPr>
        <p:spPr>
          <a:xfrm xmlns:a="http://schemas.openxmlformats.org/drawingml/2006/main">
            <a:off x="609600" y="1600200"/>
            <a:ext cx="6534150" cy="4000500"/>
          </a:xfrm>
          <a:prstGeom xmlns:a="http://schemas.openxmlformats.org/drawingml/2006/main" prst="roundRect">
            <a:avLst>
              <a:gd name="adj" fmla="val 1905"/>
            </a:avLst>
          </a:prstGeom>
          <a:solidFill xmlns:a="http://schemas.openxmlformats.org/drawingml/2006/main">
            <a:srgbClr val="090C10"/>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27EE888E-3775-470B-A769-EB51BEA28021}"/>
              </a:ext>
            </a:extLst>
          </p:cNvPr>
          <p:cNvSpPr>
            <a:spLocks xmlns:a="http://schemas.openxmlformats.org/drawingml/2006/main" noGrp="1"/>
          </p:cNvSpPr>
          <p:nvPr/>
        </p:nvSpPr>
        <p:spPr>
          <a:xfrm xmlns:a="http://schemas.openxmlformats.org/drawingml/2006/main">
            <a:off x="609600" y="1600200"/>
            <a:ext cx="76200" cy="4000500"/>
          </a:xfrm>
          <a:prstGeom xmlns:a="http://schemas.openxmlformats.org/drawingml/2006/main" prst="rect">
            <a:avLst/>
          </a:prstGeom>
          <a:solidFill xmlns:a="http://schemas.openxmlformats.org/drawingml/2006/main">
            <a:srgbClr val="F8514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CEAA1D7-4AC9-47AB-8A56-C869FC0ABEE0}"/>
              </a:ext>
            </a:extLst>
          </p:cNvPr>
          <p:cNvSpPr>
            <a:spLocks xmlns:a="http://schemas.openxmlformats.org/drawingml/2006/main" noGrp="1"/>
          </p:cNvSpPr>
          <p:nvPr/>
        </p:nvSpPr>
        <p:spPr>
          <a:xfrm xmlns:a="http://schemas.openxmlformats.org/drawingml/2006/main">
            <a:off x="838200" y="1752600"/>
            <a:ext cx="6115050" cy="369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switch feature/login</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fetch origin</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merge origin/main</a:t>
            </a:r>
          </a:p>
          <a:p xmlns:a="http://schemas.openxmlformats.org/drawingml/2006/main">
            <a:r>
              <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Git reports a conflict</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&lt;&lt;&lt;&lt;&lt;&lt;&lt; HEAD</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return validateEmail(email);</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return validateCredentials(email, password);</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&gt;&gt;&gt;&gt;&gt;&gt;&gt; origin/main</a:t>
            </a:r>
          </a:p>
        </p:txBody>
      </p:sp>
      <p:sp>
        <p:nvSpPr>
          <p:cNvPr id="9" name="">
            <a:extLst xmlns:a="http://schemas.openxmlformats.org/drawingml/2006/main">
              <a:ext uri="{FF2B5EF4-FFF2-40B4-BE49-F238E27FC236}">
                <a16:creationId xmlns:a16="http://schemas.microsoft.com/office/drawing/2014/main" id="{E7992193-7638-441A-BDED-0E0245E2DF9A}"/>
              </a:ext>
            </a:extLst>
          </p:cNvPr>
          <p:cNvSpPr>
            <a:spLocks xmlns:a="http://schemas.openxmlformats.org/drawingml/2006/main" noGrp="1"/>
          </p:cNvSpPr>
          <p:nvPr/>
        </p:nvSpPr>
        <p:spPr>
          <a:xfrm xmlns:a="http://schemas.openxmlformats.org/drawingml/2006/main">
            <a:off x="7448550" y="1600200"/>
            <a:ext cx="4133850" cy="4000500"/>
          </a:xfrm>
          <a:prstGeom xmlns:a="http://schemas.openxmlformats.org/drawingml/2006/main" prst="roundRect">
            <a:avLst>
              <a:gd name="adj" fmla="val 1905"/>
            </a:avLst>
          </a:prstGeom>
          <a:solidFill xmlns:a="http://schemas.openxmlformats.org/drawingml/2006/main">
            <a:srgbClr val="21262D"/>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400589F7-63A9-45CD-A8A2-A10A050BD869}"/>
              </a:ext>
            </a:extLst>
          </p:cNvPr>
          <p:cNvSpPr>
            <a:spLocks xmlns:a="http://schemas.openxmlformats.org/drawingml/2006/main" noGrp="1"/>
          </p:cNvSpPr>
          <p:nvPr/>
        </p:nvSpPr>
        <p:spPr>
          <a:xfrm xmlns:a="http://schemas.openxmlformats.org/drawingml/2006/main">
            <a:off x="7715250" y="182880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D29922"/>
                </a:solidFill>
                <a:latin typeface="DejaVu Sans"/>
                <a:ea typeface="DejaVu Sans"/>
                <a:cs typeface="DejaVu Sans"/>
              </a:defRPr>
            </a:pPr>
            <a:r>
              <a:rPr sz="1800" b="1">
                <a:solidFill>
                  <a:srgbClr val="D29922"/>
                </a:solidFill>
                <a:latin typeface="DejaVu Sans"/>
                <a:ea typeface="DejaVu Sans"/>
                <a:cs typeface="DejaVu Sans"/>
              </a:rPr>
              <a:t>Resolution</a:t>
            </a:r>
          </a:p>
        </p:txBody>
      </p:sp>
      <p:sp>
        <p:nvSpPr>
          <p:cNvPr id="11" name="">
            <a:extLst xmlns:a="http://schemas.openxmlformats.org/drawingml/2006/main">
              <a:ext uri="{FF2B5EF4-FFF2-40B4-BE49-F238E27FC236}">
                <a16:creationId xmlns:a16="http://schemas.microsoft.com/office/drawing/2014/main" id="{3FDB6A7B-70F0-4D3F-8C55-B0915744DC24}"/>
              </a:ext>
            </a:extLst>
          </p:cNvPr>
          <p:cNvSpPr>
            <a:spLocks xmlns:a="http://schemas.openxmlformats.org/drawingml/2006/main" noGrp="1"/>
          </p:cNvSpPr>
          <p:nvPr/>
        </p:nvSpPr>
        <p:spPr>
          <a:xfrm xmlns:a="http://schemas.openxmlformats.org/drawingml/2006/main">
            <a:off x="7715250" y="2400300"/>
            <a:ext cx="36004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1. Open the conflicted file</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2. Select or combine the correct code</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3. Remove &lt;&lt;&lt;&lt;, ====, &gt;&gt;&gt;&gt; markers</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4. Run the tests</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5. git add &lt;file&gt;</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6. git commit &amp;&amp; git push</a:t>
            </a:r>
          </a:p>
        </p:txBody>
      </p:sp>
    </p:spTree>
    <p:extLst>
      <p:ext uri="{BB962C8B-B14F-4D97-AF65-F5344CB8AC3E}">
        <p14:creationId xmlns:p14="http://schemas.microsoft.com/office/powerpoint/2010/main" val="993171898"/>
      </p:ext>
    </p:extLst>
  </p:cSld>
</p:sld>
</file>

<file path=ppt/slides/slide18.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FCBDE1-1472-4766-9D7D-BB6D0F7EE88C}"/>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An Issue describes work or a problem</a:t>
            </a:r>
          </a:p>
        </p:txBody>
      </p:sp>
      <p:sp>
        <p:nvSpPr>
          <p:cNvPr id="2" name="">
            <a:extLst xmlns:a="http://schemas.openxmlformats.org/drawingml/2006/main">
              <a:ext uri="{FF2B5EF4-FFF2-40B4-BE49-F238E27FC236}">
                <a16:creationId xmlns:a16="http://schemas.microsoft.com/office/drawing/2014/main" id="{1181D912-E122-4573-85D3-7745DDD5E4DE}"/>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A good Issue provides context and a verifiable outcome</a:t>
            </a:r>
          </a:p>
        </p:txBody>
      </p:sp>
      <p:sp>
        <p:nvSpPr>
          <p:cNvPr id="3" name="">
            <a:extLst xmlns:a="http://schemas.openxmlformats.org/drawingml/2006/main">
              <a:ext uri="{FF2B5EF4-FFF2-40B4-BE49-F238E27FC236}">
                <a16:creationId xmlns:a16="http://schemas.microsoft.com/office/drawing/2014/main" id="{65508B91-1B42-4AC3-9F89-01E5C86CFF85}"/>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7452FC-9E8B-47E8-9FA6-E6D2BACAB942}"/>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18</a:t>
            </a:r>
          </a:p>
        </p:txBody>
      </p:sp>
      <p:sp>
        <p:nvSpPr>
          <p:cNvPr id="5" name="">
            <a:extLst xmlns:a="http://schemas.openxmlformats.org/drawingml/2006/main">
              <a:ext uri="{FF2B5EF4-FFF2-40B4-BE49-F238E27FC236}">
                <a16:creationId xmlns:a16="http://schemas.microsoft.com/office/drawing/2014/main" id="{BE6DBDE7-5441-499A-A636-38724F44CFAC}"/>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A5B0D61B-DC15-4B6D-81B5-AE13FBAE108A}"/>
              </a:ext>
            </a:extLst>
          </p:cNvPr>
          <p:cNvSpPr>
            <a:spLocks xmlns:a="http://schemas.openxmlformats.org/drawingml/2006/main" noGrp="1"/>
          </p:cNvSpPr>
          <p:nvPr/>
        </p:nvSpPr>
        <p:spPr>
          <a:xfrm xmlns:a="http://schemas.openxmlformats.org/drawingml/2006/main">
            <a:off x="609600" y="1600200"/>
            <a:ext cx="6953250" cy="4057650"/>
          </a:xfrm>
          <a:prstGeom xmlns:a="http://schemas.openxmlformats.org/drawingml/2006/main" prst="roundRect">
            <a:avLst>
              <a:gd name="adj" fmla="val 1878"/>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13046BAF-92F9-4790-A318-62F62DBA01C3}"/>
              </a:ext>
            </a:extLst>
          </p:cNvPr>
          <p:cNvSpPr>
            <a:spLocks xmlns:a="http://schemas.openxmlformats.org/drawingml/2006/main" noGrp="1"/>
          </p:cNvSpPr>
          <p:nvPr/>
        </p:nvSpPr>
        <p:spPr>
          <a:xfrm xmlns:a="http://schemas.openxmlformats.org/drawingml/2006/main">
            <a:off x="876300" y="1847850"/>
            <a:ext cx="6419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58A6FF"/>
                </a:solidFill>
                <a:latin typeface="DejaVu Sans"/>
                <a:ea typeface="DejaVu Sans"/>
                <a:cs typeface="DejaVu Sans"/>
              </a:defRPr>
            </a:pPr>
            <a:r>
              <a:rPr sz="1800" b="1">
                <a:solidFill>
                  <a:srgbClr val="58A6FF"/>
                </a:solidFill>
                <a:latin typeface="DejaVu Sans"/>
                <a:ea typeface="DejaVu Sans"/>
                <a:cs typeface="DejaVu Sans"/>
              </a:rPr>
              <a:t>Issue #12: Validate the login form</a:t>
            </a:r>
          </a:p>
        </p:txBody>
      </p:sp>
      <p:sp>
        <p:nvSpPr>
          <p:cNvPr id="8" name="">
            <a:extLst xmlns:a="http://schemas.openxmlformats.org/drawingml/2006/main">
              <a:ext uri="{FF2B5EF4-FFF2-40B4-BE49-F238E27FC236}">
                <a16:creationId xmlns:a16="http://schemas.microsoft.com/office/drawing/2014/main" id="{CFA45F7F-C783-45C3-B0A8-F8D64F0A8C11}"/>
              </a:ext>
            </a:extLst>
          </p:cNvPr>
          <p:cNvSpPr>
            <a:spLocks xmlns:a="http://schemas.openxmlformats.org/drawingml/2006/main" noGrp="1"/>
          </p:cNvSpPr>
          <p:nvPr/>
        </p:nvSpPr>
        <p:spPr>
          <a:xfrm xmlns:a="http://schemas.openxmlformats.org/drawingml/2006/main">
            <a:off x="876300" y="2457450"/>
            <a:ext cx="64198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Problem</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The form submits a request with an empty email.</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Expected behavior</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Show the message “Enter an email address.”</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Acceptance criteria</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 an empty field blocks submission</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 a valid email passes validation</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 unit tests are included</a:t>
            </a:r>
          </a:p>
        </p:txBody>
      </p:sp>
      <p:sp>
        <p:nvSpPr>
          <p:cNvPr id="9" name="">
            <a:extLst xmlns:a="http://schemas.openxmlformats.org/drawingml/2006/main">
              <a:ext uri="{FF2B5EF4-FFF2-40B4-BE49-F238E27FC236}">
                <a16:creationId xmlns:a16="http://schemas.microsoft.com/office/drawing/2014/main" id="{7E5CA2EA-02F2-4033-B023-79FBC2F7167C}"/>
              </a:ext>
            </a:extLst>
          </p:cNvPr>
          <p:cNvSpPr>
            <a:spLocks xmlns:a="http://schemas.openxmlformats.org/drawingml/2006/main" noGrp="1"/>
          </p:cNvSpPr>
          <p:nvPr/>
        </p:nvSpPr>
        <p:spPr>
          <a:xfrm xmlns:a="http://schemas.openxmlformats.org/drawingml/2006/main">
            <a:off x="7867650" y="1600200"/>
            <a:ext cx="3714750" cy="4057650"/>
          </a:xfrm>
          <a:prstGeom xmlns:a="http://schemas.openxmlformats.org/drawingml/2006/main" prst="roundRect">
            <a:avLst>
              <a:gd name="adj" fmla="val 2051"/>
            </a:avLst>
          </a:prstGeom>
          <a:solidFill xmlns:a="http://schemas.openxmlformats.org/drawingml/2006/main">
            <a:srgbClr val="21262D"/>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7B551060-8B56-46E2-9005-ADD74AEAE375}"/>
              </a:ext>
            </a:extLst>
          </p:cNvPr>
          <p:cNvSpPr>
            <a:spLocks xmlns:a="http://schemas.openxmlformats.org/drawingml/2006/main" noGrp="1"/>
          </p:cNvSpPr>
          <p:nvPr/>
        </p:nvSpPr>
        <p:spPr>
          <a:xfrm xmlns:a="http://schemas.openxmlformats.org/drawingml/2006/main">
            <a:off x="8134350" y="1847850"/>
            <a:ext cx="318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3FB950"/>
                </a:solidFill>
                <a:latin typeface="DejaVu Sans"/>
                <a:ea typeface="DejaVu Sans"/>
                <a:cs typeface="DejaVu Sans"/>
              </a:defRPr>
            </a:pPr>
            <a:r>
              <a:rPr sz="1800" b="1">
                <a:solidFill>
                  <a:srgbClr val="3FB950"/>
                </a:solidFill>
                <a:latin typeface="DejaVu Sans"/>
                <a:ea typeface="DejaVu Sans"/>
                <a:cs typeface="DejaVu Sans"/>
              </a:rPr>
              <a:t>Metadata</a:t>
            </a:r>
          </a:p>
        </p:txBody>
      </p:sp>
      <p:sp>
        <p:nvSpPr>
          <p:cNvPr id="11" name="">
            <a:extLst xmlns:a="http://schemas.openxmlformats.org/drawingml/2006/main">
              <a:ext uri="{FF2B5EF4-FFF2-40B4-BE49-F238E27FC236}">
                <a16:creationId xmlns:a16="http://schemas.microsoft.com/office/drawing/2014/main" id="{44B218C4-AA79-45AB-924C-8F09637B0712}"/>
              </a:ext>
            </a:extLst>
          </p:cNvPr>
          <p:cNvSpPr>
            <a:spLocks xmlns:a="http://schemas.openxmlformats.org/drawingml/2006/main" noGrp="1"/>
          </p:cNvSpPr>
          <p:nvPr/>
        </p:nvSpPr>
        <p:spPr>
          <a:xfrm xmlns:a="http://schemas.openxmlformats.org/drawingml/2006/main">
            <a:off x="8134350" y="2419350"/>
            <a:ext cx="31813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Assignee</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person responsible</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Labels</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type, priority, area</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Milestone</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release or phase</a:t>
            </a:r>
          </a:p>
          <a:p xmlns:a="http://schemas.openxmlformats.org/drawingml/2006/main">
            <a:r>
              <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Project</a:t>
            </a:r>
          </a:p>
          <a:p xmlns:a="http://schemas.openxmlformats.org/drawingml/2006/main">
            <a:pPr algn="l">
              <a:defRPr sz="1350" b="0">
                <a:solidFill>
                  <a:srgbClr val="F0F6FC"/>
                </a:solidFill>
                <a:latin typeface="DejaVu Sans"/>
                <a:ea typeface="DejaVu Sans"/>
                <a:cs typeface="DejaVu Sans"/>
              </a:defRPr>
            </a:pPr>
            <a:r>
              <a:rPr sz="1350" b="0">
                <a:solidFill>
                  <a:srgbClr val="F0F6FC"/>
                </a:solidFill>
                <a:latin typeface="DejaVu Sans"/>
                <a:ea typeface="DejaVu Sans"/>
                <a:cs typeface="DejaVu Sans"/>
              </a:rPr>
              <a:t>board and status</a:t>
            </a:r>
          </a:p>
        </p:txBody>
      </p:sp>
    </p:spTree>
    <p:extLst>
      <p:ext uri="{BB962C8B-B14F-4D97-AF65-F5344CB8AC3E}">
        <p14:creationId xmlns:p14="http://schemas.microsoft.com/office/powerpoint/2010/main" val="1562837855"/>
      </p:ext>
    </p:extLst>
  </p:cSld>
</p:sld>
</file>

<file path=ppt/slides/slide19.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D181589-EABA-44D8-9260-1A8BAD9DEC9D}"/>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Issues and Pull Requests connect plans to code</a:t>
            </a:r>
          </a:p>
        </p:txBody>
      </p:sp>
      <p:sp>
        <p:nvSpPr>
          <p:cNvPr id="2" name="">
            <a:extLst xmlns:a="http://schemas.openxmlformats.org/drawingml/2006/main">
              <a:ext uri="{FF2B5EF4-FFF2-40B4-BE49-F238E27FC236}">
                <a16:creationId xmlns:a16="http://schemas.microsoft.com/office/drawing/2014/main" id="{3755697C-7DF2-4B37-9938-A6B0494A1655}"/>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One workflow preserves traceability</a:t>
            </a:r>
          </a:p>
        </p:txBody>
      </p:sp>
      <p:sp>
        <p:nvSpPr>
          <p:cNvPr id="3" name="">
            <a:extLst xmlns:a="http://schemas.openxmlformats.org/drawingml/2006/main">
              <a:ext uri="{FF2B5EF4-FFF2-40B4-BE49-F238E27FC236}">
                <a16:creationId xmlns:a16="http://schemas.microsoft.com/office/drawing/2014/main" id="{E5DD8439-CB9E-4066-9F92-4192CAAC861B}"/>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0953D1-33B2-4131-AC34-431B8332DE0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19</a:t>
            </a:r>
          </a:p>
        </p:txBody>
      </p:sp>
      <p:sp>
        <p:nvSpPr>
          <p:cNvPr id="5" name="">
            <a:extLst xmlns:a="http://schemas.openxmlformats.org/drawingml/2006/main">
              <a:ext uri="{FF2B5EF4-FFF2-40B4-BE49-F238E27FC236}">
                <a16:creationId xmlns:a16="http://schemas.microsoft.com/office/drawing/2014/main" id="{79022F3B-CDA4-471C-94CF-C3BA2C706339}"/>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6D70E63C-EDC7-4162-93D0-12B26EB9F546}"/>
              </a:ext>
            </a:extLst>
          </p:cNvPr>
          <p:cNvSpPr>
            <a:spLocks xmlns:a="http://schemas.openxmlformats.org/drawingml/2006/main" noGrp="1"/>
          </p:cNvSpPr>
          <p:nvPr/>
        </p:nvSpPr>
        <p:spPr>
          <a:xfrm xmlns:a="http://schemas.openxmlformats.org/drawingml/2006/main">
            <a:off x="457200" y="2324100"/>
            <a:ext cx="2095500" cy="1600200"/>
          </a:xfrm>
          <a:prstGeom xmlns:a="http://schemas.openxmlformats.org/drawingml/2006/main" prst="roundRect">
            <a:avLst>
              <a:gd name="adj" fmla="val 4762"/>
            </a:avLst>
          </a:prstGeom>
          <a:solidFill xmlns:a="http://schemas.openxmlformats.org/drawingml/2006/main">
            <a:srgbClr val="161B22"/>
          </a:solidFill>
          <a:ln xmlns:a="http://schemas.openxmlformats.org/drawingml/2006/main" w="9525">
            <a:solidFill>
              <a:srgbClr val="D29922"/>
            </a:solidFill>
          </a:ln>
        </p:spPr>
      </p:sp>
      <p:sp>
        <p:nvSpPr>
          <p:cNvPr id="7" name="">
            <a:extLst xmlns:a="http://schemas.openxmlformats.org/drawingml/2006/main">
              <a:ext uri="{FF2B5EF4-FFF2-40B4-BE49-F238E27FC236}">
                <a16:creationId xmlns:a16="http://schemas.microsoft.com/office/drawing/2014/main" id="{84A72EB4-7B9F-42CB-8547-D6885F4F50A1}"/>
              </a:ext>
            </a:extLst>
          </p:cNvPr>
          <p:cNvSpPr>
            <a:spLocks xmlns:a="http://schemas.openxmlformats.org/drawingml/2006/main" noGrp="1"/>
          </p:cNvSpPr>
          <p:nvPr/>
        </p:nvSpPr>
        <p:spPr>
          <a:xfrm xmlns:a="http://schemas.openxmlformats.org/drawingml/2006/main">
            <a:off x="609600" y="25336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D29922"/>
                </a:solidFill>
                <a:latin typeface="DejaVu Sans"/>
                <a:ea typeface="DejaVu Sans"/>
                <a:cs typeface="DejaVu Sans"/>
              </a:defRPr>
            </a:pPr>
            <a:r>
              <a:rPr sz="1650" b="1">
                <a:solidFill>
                  <a:srgbClr val="D29922"/>
                </a:solidFill>
                <a:latin typeface="DejaVu Sans"/>
                <a:ea typeface="DejaVu Sans"/>
                <a:cs typeface="DejaVu Sans"/>
              </a:rPr>
              <a:t>Issue #12</a:t>
            </a:r>
          </a:p>
        </p:txBody>
      </p:sp>
      <p:sp>
        <p:nvSpPr>
          <p:cNvPr id="8" name="">
            <a:extLst xmlns:a="http://schemas.openxmlformats.org/drawingml/2006/main">
              <a:ext uri="{FF2B5EF4-FFF2-40B4-BE49-F238E27FC236}">
                <a16:creationId xmlns:a16="http://schemas.microsoft.com/office/drawing/2014/main" id="{263D1A7B-7FD1-4A57-872A-762BAE7469DA}"/>
              </a:ext>
            </a:extLst>
          </p:cNvPr>
          <p:cNvSpPr>
            <a:spLocks xmlns:a="http://schemas.openxmlformats.org/drawingml/2006/main" noGrp="1"/>
          </p:cNvSpPr>
          <p:nvPr/>
        </p:nvSpPr>
        <p:spPr>
          <a:xfrm xmlns:a="http://schemas.openxmlformats.org/drawingml/2006/main">
            <a:off x="628650" y="3143250"/>
            <a:ext cx="1752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F0F6FC"/>
                </a:solidFill>
                <a:latin typeface="DejaVu Sans"/>
                <a:ea typeface="DejaVu Sans"/>
                <a:cs typeface="DejaVu Sans"/>
              </a:defRPr>
            </a:pPr>
            <a:r>
              <a:rPr sz="1200" b="0">
                <a:solidFill>
                  <a:srgbClr val="F0F6FC"/>
                </a:solidFill>
                <a:latin typeface="DejaVu Sans"/>
                <a:ea typeface="DejaVu Sans"/>
                <a:cs typeface="DejaVu Sans"/>
              </a:rPr>
              <a:t>What is needed and why</a:t>
            </a:r>
          </a:p>
        </p:txBody>
      </p:sp>
      <p:sp>
        <p:nvSpPr>
          <p:cNvPr id="9" name="">
            <a:extLst xmlns:a="http://schemas.openxmlformats.org/drawingml/2006/main">
              <a:ext uri="{FF2B5EF4-FFF2-40B4-BE49-F238E27FC236}">
                <a16:creationId xmlns:a16="http://schemas.microsoft.com/office/drawing/2014/main" id="{B21F38C5-8DEE-4E6D-9DED-77AD7A306CD4}"/>
              </a:ext>
            </a:extLst>
          </p:cNvPr>
          <p:cNvSpPr>
            <a:spLocks xmlns:a="http://schemas.openxmlformats.org/drawingml/2006/main" noGrp="1"/>
          </p:cNvSpPr>
          <p:nvPr/>
        </p:nvSpPr>
        <p:spPr>
          <a:xfrm xmlns:a="http://schemas.openxmlformats.org/drawingml/2006/main">
            <a:off x="2781300" y="2324100"/>
            <a:ext cx="2095500" cy="1600200"/>
          </a:xfrm>
          <a:prstGeom xmlns:a="http://schemas.openxmlformats.org/drawingml/2006/main" prst="roundRect">
            <a:avLst>
              <a:gd name="adj" fmla="val 4762"/>
            </a:avLst>
          </a:prstGeom>
          <a:solidFill xmlns:a="http://schemas.openxmlformats.org/drawingml/2006/main">
            <a:srgbClr val="161B22"/>
          </a:solidFill>
          <a:ln xmlns:a="http://schemas.openxmlformats.org/drawingml/2006/main" w="9525">
            <a:solidFill>
              <a:srgbClr val="A371F7"/>
            </a:solidFill>
          </a:ln>
        </p:spPr>
      </p:sp>
      <p:sp>
        <p:nvSpPr>
          <p:cNvPr id="10" name="">
            <a:extLst xmlns:a="http://schemas.openxmlformats.org/drawingml/2006/main">
              <a:ext uri="{FF2B5EF4-FFF2-40B4-BE49-F238E27FC236}">
                <a16:creationId xmlns:a16="http://schemas.microsoft.com/office/drawing/2014/main" id="{D57F3644-3F3F-4B91-A582-3D38C46DC965}"/>
              </a:ext>
            </a:extLst>
          </p:cNvPr>
          <p:cNvSpPr>
            <a:spLocks xmlns:a="http://schemas.openxmlformats.org/drawingml/2006/main" noGrp="1"/>
          </p:cNvSpPr>
          <p:nvPr/>
        </p:nvSpPr>
        <p:spPr>
          <a:xfrm xmlns:a="http://schemas.openxmlformats.org/drawingml/2006/main">
            <a:off x="2933700" y="25336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A371F7"/>
                </a:solidFill>
                <a:latin typeface="DejaVu Sans"/>
                <a:ea typeface="DejaVu Sans"/>
                <a:cs typeface="DejaVu Sans"/>
              </a:defRPr>
            </a:pPr>
            <a:r>
              <a:rPr sz="1650" b="1">
                <a:solidFill>
                  <a:srgbClr val="A371F7"/>
                </a:solidFill>
                <a:latin typeface="DejaVu Sans"/>
                <a:ea typeface="DejaVu Sans"/>
                <a:cs typeface="DejaVu Sans"/>
              </a:rPr>
              <a:t>Branch</a:t>
            </a:r>
          </a:p>
        </p:txBody>
      </p:sp>
      <p:sp>
        <p:nvSpPr>
          <p:cNvPr id="11" name="">
            <a:extLst xmlns:a="http://schemas.openxmlformats.org/drawingml/2006/main">
              <a:ext uri="{FF2B5EF4-FFF2-40B4-BE49-F238E27FC236}">
                <a16:creationId xmlns:a16="http://schemas.microsoft.com/office/drawing/2014/main" id="{2077574F-5915-4B24-943E-3C82339C231D}"/>
              </a:ext>
            </a:extLst>
          </p:cNvPr>
          <p:cNvSpPr>
            <a:spLocks xmlns:a="http://schemas.openxmlformats.org/drawingml/2006/main" noGrp="1"/>
          </p:cNvSpPr>
          <p:nvPr/>
        </p:nvSpPr>
        <p:spPr>
          <a:xfrm xmlns:a="http://schemas.openxmlformats.org/drawingml/2006/main">
            <a:off x="2952750" y="3143250"/>
            <a:ext cx="1752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F0F6FC"/>
                </a:solidFill>
                <a:latin typeface="DejaVu Sans"/>
                <a:ea typeface="DejaVu Sans"/>
                <a:cs typeface="DejaVu Sans"/>
              </a:defRPr>
            </a:pPr>
            <a:r>
              <a:rPr sz="1200" b="0">
                <a:solidFill>
                  <a:srgbClr val="F0F6FC"/>
                </a:solidFill>
                <a:latin typeface="DejaVu Sans"/>
                <a:ea typeface="DejaVu Sans"/>
                <a:cs typeface="DejaVu Sans"/>
              </a:rPr>
              <a:t>issue-12-login-validation</a:t>
            </a:r>
          </a:p>
        </p:txBody>
      </p:sp>
      <p:sp>
        <p:nvSpPr>
          <p:cNvPr id="12" name="">
            <a:extLst xmlns:a="http://schemas.openxmlformats.org/drawingml/2006/main">
              <a:ext uri="{FF2B5EF4-FFF2-40B4-BE49-F238E27FC236}">
                <a16:creationId xmlns:a16="http://schemas.microsoft.com/office/drawing/2014/main" id="{59BE687A-6F23-49CC-9B8D-50C048A6C824}"/>
              </a:ext>
            </a:extLst>
          </p:cNvPr>
          <p:cNvSpPr>
            <a:spLocks xmlns:a="http://schemas.openxmlformats.org/drawingml/2006/main" noGrp="1"/>
          </p:cNvSpPr>
          <p:nvPr/>
        </p:nvSpPr>
        <p:spPr>
          <a:xfrm xmlns:a="http://schemas.openxmlformats.org/drawingml/2006/main">
            <a:off x="5105400" y="2324100"/>
            <a:ext cx="2095500" cy="1600200"/>
          </a:xfrm>
          <a:prstGeom xmlns:a="http://schemas.openxmlformats.org/drawingml/2006/main" prst="roundRect">
            <a:avLst>
              <a:gd name="adj" fmla="val 4762"/>
            </a:avLst>
          </a:prstGeom>
          <a:solidFill xmlns:a="http://schemas.openxmlformats.org/drawingml/2006/main">
            <a:srgbClr val="161B22"/>
          </a:solidFill>
          <a:ln xmlns:a="http://schemas.openxmlformats.org/drawingml/2006/main" w="9525">
            <a:solidFill>
              <a:srgbClr val="58A6FF"/>
            </a:solidFill>
          </a:ln>
        </p:spPr>
      </p:sp>
      <p:sp>
        <p:nvSpPr>
          <p:cNvPr id="13" name="">
            <a:extLst xmlns:a="http://schemas.openxmlformats.org/drawingml/2006/main">
              <a:ext uri="{FF2B5EF4-FFF2-40B4-BE49-F238E27FC236}">
                <a16:creationId xmlns:a16="http://schemas.microsoft.com/office/drawing/2014/main" id="{B4CEE216-F776-425E-863C-EC408035D862}"/>
              </a:ext>
            </a:extLst>
          </p:cNvPr>
          <p:cNvSpPr>
            <a:spLocks xmlns:a="http://schemas.openxmlformats.org/drawingml/2006/main" noGrp="1"/>
          </p:cNvSpPr>
          <p:nvPr/>
        </p:nvSpPr>
        <p:spPr>
          <a:xfrm xmlns:a="http://schemas.openxmlformats.org/drawingml/2006/main">
            <a:off x="5257800" y="25336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58A6FF"/>
                </a:solidFill>
                <a:latin typeface="DejaVu Sans"/>
                <a:ea typeface="DejaVu Sans"/>
                <a:cs typeface="DejaVu Sans"/>
              </a:defRPr>
            </a:pPr>
            <a:r>
              <a:rPr sz="1650" b="1">
                <a:solidFill>
                  <a:srgbClr val="58A6FF"/>
                </a:solidFill>
                <a:latin typeface="DejaVu Sans"/>
                <a:ea typeface="DejaVu Sans"/>
                <a:cs typeface="DejaVu Sans"/>
              </a:rPr>
              <a:t>Commits</a:t>
            </a:r>
          </a:p>
        </p:txBody>
      </p:sp>
      <p:sp>
        <p:nvSpPr>
          <p:cNvPr id="14" name="">
            <a:extLst xmlns:a="http://schemas.openxmlformats.org/drawingml/2006/main">
              <a:ext uri="{FF2B5EF4-FFF2-40B4-BE49-F238E27FC236}">
                <a16:creationId xmlns:a16="http://schemas.microsoft.com/office/drawing/2014/main" id="{477D93CD-EDA5-41E1-8906-C3B54A8B6A70}"/>
              </a:ext>
            </a:extLst>
          </p:cNvPr>
          <p:cNvSpPr>
            <a:spLocks xmlns:a="http://schemas.openxmlformats.org/drawingml/2006/main" noGrp="1"/>
          </p:cNvSpPr>
          <p:nvPr/>
        </p:nvSpPr>
        <p:spPr>
          <a:xfrm xmlns:a="http://schemas.openxmlformats.org/drawingml/2006/main">
            <a:off x="5276850" y="3143250"/>
            <a:ext cx="1752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34"/>
          </a:bodyPr>
          <a:lstStyle xmlns:a="http://schemas.openxmlformats.org/drawingml/2006/main"/>
          <a:p xmlns:a="http://schemas.openxmlformats.org/drawingml/2006/main">
            <a:pPr algn="ctr">
              <a:defRPr sz="1200" b="0">
                <a:solidFill>
                  <a:srgbClr val="F0F6FC"/>
                </a:solidFill>
                <a:latin typeface="DejaVu Sans"/>
                <a:ea typeface="DejaVu Sans"/>
                <a:cs typeface="DejaVu Sans"/>
              </a:defRPr>
            </a:pPr>
            <a:r>
              <a:rPr sz="1200" b="0">
                <a:solidFill>
                  <a:srgbClr val="F0F6FC"/>
                </a:solidFill>
                <a:latin typeface="DejaVu Sans"/>
                <a:ea typeface="DejaVu Sans"/>
                <a:cs typeface="DejaVu Sans"/>
              </a:rPr>
              <a:t>Small implementation steps</a:t>
            </a:r>
          </a:p>
        </p:txBody>
      </p:sp>
      <p:sp>
        <p:nvSpPr>
          <p:cNvPr id="15" name="">
            <a:extLst xmlns:a="http://schemas.openxmlformats.org/drawingml/2006/main">
              <a:ext uri="{FF2B5EF4-FFF2-40B4-BE49-F238E27FC236}">
                <a16:creationId xmlns:a16="http://schemas.microsoft.com/office/drawing/2014/main" id="{5A71335C-A756-4587-8D08-46839BE289FD}"/>
              </a:ext>
            </a:extLst>
          </p:cNvPr>
          <p:cNvSpPr>
            <a:spLocks xmlns:a="http://schemas.openxmlformats.org/drawingml/2006/main" noGrp="1"/>
          </p:cNvSpPr>
          <p:nvPr/>
        </p:nvSpPr>
        <p:spPr>
          <a:xfrm xmlns:a="http://schemas.openxmlformats.org/drawingml/2006/main">
            <a:off x="7429500" y="2324100"/>
            <a:ext cx="2095500" cy="1600200"/>
          </a:xfrm>
          <a:prstGeom xmlns:a="http://schemas.openxmlformats.org/drawingml/2006/main" prst="roundRect">
            <a:avLst>
              <a:gd name="adj" fmla="val 4762"/>
            </a:avLst>
          </a:prstGeom>
          <a:solidFill xmlns:a="http://schemas.openxmlformats.org/drawingml/2006/main">
            <a:srgbClr val="161B22"/>
          </a:solidFill>
          <a:ln xmlns:a="http://schemas.openxmlformats.org/drawingml/2006/main" w="9525">
            <a:solidFill>
              <a:srgbClr val="3FB950"/>
            </a:solidFill>
          </a:ln>
        </p:spPr>
      </p:sp>
      <p:sp>
        <p:nvSpPr>
          <p:cNvPr id="16" name="">
            <a:extLst xmlns:a="http://schemas.openxmlformats.org/drawingml/2006/main">
              <a:ext uri="{FF2B5EF4-FFF2-40B4-BE49-F238E27FC236}">
                <a16:creationId xmlns:a16="http://schemas.microsoft.com/office/drawing/2014/main" id="{55E655E2-7622-48A8-8210-2533CBFF683B}"/>
              </a:ext>
            </a:extLst>
          </p:cNvPr>
          <p:cNvSpPr>
            <a:spLocks xmlns:a="http://schemas.openxmlformats.org/drawingml/2006/main" noGrp="1"/>
          </p:cNvSpPr>
          <p:nvPr/>
        </p:nvSpPr>
        <p:spPr>
          <a:xfrm xmlns:a="http://schemas.openxmlformats.org/drawingml/2006/main">
            <a:off x="7581900" y="25336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PR #18</a:t>
            </a:r>
          </a:p>
        </p:txBody>
      </p:sp>
      <p:sp>
        <p:nvSpPr>
          <p:cNvPr id="17" name="">
            <a:extLst xmlns:a="http://schemas.openxmlformats.org/drawingml/2006/main">
              <a:ext uri="{FF2B5EF4-FFF2-40B4-BE49-F238E27FC236}">
                <a16:creationId xmlns:a16="http://schemas.microsoft.com/office/drawing/2014/main" id="{F5B3E8AD-99C0-4350-92AC-7357903169D2}"/>
              </a:ext>
            </a:extLst>
          </p:cNvPr>
          <p:cNvSpPr>
            <a:spLocks xmlns:a="http://schemas.openxmlformats.org/drawingml/2006/main" noGrp="1"/>
          </p:cNvSpPr>
          <p:nvPr/>
        </p:nvSpPr>
        <p:spPr>
          <a:xfrm xmlns:a="http://schemas.openxmlformats.org/drawingml/2006/main">
            <a:off x="7600950" y="3143250"/>
            <a:ext cx="1752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F0F6FC"/>
                </a:solidFill>
                <a:latin typeface="DejaVu Sans"/>
                <a:ea typeface="DejaVu Sans"/>
                <a:cs typeface="DejaVu Sans"/>
              </a:defRPr>
            </a:pPr>
            <a:r>
              <a:rPr sz="1200" b="0">
                <a:solidFill>
                  <a:srgbClr val="F0F6FC"/>
                </a:solidFill>
                <a:latin typeface="DejaVu Sans"/>
                <a:ea typeface="DejaVu Sans"/>
                <a:cs typeface="DejaVu Sans"/>
              </a:rPr>
              <a:t>Review, checks, discussion</a:t>
            </a:r>
          </a:p>
        </p:txBody>
      </p:sp>
      <p:sp>
        <p:nvSpPr>
          <p:cNvPr id="18" name="">
            <a:extLst xmlns:a="http://schemas.openxmlformats.org/drawingml/2006/main">
              <a:ext uri="{FF2B5EF4-FFF2-40B4-BE49-F238E27FC236}">
                <a16:creationId xmlns:a16="http://schemas.microsoft.com/office/drawing/2014/main" id="{F1B2BC13-D1E4-4985-A61C-C2B050BA4949}"/>
              </a:ext>
            </a:extLst>
          </p:cNvPr>
          <p:cNvSpPr>
            <a:spLocks xmlns:a="http://schemas.openxmlformats.org/drawingml/2006/main" noGrp="1"/>
          </p:cNvSpPr>
          <p:nvPr/>
        </p:nvSpPr>
        <p:spPr>
          <a:xfrm xmlns:a="http://schemas.openxmlformats.org/drawingml/2006/main">
            <a:off x="9753600" y="2324100"/>
            <a:ext cx="2095500" cy="1600200"/>
          </a:xfrm>
          <a:prstGeom xmlns:a="http://schemas.openxmlformats.org/drawingml/2006/main" prst="roundRect">
            <a:avLst>
              <a:gd name="adj" fmla="val 4762"/>
            </a:avLst>
          </a:prstGeom>
          <a:solidFill xmlns:a="http://schemas.openxmlformats.org/drawingml/2006/main">
            <a:srgbClr val="161B22"/>
          </a:solidFill>
          <a:ln xmlns:a="http://schemas.openxmlformats.org/drawingml/2006/main" w="9525">
            <a:solidFill>
              <a:srgbClr val="F0F6FC"/>
            </a:solidFill>
          </a:ln>
        </p:spPr>
      </p:sp>
      <p:sp>
        <p:nvSpPr>
          <p:cNvPr id="19" name="">
            <a:extLst xmlns:a="http://schemas.openxmlformats.org/drawingml/2006/main">
              <a:ext uri="{FF2B5EF4-FFF2-40B4-BE49-F238E27FC236}">
                <a16:creationId xmlns:a16="http://schemas.microsoft.com/office/drawing/2014/main" id="{444F55FD-835D-4C6F-99CE-01152B6E210D}"/>
              </a:ext>
            </a:extLst>
          </p:cNvPr>
          <p:cNvSpPr>
            <a:spLocks xmlns:a="http://schemas.openxmlformats.org/drawingml/2006/main" noGrp="1"/>
          </p:cNvSpPr>
          <p:nvPr/>
        </p:nvSpPr>
        <p:spPr>
          <a:xfrm xmlns:a="http://schemas.openxmlformats.org/drawingml/2006/main">
            <a:off x="9906000" y="25336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0F6FC"/>
                </a:solidFill>
                <a:latin typeface="DejaVu Sans"/>
                <a:ea typeface="DejaVu Sans"/>
                <a:cs typeface="DejaVu Sans"/>
              </a:defRPr>
            </a:pPr>
            <a:r>
              <a:rPr sz="1650" b="1">
                <a:solidFill>
                  <a:srgbClr val="F0F6FC"/>
                </a:solidFill>
                <a:latin typeface="DejaVu Sans"/>
                <a:ea typeface="DejaVu Sans"/>
                <a:cs typeface="DejaVu Sans"/>
              </a:rPr>
              <a:t>Closed</a:t>
            </a:r>
          </a:p>
        </p:txBody>
      </p:sp>
      <p:sp>
        <p:nvSpPr>
          <p:cNvPr id="20" name="">
            <a:extLst xmlns:a="http://schemas.openxmlformats.org/drawingml/2006/main">
              <a:ext uri="{FF2B5EF4-FFF2-40B4-BE49-F238E27FC236}">
                <a16:creationId xmlns:a16="http://schemas.microsoft.com/office/drawing/2014/main" id="{CF92EB60-95FB-413A-9AD3-1B5217F79B8D}"/>
              </a:ext>
            </a:extLst>
          </p:cNvPr>
          <p:cNvSpPr>
            <a:spLocks xmlns:a="http://schemas.openxmlformats.org/drawingml/2006/main" noGrp="1"/>
          </p:cNvSpPr>
          <p:nvPr/>
        </p:nvSpPr>
        <p:spPr>
          <a:xfrm xmlns:a="http://schemas.openxmlformats.org/drawingml/2006/main">
            <a:off x="9925050" y="3143250"/>
            <a:ext cx="1752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F0F6FC"/>
                </a:solidFill>
                <a:latin typeface="DejaVu Sans"/>
                <a:ea typeface="DejaVu Sans"/>
                <a:cs typeface="DejaVu Sans"/>
              </a:defRPr>
            </a:pPr>
            <a:r>
              <a:rPr sz="1200" b="0">
                <a:solidFill>
                  <a:srgbClr val="F0F6FC"/>
                </a:solidFill>
                <a:latin typeface="DejaVu Sans"/>
                <a:ea typeface="DejaVu Sans"/>
                <a:cs typeface="DejaVu Sans"/>
              </a:rPr>
              <a:t>Issue closes after merge</a:t>
            </a:r>
          </a:p>
        </p:txBody>
      </p:sp>
      <p:sp>
        <p:nvSpPr>
          <p:cNvPr id="21" name="">
            <a:extLst xmlns:a="http://schemas.openxmlformats.org/drawingml/2006/main">
              <a:ext uri="{FF2B5EF4-FFF2-40B4-BE49-F238E27FC236}">
                <a16:creationId xmlns:a16="http://schemas.microsoft.com/office/drawing/2014/main" id="{4814A9BE-A31E-4C6A-B250-0E98CE6D9E69}"/>
              </a:ext>
            </a:extLst>
          </p:cNvPr>
          <p:cNvSpPr>
            <a:spLocks xmlns:a="http://schemas.openxmlformats.org/drawingml/2006/main" noGrp="1"/>
          </p:cNvSpPr>
          <p:nvPr/>
        </p:nvSpPr>
        <p:spPr>
          <a:xfrm xmlns:a="http://schemas.openxmlformats.org/drawingml/2006/main">
            <a:off x="2628900" y="4686300"/>
            <a:ext cx="6934200" cy="895350"/>
          </a:xfrm>
          <a:prstGeom xmlns:a="http://schemas.openxmlformats.org/drawingml/2006/main" prst="roundRect">
            <a:avLst>
              <a:gd name="adj" fmla="val 8511"/>
            </a:avLst>
          </a:prstGeom>
          <a:solidFill xmlns:a="http://schemas.openxmlformats.org/drawingml/2006/main">
            <a:srgbClr val="090C10"/>
          </a:solidFill>
          <a:ln xmlns:a="http://schemas.openxmlformats.org/drawingml/2006/main" w="9525">
            <a:solidFill>
              <a:srgbClr val="30363D"/>
            </a:solidFill>
          </a:ln>
        </p:spPr>
      </p:sp>
      <p:sp>
        <p:nvSpPr>
          <p:cNvPr id="22" name="">
            <a:extLst xmlns:a="http://schemas.openxmlformats.org/drawingml/2006/main">
              <a:ext uri="{FF2B5EF4-FFF2-40B4-BE49-F238E27FC236}">
                <a16:creationId xmlns:a16="http://schemas.microsoft.com/office/drawing/2014/main" id="{3A03F018-CB16-46F2-A9F4-518DB3C79637}"/>
              </a:ext>
            </a:extLst>
          </p:cNvPr>
          <p:cNvSpPr>
            <a:spLocks xmlns:a="http://schemas.openxmlformats.org/drawingml/2006/main" noGrp="1"/>
          </p:cNvSpPr>
          <p:nvPr/>
        </p:nvSpPr>
        <p:spPr>
          <a:xfrm xmlns:a="http://schemas.openxmlformats.org/drawingml/2006/main">
            <a:off x="2628900" y="4686300"/>
            <a:ext cx="76200" cy="895350"/>
          </a:xfrm>
          <a:prstGeom xmlns:a="http://schemas.openxmlformats.org/drawingml/2006/main" prst="rect">
            <a:avLst/>
          </a:prstGeom>
          <a:solidFill xmlns:a="http://schemas.openxmlformats.org/drawingml/2006/main">
            <a:srgbClr val="3FB95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DBE4E2A-1C67-44E8-889E-1B84A776DA53}"/>
              </a:ext>
            </a:extLst>
          </p:cNvPr>
          <p:cNvSpPr>
            <a:spLocks xmlns:a="http://schemas.openxmlformats.org/drawingml/2006/main" noGrp="1"/>
          </p:cNvSpPr>
          <p:nvPr/>
        </p:nvSpPr>
        <p:spPr>
          <a:xfrm xmlns:a="http://schemas.openxmlformats.org/drawingml/2006/main">
            <a:off x="2857500" y="4838700"/>
            <a:ext cx="651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switch -c issue-12-login-validation</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 PR description: Closes #12</a:t>
            </a:r>
          </a:p>
        </p:txBody>
      </p:sp>
    </p:spTree>
    <p:extLst>
      <p:ext uri="{BB962C8B-B14F-4D97-AF65-F5344CB8AC3E}">
        <p14:creationId xmlns:p14="http://schemas.microsoft.com/office/powerpoint/2010/main" val="771210391"/>
      </p:ext>
    </p:extLst>
  </p:cSld>
</p:sld>
</file>

<file path=ppt/slides/slide20.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E038945-A042-4582-BDD2-3C7D673C6D9F}"/>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Team workflow</a:t>
            </a:r>
          </a:p>
        </p:txBody>
      </p:sp>
      <p:sp>
        <p:nvSpPr>
          <p:cNvPr id="2" name="">
            <a:extLst xmlns:a="http://schemas.openxmlformats.org/drawingml/2006/main">
              <a:ext uri="{FF2B5EF4-FFF2-40B4-BE49-F238E27FC236}">
                <a16:creationId xmlns:a16="http://schemas.microsoft.com/office/drawing/2014/main" id="{1086DFFA-B591-4C72-9ED7-C923BAC67F6C}"/>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A repeatable process reduces conflicts and lost work</a:t>
            </a:r>
          </a:p>
        </p:txBody>
      </p:sp>
      <p:sp>
        <p:nvSpPr>
          <p:cNvPr id="3" name="">
            <a:extLst xmlns:a="http://schemas.openxmlformats.org/drawingml/2006/main">
              <a:ext uri="{FF2B5EF4-FFF2-40B4-BE49-F238E27FC236}">
                <a16:creationId xmlns:a16="http://schemas.microsoft.com/office/drawing/2014/main" id="{5091E0BC-F92C-4C78-A349-62B9DA519A0E}"/>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6F606F-E997-4970-AFD4-65FCDE32491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20</a:t>
            </a:r>
          </a:p>
        </p:txBody>
      </p:sp>
      <p:sp>
        <p:nvSpPr>
          <p:cNvPr id="5" name="">
            <a:extLst xmlns:a="http://schemas.openxmlformats.org/drawingml/2006/main">
              <a:ext uri="{FF2B5EF4-FFF2-40B4-BE49-F238E27FC236}">
                <a16:creationId xmlns:a16="http://schemas.microsoft.com/office/drawing/2014/main" id="{972E66F6-182D-4BCA-8155-A6FEDFD6D6A3}"/>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E62B6F0C-43F1-4656-9E4B-77843DA0B621}"/>
              </a:ext>
            </a:extLst>
          </p:cNvPr>
          <p:cNvSpPr>
            <a:spLocks xmlns:a="http://schemas.openxmlformats.org/drawingml/2006/main" noGrp="1"/>
          </p:cNvSpPr>
          <p:nvPr/>
        </p:nvSpPr>
        <p:spPr>
          <a:xfrm xmlns:a="http://schemas.openxmlformats.org/drawingml/2006/main">
            <a:off x="609600" y="1695450"/>
            <a:ext cx="2438400" cy="1257300"/>
          </a:xfrm>
          <a:prstGeom xmlns:a="http://schemas.openxmlformats.org/drawingml/2006/main" prst="roundRect">
            <a:avLst>
              <a:gd name="adj" fmla="val 6061"/>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E5EF75BB-DBAA-4157-B78A-61D7A9F8C253}"/>
              </a:ext>
            </a:extLst>
          </p:cNvPr>
          <p:cNvSpPr>
            <a:spLocks xmlns:a="http://schemas.openxmlformats.org/drawingml/2006/main" noGrp="1"/>
          </p:cNvSpPr>
          <p:nvPr/>
        </p:nvSpPr>
        <p:spPr>
          <a:xfrm xmlns:a="http://schemas.openxmlformats.org/drawingml/2006/main">
            <a:off x="781050" y="18478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8A6FF"/>
                </a:solidFill>
                <a:latin typeface="DejaVu Sans"/>
                <a:ea typeface="DejaVu Sans"/>
                <a:cs typeface="DejaVu Sans"/>
              </a:defRPr>
            </a:pPr>
            <a:r>
              <a:rPr sz="1350" b="1">
                <a:solidFill>
                  <a:srgbClr val="58A6FF"/>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A20C6961-78F9-41E4-9365-513B3D202F56}"/>
              </a:ext>
            </a:extLst>
          </p:cNvPr>
          <p:cNvSpPr>
            <a:spLocks xmlns:a="http://schemas.openxmlformats.org/drawingml/2006/main" noGrp="1"/>
          </p:cNvSpPr>
          <p:nvPr/>
        </p:nvSpPr>
        <p:spPr>
          <a:xfrm xmlns:a="http://schemas.openxmlformats.org/drawingml/2006/main">
            <a:off x="781050" y="22288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Create an Issue</a:t>
            </a:r>
          </a:p>
        </p:txBody>
      </p:sp>
      <p:sp>
        <p:nvSpPr>
          <p:cNvPr id="9" name="">
            <a:extLst xmlns:a="http://schemas.openxmlformats.org/drawingml/2006/main">
              <a:ext uri="{FF2B5EF4-FFF2-40B4-BE49-F238E27FC236}">
                <a16:creationId xmlns:a16="http://schemas.microsoft.com/office/drawing/2014/main" id="{39C0FBD7-4579-4F86-BBEB-4D442AA8FF32}"/>
              </a:ext>
            </a:extLst>
          </p:cNvPr>
          <p:cNvSpPr>
            <a:spLocks xmlns:a="http://schemas.openxmlformats.org/drawingml/2006/main" noGrp="1"/>
          </p:cNvSpPr>
          <p:nvPr/>
        </p:nvSpPr>
        <p:spPr>
          <a:xfrm xmlns:a="http://schemas.openxmlformats.org/drawingml/2006/main">
            <a:off x="3352800" y="1695450"/>
            <a:ext cx="2438400" cy="1257300"/>
          </a:xfrm>
          <a:prstGeom xmlns:a="http://schemas.openxmlformats.org/drawingml/2006/main" prst="roundRect">
            <a:avLst>
              <a:gd name="adj" fmla="val 6061"/>
            </a:avLst>
          </a:prstGeom>
          <a:solidFill xmlns:a="http://schemas.openxmlformats.org/drawingml/2006/main">
            <a:srgbClr val="161B22"/>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2A916623-618F-494D-9E95-F47F719784E4}"/>
              </a:ext>
            </a:extLst>
          </p:cNvPr>
          <p:cNvSpPr>
            <a:spLocks xmlns:a="http://schemas.openxmlformats.org/drawingml/2006/main" noGrp="1"/>
          </p:cNvSpPr>
          <p:nvPr/>
        </p:nvSpPr>
        <p:spPr>
          <a:xfrm xmlns:a="http://schemas.openxmlformats.org/drawingml/2006/main">
            <a:off x="3524250" y="18478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8A6FF"/>
                </a:solidFill>
                <a:latin typeface="DejaVu Sans"/>
                <a:ea typeface="DejaVu Sans"/>
                <a:cs typeface="DejaVu Sans"/>
              </a:defRPr>
            </a:pPr>
            <a:r>
              <a:rPr sz="1350" b="1">
                <a:solidFill>
                  <a:srgbClr val="58A6FF"/>
                </a:solidFill>
                <a:latin typeface="DejaVu Sans"/>
                <a:ea typeface="DejaVu Sans"/>
                <a:cs typeface="DejaVu Sans"/>
              </a:rPr>
              <a:t>02</a:t>
            </a:r>
          </a:p>
        </p:txBody>
      </p:sp>
      <p:sp>
        <p:nvSpPr>
          <p:cNvPr id="11" name="">
            <a:extLst xmlns:a="http://schemas.openxmlformats.org/drawingml/2006/main">
              <a:ext uri="{FF2B5EF4-FFF2-40B4-BE49-F238E27FC236}">
                <a16:creationId xmlns:a16="http://schemas.microsoft.com/office/drawing/2014/main" id="{EC0D4B18-2366-4052-94C7-5DEB2EB110AF}"/>
              </a:ext>
            </a:extLst>
          </p:cNvPr>
          <p:cNvSpPr>
            <a:spLocks xmlns:a="http://schemas.openxmlformats.org/drawingml/2006/main" noGrp="1"/>
          </p:cNvSpPr>
          <p:nvPr/>
        </p:nvSpPr>
        <p:spPr>
          <a:xfrm xmlns:a="http://schemas.openxmlformats.org/drawingml/2006/main">
            <a:off x="3524250" y="22288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Update main</a:t>
            </a:r>
          </a:p>
        </p:txBody>
      </p:sp>
      <p:sp>
        <p:nvSpPr>
          <p:cNvPr id="12" name="">
            <a:extLst xmlns:a="http://schemas.openxmlformats.org/drawingml/2006/main">
              <a:ext uri="{FF2B5EF4-FFF2-40B4-BE49-F238E27FC236}">
                <a16:creationId xmlns:a16="http://schemas.microsoft.com/office/drawing/2014/main" id="{880E5156-16DF-46FC-AE62-300E8D401A48}"/>
              </a:ext>
            </a:extLst>
          </p:cNvPr>
          <p:cNvSpPr>
            <a:spLocks xmlns:a="http://schemas.openxmlformats.org/drawingml/2006/main" noGrp="1"/>
          </p:cNvSpPr>
          <p:nvPr/>
        </p:nvSpPr>
        <p:spPr>
          <a:xfrm xmlns:a="http://schemas.openxmlformats.org/drawingml/2006/main">
            <a:off x="6096000" y="1695450"/>
            <a:ext cx="2438400" cy="1257300"/>
          </a:xfrm>
          <a:prstGeom xmlns:a="http://schemas.openxmlformats.org/drawingml/2006/main" prst="roundRect">
            <a:avLst>
              <a:gd name="adj" fmla="val 6061"/>
            </a:avLst>
          </a:prstGeom>
          <a:solidFill xmlns:a="http://schemas.openxmlformats.org/drawingml/2006/main">
            <a:srgbClr val="161B22"/>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94C8F979-0F8F-4862-A2F8-B4CD5A41E628}"/>
              </a:ext>
            </a:extLst>
          </p:cNvPr>
          <p:cNvSpPr>
            <a:spLocks xmlns:a="http://schemas.openxmlformats.org/drawingml/2006/main" noGrp="1"/>
          </p:cNvSpPr>
          <p:nvPr/>
        </p:nvSpPr>
        <p:spPr>
          <a:xfrm xmlns:a="http://schemas.openxmlformats.org/drawingml/2006/main">
            <a:off x="6267450" y="18478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8A6FF"/>
                </a:solidFill>
                <a:latin typeface="DejaVu Sans"/>
                <a:ea typeface="DejaVu Sans"/>
                <a:cs typeface="DejaVu Sans"/>
              </a:defRPr>
            </a:pPr>
            <a:r>
              <a:rPr sz="1350" b="1">
                <a:solidFill>
                  <a:srgbClr val="58A6FF"/>
                </a:solidFill>
                <a:latin typeface="DejaVu Sans"/>
                <a:ea typeface="DejaVu Sans"/>
                <a:cs typeface="DejaVu Sans"/>
              </a:rPr>
              <a:t>03</a:t>
            </a:r>
          </a:p>
        </p:txBody>
      </p:sp>
      <p:sp>
        <p:nvSpPr>
          <p:cNvPr id="14" name="">
            <a:extLst xmlns:a="http://schemas.openxmlformats.org/drawingml/2006/main">
              <a:ext uri="{FF2B5EF4-FFF2-40B4-BE49-F238E27FC236}">
                <a16:creationId xmlns:a16="http://schemas.microsoft.com/office/drawing/2014/main" id="{E1E4399D-F306-4F0F-B5ED-D48A416703EB}"/>
              </a:ext>
            </a:extLst>
          </p:cNvPr>
          <p:cNvSpPr>
            <a:spLocks xmlns:a="http://schemas.openxmlformats.org/drawingml/2006/main" noGrp="1"/>
          </p:cNvSpPr>
          <p:nvPr/>
        </p:nvSpPr>
        <p:spPr>
          <a:xfrm xmlns:a="http://schemas.openxmlformats.org/drawingml/2006/main">
            <a:off x="6267450" y="22288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Create a branch</a:t>
            </a:r>
          </a:p>
        </p:txBody>
      </p:sp>
      <p:sp>
        <p:nvSpPr>
          <p:cNvPr id="15" name="">
            <a:extLst xmlns:a="http://schemas.openxmlformats.org/drawingml/2006/main">
              <a:ext uri="{FF2B5EF4-FFF2-40B4-BE49-F238E27FC236}">
                <a16:creationId xmlns:a16="http://schemas.microsoft.com/office/drawing/2014/main" id="{F299B369-1F7C-45FE-9AA4-8731F503CE5E}"/>
              </a:ext>
            </a:extLst>
          </p:cNvPr>
          <p:cNvSpPr>
            <a:spLocks xmlns:a="http://schemas.openxmlformats.org/drawingml/2006/main" noGrp="1"/>
          </p:cNvSpPr>
          <p:nvPr/>
        </p:nvSpPr>
        <p:spPr>
          <a:xfrm xmlns:a="http://schemas.openxmlformats.org/drawingml/2006/main">
            <a:off x="8839200" y="1695450"/>
            <a:ext cx="2438400" cy="1257300"/>
          </a:xfrm>
          <a:prstGeom xmlns:a="http://schemas.openxmlformats.org/drawingml/2006/main" prst="roundRect">
            <a:avLst>
              <a:gd name="adj" fmla="val 6061"/>
            </a:avLst>
          </a:prstGeom>
          <a:solidFill xmlns:a="http://schemas.openxmlformats.org/drawingml/2006/main">
            <a:srgbClr val="161B22"/>
          </a:solidFill>
          <a:ln xmlns:a="http://schemas.openxmlformats.org/drawingml/2006/main" w="9525">
            <a:solidFill>
              <a:srgbClr val="30363D"/>
            </a:solidFill>
          </a:ln>
        </p:spPr>
      </p:sp>
      <p:sp>
        <p:nvSpPr>
          <p:cNvPr id="16" name="">
            <a:extLst xmlns:a="http://schemas.openxmlformats.org/drawingml/2006/main">
              <a:ext uri="{FF2B5EF4-FFF2-40B4-BE49-F238E27FC236}">
                <a16:creationId xmlns:a16="http://schemas.microsoft.com/office/drawing/2014/main" id="{AA4F3F68-3489-41BB-8867-E5811CBD91A6}"/>
              </a:ext>
            </a:extLst>
          </p:cNvPr>
          <p:cNvSpPr>
            <a:spLocks xmlns:a="http://schemas.openxmlformats.org/drawingml/2006/main" noGrp="1"/>
          </p:cNvSpPr>
          <p:nvPr/>
        </p:nvSpPr>
        <p:spPr>
          <a:xfrm xmlns:a="http://schemas.openxmlformats.org/drawingml/2006/main">
            <a:off x="9010650" y="18478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8A6FF"/>
                </a:solidFill>
                <a:latin typeface="DejaVu Sans"/>
                <a:ea typeface="DejaVu Sans"/>
                <a:cs typeface="DejaVu Sans"/>
              </a:defRPr>
            </a:pPr>
            <a:r>
              <a:rPr sz="1350" b="1">
                <a:solidFill>
                  <a:srgbClr val="58A6FF"/>
                </a:solidFill>
                <a:latin typeface="DejaVu Sans"/>
                <a:ea typeface="DejaVu Sans"/>
                <a:cs typeface="DejaVu Sans"/>
              </a:rPr>
              <a:t>04</a:t>
            </a:r>
          </a:p>
        </p:txBody>
      </p:sp>
      <p:sp>
        <p:nvSpPr>
          <p:cNvPr id="17" name="">
            <a:extLst xmlns:a="http://schemas.openxmlformats.org/drawingml/2006/main">
              <a:ext uri="{FF2B5EF4-FFF2-40B4-BE49-F238E27FC236}">
                <a16:creationId xmlns:a16="http://schemas.microsoft.com/office/drawing/2014/main" id="{0A271727-37C8-4CE5-8452-0FE7A66F42A3}"/>
              </a:ext>
            </a:extLst>
          </p:cNvPr>
          <p:cNvSpPr>
            <a:spLocks xmlns:a="http://schemas.openxmlformats.org/drawingml/2006/main" noGrp="1"/>
          </p:cNvSpPr>
          <p:nvPr/>
        </p:nvSpPr>
        <p:spPr>
          <a:xfrm xmlns:a="http://schemas.openxmlformats.org/drawingml/2006/main">
            <a:off x="9010650" y="22288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Make commits</a:t>
            </a:r>
          </a:p>
        </p:txBody>
      </p:sp>
      <p:sp>
        <p:nvSpPr>
          <p:cNvPr id="18" name="">
            <a:extLst xmlns:a="http://schemas.openxmlformats.org/drawingml/2006/main">
              <a:ext uri="{FF2B5EF4-FFF2-40B4-BE49-F238E27FC236}">
                <a16:creationId xmlns:a16="http://schemas.microsoft.com/office/drawing/2014/main" id="{BAEF9C85-E92D-418D-AD27-2B255A70440B}"/>
              </a:ext>
            </a:extLst>
          </p:cNvPr>
          <p:cNvSpPr>
            <a:spLocks xmlns:a="http://schemas.openxmlformats.org/drawingml/2006/main" noGrp="1"/>
          </p:cNvSpPr>
          <p:nvPr/>
        </p:nvSpPr>
        <p:spPr>
          <a:xfrm xmlns:a="http://schemas.openxmlformats.org/drawingml/2006/main">
            <a:off x="609600" y="3409950"/>
            <a:ext cx="2438400" cy="1257300"/>
          </a:xfrm>
          <a:prstGeom xmlns:a="http://schemas.openxmlformats.org/drawingml/2006/main" prst="roundRect">
            <a:avLst>
              <a:gd name="adj" fmla="val 6061"/>
            </a:avLst>
          </a:prstGeom>
          <a:solidFill xmlns:a="http://schemas.openxmlformats.org/drawingml/2006/main">
            <a:srgbClr val="161B22"/>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F97C54A7-4F2D-45FF-B18D-D819F3024F10}"/>
              </a:ext>
            </a:extLst>
          </p:cNvPr>
          <p:cNvSpPr>
            <a:spLocks xmlns:a="http://schemas.openxmlformats.org/drawingml/2006/main" noGrp="1"/>
          </p:cNvSpPr>
          <p:nvPr/>
        </p:nvSpPr>
        <p:spPr>
          <a:xfrm xmlns:a="http://schemas.openxmlformats.org/drawingml/2006/main">
            <a:off x="781050" y="35623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8A6FF"/>
                </a:solidFill>
                <a:latin typeface="DejaVu Sans"/>
                <a:ea typeface="DejaVu Sans"/>
                <a:cs typeface="DejaVu Sans"/>
              </a:defRPr>
            </a:pPr>
            <a:r>
              <a:rPr sz="1350" b="1">
                <a:solidFill>
                  <a:srgbClr val="58A6FF"/>
                </a:solidFill>
                <a:latin typeface="DejaVu Sans"/>
                <a:ea typeface="DejaVu Sans"/>
                <a:cs typeface="DejaVu Sans"/>
              </a:rPr>
              <a:t>05</a:t>
            </a:r>
          </a:p>
        </p:txBody>
      </p:sp>
      <p:sp>
        <p:nvSpPr>
          <p:cNvPr id="20" name="">
            <a:extLst xmlns:a="http://schemas.openxmlformats.org/drawingml/2006/main">
              <a:ext uri="{FF2B5EF4-FFF2-40B4-BE49-F238E27FC236}">
                <a16:creationId xmlns:a16="http://schemas.microsoft.com/office/drawing/2014/main" id="{B1C6E76B-06AB-40A0-BF8A-C19E50B97936}"/>
              </a:ext>
            </a:extLst>
          </p:cNvPr>
          <p:cNvSpPr>
            <a:spLocks xmlns:a="http://schemas.openxmlformats.org/drawingml/2006/main" noGrp="1"/>
          </p:cNvSpPr>
          <p:nvPr/>
        </p:nvSpPr>
        <p:spPr>
          <a:xfrm xmlns:a="http://schemas.openxmlformats.org/drawingml/2006/main">
            <a:off x="781050" y="39433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Push and open PR</a:t>
            </a:r>
          </a:p>
        </p:txBody>
      </p:sp>
      <p:sp>
        <p:nvSpPr>
          <p:cNvPr id="21" name="">
            <a:extLst xmlns:a="http://schemas.openxmlformats.org/drawingml/2006/main">
              <a:ext uri="{FF2B5EF4-FFF2-40B4-BE49-F238E27FC236}">
                <a16:creationId xmlns:a16="http://schemas.microsoft.com/office/drawing/2014/main" id="{63F5DD3E-9025-4831-A1BA-BF544AB339AD}"/>
              </a:ext>
            </a:extLst>
          </p:cNvPr>
          <p:cNvSpPr>
            <a:spLocks xmlns:a="http://schemas.openxmlformats.org/drawingml/2006/main" noGrp="1"/>
          </p:cNvSpPr>
          <p:nvPr/>
        </p:nvSpPr>
        <p:spPr>
          <a:xfrm xmlns:a="http://schemas.openxmlformats.org/drawingml/2006/main">
            <a:off x="3352800" y="3409950"/>
            <a:ext cx="2438400" cy="1257300"/>
          </a:xfrm>
          <a:prstGeom xmlns:a="http://schemas.openxmlformats.org/drawingml/2006/main" prst="roundRect">
            <a:avLst>
              <a:gd name="adj" fmla="val 6061"/>
            </a:avLst>
          </a:prstGeom>
          <a:solidFill xmlns:a="http://schemas.openxmlformats.org/drawingml/2006/main">
            <a:srgbClr val="161B22"/>
          </a:solidFill>
          <a:ln xmlns:a="http://schemas.openxmlformats.org/drawingml/2006/main" w="9525">
            <a:solidFill>
              <a:srgbClr val="30363D"/>
            </a:solidFill>
          </a:ln>
        </p:spPr>
      </p:sp>
      <p:sp>
        <p:nvSpPr>
          <p:cNvPr id="22" name="">
            <a:extLst xmlns:a="http://schemas.openxmlformats.org/drawingml/2006/main">
              <a:ext uri="{FF2B5EF4-FFF2-40B4-BE49-F238E27FC236}">
                <a16:creationId xmlns:a16="http://schemas.microsoft.com/office/drawing/2014/main" id="{BBDF201A-CC79-4C94-A3FE-2EC93838C5DF}"/>
              </a:ext>
            </a:extLst>
          </p:cNvPr>
          <p:cNvSpPr>
            <a:spLocks xmlns:a="http://schemas.openxmlformats.org/drawingml/2006/main" noGrp="1"/>
          </p:cNvSpPr>
          <p:nvPr/>
        </p:nvSpPr>
        <p:spPr>
          <a:xfrm xmlns:a="http://schemas.openxmlformats.org/drawingml/2006/main">
            <a:off x="3524250" y="35623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8A6FF"/>
                </a:solidFill>
                <a:latin typeface="DejaVu Sans"/>
                <a:ea typeface="DejaVu Sans"/>
                <a:cs typeface="DejaVu Sans"/>
              </a:defRPr>
            </a:pPr>
            <a:r>
              <a:rPr sz="1350" b="1">
                <a:solidFill>
                  <a:srgbClr val="58A6FF"/>
                </a:solidFill>
                <a:latin typeface="DejaVu Sans"/>
                <a:ea typeface="DejaVu Sans"/>
                <a:cs typeface="DejaVu Sans"/>
              </a:rPr>
              <a:t>06</a:t>
            </a:r>
          </a:p>
        </p:txBody>
      </p:sp>
      <p:sp>
        <p:nvSpPr>
          <p:cNvPr id="23" name="">
            <a:extLst xmlns:a="http://schemas.openxmlformats.org/drawingml/2006/main">
              <a:ext uri="{FF2B5EF4-FFF2-40B4-BE49-F238E27FC236}">
                <a16:creationId xmlns:a16="http://schemas.microsoft.com/office/drawing/2014/main" id="{9532FABF-85EC-409C-9610-29993F770767}"/>
              </a:ext>
            </a:extLst>
          </p:cNvPr>
          <p:cNvSpPr>
            <a:spLocks xmlns:a="http://schemas.openxmlformats.org/drawingml/2006/main" noGrp="1"/>
          </p:cNvSpPr>
          <p:nvPr/>
        </p:nvSpPr>
        <p:spPr>
          <a:xfrm xmlns:a="http://schemas.openxmlformats.org/drawingml/2006/main">
            <a:off x="3524250" y="39433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Review and checks</a:t>
            </a:r>
          </a:p>
        </p:txBody>
      </p:sp>
      <p:sp>
        <p:nvSpPr>
          <p:cNvPr id="24" name="">
            <a:extLst xmlns:a="http://schemas.openxmlformats.org/drawingml/2006/main">
              <a:ext uri="{FF2B5EF4-FFF2-40B4-BE49-F238E27FC236}">
                <a16:creationId xmlns:a16="http://schemas.microsoft.com/office/drawing/2014/main" id="{66365812-24F3-4A84-A109-A3244A9B6535}"/>
              </a:ext>
            </a:extLst>
          </p:cNvPr>
          <p:cNvSpPr>
            <a:spLocks xmlns:a="http://schemas.openxmlformats.org/drawingml/2006/main" noGrp="1"/>
          </p:cNvSpPr>
          <p:nvPr/>
        </p:nvSpPr>
        <p:spPr>
          <a:xfrm xmlns:a="http://schemas.openxmlformats.org/drawingml/2006/main">
            <a:off x="6096000" y="3409950"/>
            <a:ext cx="2438400" cy="1257300"/>
          </a:xfrm>
          <a:prstGeom xmlns:a="http://schemas.openxmlformats.org/drawingml/2006/main" prst="roundRect">
            <a:avLst>
              <a:gd name="adj" fmla="val 6061"/>
            </a:avLst>
          </a:prstGeom>
          <a:solidFill xmlns:a="http://schemas.openxmlformats.org/drawingml/2006/main">
            <a:srgbClr val="17351F"/>
          </a:solidFill>
          <a:ln xmlns:a="http://schemas.openxmlformats.org/drawingml/2006/main" w="9525">
            <a:solidFill>
              <a:srgbClr val="30363D"/>
            </a:solidFill>
          </a:ln>
        </p:spPr>
      </p:sp>
      <p:sp>
        <p:nvSpPr>
          <p:cNvPr id="25" name="">
            <a:extLst xmlns:a="http://schemas.openxmlformats.org/drawingml/2006/main">
              <a:ext uri="{FF2B5EF4-FFF2-40B4-BE49-F238E27FC236}">
                <a16:creationId xmlns:a16="http://schemas.microsoft.com/office/drawing/2014/main" id="{1A7CDEC6-B35E-4FDC-8DCA-1485281C4D50}"/>
              </a:ext>
            </a:extLst>
          </p:cNvPr>
          <p:cNvSpPr>
            <a:spLocks xmlns:a="http://schemas.openxmlformats.org/drawingml/2006/main" noGrp="1"/>
          </p:cNvSpPr>
          <p:nvPr/>
        </p:nvSpPr>
        <p:spPr>
          <a:xfrm xmlns:a="http://schemas.openxmlformats.org/drawingml/2006/main">
            <a:off x="6267450" y="35623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3FB950"/>
                </a:solidFill>
                <a:latin typeface="DejaVu Sans"/>
                <a:ea typeface="DejaVu Sans"/>
                <a:cs typeface="DejaVu Sans"/>
              </a:defRPr>
            </a:pPr>
            <a:r>
              <a:rPr sz="1350" b="1">
                <a:solidFill>
                  <a:srgbClr val="3FB950"/>
                </a:solidFill>
                <a:latin typeface="DejaVu Sans"/>
                <a:ea typeface="DejaVu Sans"/>
                <a:cs typeface="DejaVu Sans"/>
              </a:rPr>
              <a:t>07</a:t>
            </a:r>
          </a:p>
        </p:txBody>
      </p:sp>
      <p:sp>
        <p:nvSpPr>
          <p:cNvPr id="26" name="">
            <a:extLst xmlns:a="http://schemas.openxmlformats.org/drawingml/2006/main">
              <a:ext uri="{FF2B5EF4-FFF2-40B4-BE49-F238E27FC236}">
                <a16:creationId xmlns:a16="http://schemas.microsoft.com/office/drawing/2014/main" id="{26E84553-8A68-49F7-83CE-46F7C07909A9}"/>
              </a:ext>
            </a:extLst>
          </p:cNvPr>
          <p:cNvSpPr>
            <a:spLocks xmlns:a="http://schemas.openxmlformats.org/drawingml/2006/main" noGrp="1"/>
          </p:cNvSpPr>
          <p:nvPr/>
        </p:nvSpPr>
        <p:spPr>
          <a:xfrm xmlns:a="http://schemas.openxmlformats.org/drawingml/2006/main">
            <a:off x="6267450" y="39433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518"/>
          </a:bodyPr>
          <a:lstStyle xmlns:a="http://schemas.openxmlformats.org/drawingml/2006/main"/>
          <a:p xmlns:a="http://schemas.openxmlformats.org/drawingml/2006/main">
            <a:pPr algn="ctr">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Merge and delete branch</a:t>
            </a:r>
          </a:p>
        </p:txBody>
      </p:sp>
      <p:sp>
        <p:nvSpPr>
          <p:cNvPr id="27" name="">
            <a:extLst xmlns:a="http://schemas.openxmlformats.org/drawingml/2006/main">
              <a:ext uri="{FF2B5EF4-FFF2-40B4-BE49-F238E27FC236}">
                <a16:creationId xmlns:a16="http://schemas.microsoft.com/office/drawing/2014/main" id="{54ECE3B3-FAC8-464A-9E1C-83815BF943CF}"/>
              </a:ext>
            </a:extLst>
          </p:cNvPr>
          <p:cNvSpPr>
            <a:spLocks xmlns:a="http://schemas.openxmlformats.org/drawingml/2006/main" noGrp="1"/>
          </p:cNvSpPr>
          <p:nvPr/>
        </p:nvSpPr>
        <p:spPr>
          <a:xfrm xmlns:a="http://schemas.openxmlformats.org/drawingml/2006/main">
            <a:off x="3352800" y="5067300"/>
            <a:ext cx="5486400" cy="781050"/>
          </a:xfrm>
          <a:prstGeom xmlns:a="http://schemas.openxmlformats.org/drawingml/2006/main" prst="roundRect">
            <a:avLst>
              <a:gd name="adj" fmla="val 9756"/>
            </a:avLst>
          </a:prstGeom>
          <a:solidFill xmlns:a="http://schemas.openxmlformats.org/drawingml/2006/main">
            <a:srgbClr val="090C10"/>
          </a:solidFill>
          <a:ln xmlns:a="http://schemas.openxmlformats.org/drawingml/2006/main" w="9525">
            <a:solidFill>
              <a:srgbClr val="30363D"/>
            </a:solidFill>
          </a:ln>
        </p:spPr>
      </p:sp>
      <p:sp>
        <p:nvSpPr>
          <p:cNvPr id="28" name="">
            <a:extLst xmlns:a="http://schemas.openxmlformats.org/drawingml/2006/main">
              <a:ext uri="{FF2B5EF4-FFF2-40B4-BE49-F238E27FC236}">
                <a16:creationId xmlns:a16="http://schemas.microsoft.com/office/drawing/2014/main" id="{218866BF-126E-4336-9ED5-DB0F23078564}"/>
              </a:ext>
            </a:extLst>
          </p:cNvPr>
          <p:cNvSpPr>
            <a:spLocks xmlns:a="http://schemas.openxmlformats.org/drawingml/2006/main" noGrp="1"/>
          </p:cNvSpPr>
          <p:nvPr/>
        </p:nvSpPr>
        <p:spPr>
          <a:xfrm xmlns:a="http://schemas.openxmlformats.org/drawingml/2006/main">
            <a:off x="3352800" y="5067300"/>
            <a:ext cx="76200" cy="781050"/>
          </a:xfrm>
          <a:prstGeom xmlns:a="http://schemas.openxmlformats.org/drawingml/2006/main" prst="rect">
            <a:avLst/>
          </a:prstGeom>
          <a:solidFill xmlns:a="http://schemas.openxmlformats.org/drawingml/2006/main">
            <a:srgbClr val="D2992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B72CD87-F5BE-43C5-B42D-CA9F719F258E}"/>
              </a:ext>
            </a:extLst>
          </p:cNvPr>
          <p:cNvSpPr>
            <a:spLocks xmlns:a="http://schemas.openxmlformats.org/drawingml/2006/main" noGrp="1"/>
          </p:cNvSpPr>
          <p:nvPr/>
        </p:nvSpPr>
        <p:spPr>
          <a:xfrm xmlns:a="http://schemas.openxmlformats.org/drawingml/2006/main">
            <a:off x="3581400" y="5219700"/>
            <a:ext cx="5067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switch main &amp;&amp; git pull --ff-only</a:t>
            </a:r>
          </a:p>
          <a:p xmlns:a="http://schemas.openxmlformats.org/drawingml/2006/main">
            <a:pPr algn="l">
              <a:defRPr sz="1275" b="0">
                <a:solidFill>
                  <a:srgbClr val="E6EDF3"/>
                </a:solidFill>
                <a:latin typeface="DejaVu Sans Mono"/>
                <a:ea typeface="DejaVu Sans Mono"/>
                <a:cs typeface="DejaVu Sans Mono"/>
              </a:defRPr>
            </a:pPr>
            <a:r>
              <a:rPr sz="1275" b="0">
                <a:solidFill>
                  <a:srgbClr val="E6EDF3"/>
                </a:solidFill>
                <a:latin typeface="DejaVu Sans Mono"/>
                <a:ea typeface="DejaVu Sans Mono"/>
                <a:cs typeface="DejaVu Sans Mono"/>
              </a:rPr>
              <a:t>git switch -c issue-12-login-validation</a:t>
            </a:r>
          </a:p>
        </p:txBody>
      </p:sp>
    </p:spTree>
    <p:extLst>
      <p:ext uri="{BB962C8B-B14F-4D97-AF65-F5344CB8AC3E}">
        <p14:creationId xmlns:p14="http://schemas.microsoft.com/office/powerpoint/2010/main" val="1681852713"/>
      </p:ext>
    </p:extLst>
  </p:cSld>
</p:sld>
</file>

<file path=ppt/slides/slide21.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91CDB5C-CB2D-4F09-978A-05D2F18A042B}"/>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Common mistakes and safe responses</a:t>
            </a:r>
          </a:p>
        </p:txBody>
      </p:sp>
      <p:sp>
        <p:nvSpPr>
          <p:cNvPr id="2" name="">
            <a:extLst xmlns:a="http://schemas.openxmlformats.org/drawingml/2006/main">
              <a:ext uri="{FF2B5EF4-FFF2-40B4-BE49-F238E27FC236}">
                <a16:creationId xmlns:a16="http://schemas.microsoft.com/office/drawing/2014/main" id="{5D64C5E0-6851-406F-BB60-D77230FB4F13}"/>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Inspect the state first, then make the correction</a:t>
            </a:r>
          </a:p>
        </p:txBody>
      </p:sp>
      <p:sp>
        <p:nvSpPr>
          <p:cNvPr id="3" name="">
            <a:extLst xmlns:a="http://schemas.openxmlformats.org/drawingml/2006/main">
              <a:ext uri="{FF2B5EF4-FFF2-40B4-BE49-F238E27FC236}">
                <a16:creationId xmlns:a16="http://schemas.microsoft.com/office/drawing/2014/main" id="{00B5D7CE-A69B-47C9-A3E5-BE4EACCCF097}"/>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6DDEAF-2905-4F36-8D2E-15C9A1A9DBA1}"/>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21</a:t>
            </a:r>
          </a:p>
        </p:txBody>
      </p:sp>
      <p:sp>
        <p:nvSpPr>
          <p:cNvPr id="5" name="">
            <a:extLst xmlns:a="http://schemas.openxmlformats.org/drawingml/2006/main">
              <a:ext uri="{FF2B5EF4-FFF2-40B4-BE49-F238E27FC236}">
                <a16:creationId xmlns:a16="http://schemas.microsoft.com/office/drawing/2014/main" id="{0A577E1B-75F2-4E51-A95F-21FA5AC8EF51}"/>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EBA25BCC-6FB1-4FBA-8410-6394426FAF75}"/>
              </a:ext>
            </a:extLst>
          </p:cNvPr>
          <p:cNvSpPr>
            <a:spLocks xmlns:a="http://schemas.openxmlformats.org/drawingml/2006/main" noGrp="1"/>
          </p:cNvSpPr>
          <p:nvPr/>
        </p:nvSpPr>
        <p:spPr>
          <a:xfrm xmlns:a="http://schemas.openxmlformats.org/drawingml/2006/main">
            <a:off x="609600" y="1562100"/>
            <a:ext cx="10972800" cy="647700"/>
          </a:xfrm>
          <a:prstGeom xmlns:a="http://schemas.openxmlformats.org/drawingml/2006/main" prst="roundRect">
            <a:avLst>
              <a:gd name="adj" fmla="val 11765"/>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692A2C34-B166-49D4-8E00-910138108F11}"/>
              </a:ext>
            </a:extLst>
          </p:cNvPr>
          <p:cNvSpPr>
            <a:spLocks xmlns:a="http://schemas.openxmlformats.org/drawingml/2006/main" noGrp="1"/>
          </p:cNvSpPr>
          <p:nvPr/>
        </p:nvSpPr>
        <p:spPr>
          <a:xfrm xmlns:a="http://schemas.openxmlformats.org/drawingml/2006/main">
            <a:off x="800100" y="16573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F6FC"/>
                </a:solidFill>
                <a:latin typeface="DejaVu Sans"/>
                <a:ea typeface="DejaVu Sans"/>
                <a:cs typeface="DejaVu Sans"/>
              </a:defRPr>
            </a:pPr>
            <a:r>
              <a:rPr sz="1275" b="1">
                <a:solidFill>
                  <a:srgbClr val="F0F6FC"/>
                </a:solidFill>
                <a:latin typeface="DejaVu Sans"/>
                <a:ea typeface="DejaVu Sans"/>
                <a:cs typeface="DejaVu Sans"/>
              </a:rPr>
              <a:t>Committed on main</a:t>
            </a:r>
          </a:p>
        </p:txBody>
      </p:sp>
      <p:sp>
        <p:nvSpPr>
          <p:cNvPr id="8" name="">
            <a:extLst xmlns:a="http://schemas.openxmlformats.org/drawingml/2006/main">
              <a:ext uri="{FF2B5EF4-FFF2-40B4-BE49-F238E27FC236}">
                <a16:creationId xmlns:a16="http://schemas.microsoft.com/office/drawing/2014/main" id="{29CB0207-30C9-4679-A8C1-32F6639F2A31}"/>
              </a:ext>
            </a:extLst>
          </p:cNvPr>
          <p:cNvSpPr>
            <a:spLocks xmlns:a="http://schemas.openxmlformats.org/drawingml/2006/main" noGrp="1"/>
          </p:cNvSpPr>
          <p:nvPr/>
        </p:nvSpPr>
        <p:spPr>
          <a:xfrm xmlns:a="http://schemas.openxmlformats.org/drawingml/2006/main">
            <a:off x="3524250" y="16573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move the work to a branch before push</a:t>
            </a:r>
          </a:p>
        </p:txBody>
      </p:sp>
      <p:sp>
        <p:nvSpPr>
          <p:cNvPr id="9" name="">
            <a:extLst xmlns:a="http://schemas.openxmlformats.org/drawingml/2006/main">
              <a:ext uri="{FF2B5EF4-FFF2-40B4-BE49-F238E27FC236}">
                <a16:creationId xmlns:a16="http://schemas.microsoft.com/office/drawing/2014/main" id="{E776422D-58C1-4CB2-878A-F9D93B30ED6D}"/>
              </a:ext>
            </a:extLst>
          </p:cNvPr>
          <p:cNvSpPr>
            <a:spLocks xmlns:a="http://schemas.openxmlformats.org/drawingml/2006/main" noGrp="1"/>
          </p:cNvSpPr>
          <p:nvPr/>
        </p:nvSpPr>
        <p:spPr>
          <a:xfrm xmlns:a="http://schemas.openxmlformats.org/drawingml/2006/main">
            <a:off x="8039100" y="1657350"/>
            <a:ext cx="329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3FB950"/>
                </a:solidFill>
                <a:latin typeface="DejaVu Sans Mono"/>
                <a:ea typeface="DejaVu Sans Mono"/>
                <a:cs typeface="DejaVu Sans Mono"/>
              </a:defRPr>
            </a:pPr>
            <a:r>
              <a:rPr sz="1125" b="1">
                <a:solidFill>
                  <a:srgbClr val="3FB950"/>
                </a:solidFill>
                <a:latin typeface="DejaVu Sans Mono"/>
                <a:ea typeface="DejaVu Sans Mono"/>
                <a:cs typeface="DejaVu Sans Mono"/>
              </a:rPr>
              <a:t>git switch -c fix/move-work</a:t>
            </a:r>
          </a:p>
        </p:txBody>
      </p:sp>
      <p:sp>
        <p:nvSpPr>
          <p:cNvPr id="10" name="">
            <a:extLst xmlns:a="http://schemas.openxmlformats.org/drawingml/2006/main">
              <a:ext uri="{FF2B5EF4-FFF2-40B4-BE49-F238E27FC236}">
                <a16:creationId xmlns:a16="http://schemas.microsoft.com/office/drawing/2014/main" id="{4394B0F9-96E6-48E8-AA4C-6631DA89B953}"/>
              </a:ext>
            </a:extLst>
          </p:cNvPr>
          <p:cNvSpPr>
            <a:spLocks xmlns:a="http://schemas.openxmlformats.org/drawingml/2006/main" noGrp="1"/>
          </p:cNvSpPr>
          <p:nvPr/>
        </p:nvSpPr>
        <p:spPr>
          <a:xfrm xmlns:a="http://schemas.openxmlformats.org/drawingml/2006/main">
            <a:off x="609600" y="2400300"/>
            <a:ext cx="10972800" cy="647700"/>
          </a:xfrm>
          <a:prstGeom xmlns:a="http://schemas.openxmlformats.org/drawingml/2006/main" prst="roundRect">
            <a:avLst>
              <a:gd name="adj" fmla="val 11765"/>
            </a:avLst>
          </a:prstGeom>
          <a:solidFill xmlns:a="http://schemas.openxmlformats.org/drawingml/2006/main">
            <a:srgbClr val="161B22"/>
          </a:solidFill>
          <a:ln xmlns:a="http://schemas.openxmlformats.org/drawingml/2006/main" w="9525">
            <a:solidFill>
              <a:srgbClr val="30363D"/>
            </a:solidFill>
          </a:ln>
        </p:spPr>
      </p:sp>
      <p:sp>
        <p:nvSpPr>
          <p:cNvPr id="11" name="">
            <a:extLst xmlns:a="http://schemas.openxmlformats.org/drawingml/2006/main">
              <a:ext uri="{FF2B5EF4-FFF2-40B4-BE49-F238E27FC236}">
                <a16:creationId xmlns:a16="http://schemas.microsoft.com/office/drawing/2014/main" id="{67D6A5BD-D024-40BB-8F81-388C683C0E2B}"/>
              </a:ext>
            </a:extLst>
          </p:cNvPr>
          <p:cNvSpPr>
            <a:spLocks xmlns:a="http://schemas.openxmlformats.org/drawingml/2006/main" noGrp="1"/>
          </p:cNvSpPr>
          <p:nvPr/>
        </p:nvSpPr>
        <p:spPr>
          <a:xfrm xmlns:a="http://schemas.openxmlformats.org/drawingml/2006/main">
            <a:off x="800100" y="24955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F6FC"/>
                </a:solidFill>
                <a:latin typeface="DejaVu Sans"/>
                <a:ea typeface="DejaVu Sans"/>
                <a:cs typeface="DejaVu Sans"/>
              </a:defRPr>
            </a:pPr>
            <a:r>
              <a:rPr sz="1275" b="1">
                <a:solidFill>
                  <a:srgbClr val="F0F6FC"/>
                </a:solidFill>
                <a:latin typeface="DejaVu Sans"/>
                <a:ea typeface="DejaVu Sans"/>
                <a:cs typeface="DejaVu Sans"/>
              </a:rPr>
              <a:t>Staged an extra file</a:t>
            </a:r>
          </a:p>
        </p:txBody>
      </p:sp>
      <p:sp>
        <p:nvSpPr>
          <p:cNvPr id="12" name="">
            <a:extLst xmlns:a="http://schemas.openxmlformats.org/drawingml/2006/main">
              <a:ext uri="{FF2B5EF4-FFF2-40B4-BE49-F238E27FC236}">
                <a16:creationId xmlns:a16="http://schemas.microsoft.com/office/drawing/2014/main" id="{205AE9EC-886F-4BD4-8BC4-ADC162AD8CDD}"/>
              </a:ext>
            </a:extLst>
          </p:cNvPr>
          <p:cNvSpPr>
            <a:spLocks xmlns:a="http://schemas.openxmlformats.org/drawingml/2006/main" noGrp="1"/>
          </p:cNvSpPr>
          <p:nvPr/>
        </p:nvSpPr>
        <p:spPr>
          <a:xfrm xmlns:a="http://schemas.openxmlformats.org/drawingml/2006/main">
            <a:off x="3524250" y="24955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unstage it while keeping the file</a:t>
            </a:r>
          </a:p>
        </p:txBody>
      </p:sp>
      <p:sp>
        <p:nvSpPr>
          <p:cNvPr id="13" name="">
            <a:extLst xmlns:a="http://schemas.openxmlformats.org/drawingml/2006/main">
              <a:ext uri="{FF2B5EF4-FFF2-40B4-BE49-F238E27FC236}">
                <a16:creationId xmlns:a16="http://schemas.microsoft.com/office/drawing/2014/main" id="{FBF8564B-C958-4C4F-8733-FF4D03C40A6F}"/>
              </a:ext>
            </a:extLst>
          </p:cNvPr>
          <p:cNvSpPr>
            <a:spLocks xmlns:a="http://schemas.openxmlformats.org/drawingml/2006/main" noGrp="1"/>
          </p:cNvSpPr>
          <p:nvPr/>
        </p:nvSpPr>
        <p:spPr>
          <a:xfrm xmlns:a="http://schemas.openxmlformats.org/drawingml/2006/main">
            <a:off x="8039100" y="2495550"/>
            <a:ext cx="329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3FB950"/>
                </a:solidFill>
                <a:latin typeface="DejaVu Sans Mono"/>
                <a:ea typeface="DejaVu Sans Mono"/>
                <a:cs typeface="DejaVu Sans Mono"/>
              </a:defRPr>
            </a:pPr>
            <a:r>
              <a:rPr sz="1125" b="1">
                <a:solidFill>
                  <a:srgbClr val="3FB950"/>
                </a:solidFill>
                <a:latin typeface="DejaVu Sans Mono"/>
                <a:ea typeface="DejaVu Sans Mono"/>
                <a:cs typeface="DejaVu Sans Mono"/>
              </a:rPr>
              <a:t>git restore --staged file</a:t>
            </a:r>
          </a:p>
        </p:txBody>
      </p:sp>
      <p:sp>
        <p:nvSpPr>
          <p:cNvPr id="14" name="">
            <a:extLst xmlns:a="http://schemas.openxmlformats.org/drawingml/2006/main">
              <a:ext uri="{FF2B5EF4-FFF2-40B4-BE49-F238E27FC236}">
                <a16:creationId xmlns:a16="http://schemas.microsoft.com/office/drawing/2014/main" id="{F6E59B3C-21E6-446A-B168-E30735870DCC}"/>
              </a:ext>
            </a:extLst>
          </p:cNvPr>
          <p:cNvSpPr>
            <a:spLocks xmlns:a="http://schemas.openxmlformats.org/drawingml/2006/main" noGrp="1"/>
          </p:cNvSpPr>
          <p:nvPr/>
        </p:nvSpPr>
        <p:spPr>
          <a:xfrm xmlns:a="http://schemas.openxmlformats.org/drawingml/2006/main">
            <a:off x="609600" y="3238500"/>
            <a:ext cx="10972800" cy="647700"/>
          </a:xfrm>
          <a:prstGeom xmlns:a="http://schemas.openxmlformats.org/drawingml/2006/main" prst="roundRect">
            <a:avLst>
              <a:gd name="adj" fmla="val 11765"/>
            </a:avLst>
          </a:prstGeom>
          <a:solidFill xmlns:a="http://schemas.openxmlformats.org/drawingml/2006/main">
            <a:srgbClr val="161B22"/>
          </a:solidFill>
          <a:ln xmlns:a="http://schemas.openxmlformats.org/drawingml/2006/main" w="9525">
            <a:solidFill>
              <a:srgbClr val="30363D"/>
            </a:solidFill>
          </a:ln>
        </p:spPr>
      </p:sp>
      <p:sp>
        <p:nvSpPr>
          <p:cNvPr id="15" name="">
            <a:extLst xmlns:a="http://schemas.openxmlformats.org/drawingml/2006/main">
              <a:ext uri="{FF2B5EF4-FFF2-40B4-BE49-F238E27FC236}">
                <a16:creationId xmlns:a16="http://schemas.microsoft.com/office/drawing/2014/main" id="{374DB953-7F53-46BE-B6E5-6D6BB5A395B6}"/>
              </a:ext>
            </a:extLst>
          </p:cNvPr>
          <p:cNvSpPr>
            <a:spLocks xmlns:a="http://schemas.openxmlformats.org/drawingml/2006/main" noGrp="1"/>
          </p:cNvSpPr>
          <p:nvPr/>
        </p:nvSpPr>
        <p:spPr>
          <a:xfrm xmlns:a="http://schemas.openxmlformats.org/drawingml/2006/main">
            <a:off x="800100" y="33337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F6FC"/>
                </a:solidFill>
                <a:latin typeface="DejaVu Sans"/>
                <a:ea typeface="DejaVu Sans"/>
                <a:cs typeface="DejaVu Sans"/>
              </a:defRPr>
            </a:pPr>
            <a:r>
              <a:rPr sz="1275" b="1">
                <a:solidFill>
                  <a:srgbClr val="F0F6FC"/>
                </a:solidFill>
                <a:latin typeface="DejaVu Sans"/>
                <a:ea typeface="DejaVu Sans"/>
                <a:cs typeface="DejaVu Sans"/>
              </a:rPr>
              <a:t>Undo a published commit</a:t>
            </a:r>
          </a:p>
        </p:txBody>
      </p:sp>
      <p:sp>
        <p:nvSpPr>
          <p:cNvPr id="16" name="">
            <a:extLst xmlns:a="http://schemas.openxmlformats.org/drawingml/2006/main">
              <a:ext uri="{FF2B5EF4-FFF2-40B4-BE49-F238E27FC236}">
                <a16:creationId xmlns:a16="http://schemas.microsoft.com/office/drawing/2014/main" id="{02488ED1-A42C-479D-81C0-F751C4F3B217}"/>
              </a:ext>
            </a:extLst>
          </p:cNvPr>
          <p:cNvSpPr>
            <a:spLocks xmlns:a="http://schemas.openxmlformats.org/drawingml/2006/main" noGrp="1"/>
          </p:cNvSpPr>
          <p:nvPr/>
        </p:nvSpPr>
        <p:spPr>
          <a:xfrm xmlns:a="http://schemas.openxmlformats.org/drawingml/2006/main">
            <a:off x="3524250" y="33337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create a new inverse commit</a:t>
            </a:r>
          </a:p>
        </p:txBody>
      </p:sp>
      <p:sp>
        <p:nvSpPr>
          <p:cNvPr id="17" name="">
            <a:extLst xmlns:a="http://schemas.openxmlformats.org/drawingml/2006/main">
              <a:ext uri="{FF2B5EF4-FFF2-40B4-BE49-F238E27FC236}">
                <a16:creationId xmlns:a16="http://schemas.microsoft.com/office/drawing/2014/main" id="{7FB8ED7A-1EB3-4BB2-8C52-6B6A34678644}"/>
              </a:ext>
            </a:extLst>
          </p:cNvPr>
          <p:cNvSpPr>
            <a:spLocks xmlns:a="http://schemas.openxmlformats.org/drawingml/2006/main" noGrp="1"/>
          </p:cNvSpPr>
          <p:nvPr/>
        </p:nvSpPr>
        <p:spPr>
          <a:xfrm xmlns:a="http://schemas.openxmlformats.org/drawingml/2006/main">
            <a:off x="8039100" y="3333750"/>
            <a:ext cx="329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3FB950"/>
                </a:solidFill>
                <a:latin typeface="DejaVu Sans Mono"/>
                <a:ea typeface="DejaVu Sans Mono"/>
                <a:cs typeface="DejaVu Sans Mono"/>
              </a:defRPr>
            </a:pPr>
            <a:r>
              <a:rPr sz="1125" b="1">
                <a:solidFill>
                  <a:srgbClr val="3FB950"/>
                </a:solidFill>
                <a:latin typeface="DejaVu Sans Mono"/>
                <a:ea typeface="DejaVu Sans Mono"/>
                <a:cs typeface="DejaVu Sans Mono"/>
              </a:rPr>
              <a:t>git revert &lt;hash&gt;</a:t>
            </a:r>
          </a:p>
        </p:txBody>
      </p:sp>
      <p:sp>
        <p:nvSpPr>
          <p:cNvPr id="18" name="">
            <a:extLst xmlns:a="http://schemas.openxmlformats.org/drawingml/2006/main">
              <a:ext uri="{FF2B5EF4-FFF2-40B4-BE49-F238E27FC236}">
                <a16:creationId xmlns:a16="http://schemas.microsoft.com/office/drawing/2014/main" id="{44C65E39-FC5D-4567-90BF-7FB1489ACAD6}"/>
              </a:ext>
            </a:extLst>
          </p:cNvPr>
          <p:cNvSpPr>
            <a:spLocks xmlns:a="http://schemas.openxmlformats.org/drawingml/2006/main" noGrp="1"/>
          </p:cNvSpPr>
          <p:nvPr/>
        </p:nvSpPr>
        <p:spPr>
          <a:xfrm xmlns:a="http://schemas.openxmlformats.org/drawingml/2006/main">
            <a:off x="609600" y="4076700"/>
            <a:ext cx="10972800" cy="647700"/>
          </a:xfrm>
          <a:prstGeom xmlns:a="http://schemas.openxmlformats.org/drawingml/2006/main" prst="roundRect">
            <a:avLst>
              <a:gd name="adj" fmla="val 11765"/>
            </a:avLst>
          </a:prstGeom>
          <a:solidFill xmlns:a="http://schemas.openxmlformats.org/drawingml/2006/main">
            <a:srgbClr val="161B22"/>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B44DC34C-4E07-4804-AE10-E88AEFC44E94}"/>
              </a:ext>
            </a:extLst>
          </p:cNvPr>
          <p:cNvSpPr>
            <a:spLocks xmlns:a="http://schemas.openxmlformats.org/drawingml/2006/main" noGrp="1"/>
          </p:cNvSpPr>
          <p:nvPr/>
        </p:nvSpPr>
        <p:spPr>
          <a:xfrm xmlns:a="http://schemas.openxmlformats.org/drawingml/2006/main">
            <a:off x="800100" y="41719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F6FC"/>
                </a:solidFill>
                <a:latin typeface="DejaVu Sans"/>
                <a:ea typeface="DejaVu Sans"/>
                <a:cs typeface="DejaVu Sans"/>
              </a:defRPr>
            </a:pPr>
            <a:r>
              <a:rPr sz="1275" b="1">
                <a:solidFill>
                  <a:srgbClr val="F0F6FC"/>
                </a:solidFill>
                <a:latin typeface="DejaVu Sans"/>
                <a:ea typeface="DejaVu Sans"/>
                <a:cs typeface="DejaVu Sans"/>
              </a:rPr>
              <a:t>Push rejected</a:t>
            </a:r>
          </a:p>
        </p:txBody>
      </p:sp>
      <p:sp>
        <p:nvSpPr>
          <p:cNvPr id="20" name="">
            <a:extLst xmlns:a="http://schemas.openxmlformats.org/drawingml/2006/main">
              <a:ext uri="{FF2B5EF4-FFF2-40B4-BE49-F238E27FC236}">
                <a16:creationId xmlns:a16="http://schemas.microsoft.com/office/drawing/2014/main" id="{412C0F72-0649-4499-B075-754D1BC22746}"/>
              </a:ext>
            </a:extLst>
          </p:cNvPr>
          <p:cNvSpPr>
            <a:spLocks xmlns:a="http://schemas.openxmlformats.org/drawingml/2006/main" noGrp="1"/>
          </p:cNvSpPr>
          <p:nvPr/>
        </p:nvSpPr>
        <p:spPr>
          <a:xfrm xmlns:a="http://schemas.openxmlformats.org/drawingml/2006/main">
            <a:off x="3524250" y="41719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download and integrate remote changes</a:t>
            </a:r>
          </a:p>
        </p:txBody>
      </p:sp>
      <p:sp>
        <p:nvSpPr>
          <p:cNvPr id="21" name="">
            <a:extLst xmlns:a="http://schemas.openxmlformats.org/drawingml/2006/main">
              <a:ext uri="{FF2B5EF4-FFF2-40B4-BE49-F238E27FC236}">
                <a16:creationId xmlns:a16="http://schemas.microsoft.com/office/drawing/2014/main" id="{2553D8B5-34EE-452E-838B-AAD7BC67EA91}"/>
              </a:ext>
            </a:extLst>
          </p:cNvPr>
          <p:cNvSpPr>
            <a:spLocks xmlns:a="http://schemas.openxmlformats.org/drawingml/2006/main" noGrp="1"/>
          </p:cNvSpPr>
          <p:nvPr/>
        </p:nvSpPr>
        <p:spPr>
          <a:xfrm xmlns:a="http://schemas.openxmlformats.org/drawingml/2006/main">
            <a:off x="8039100" y="4171950"/>
            <a:ext cx="329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3FB950"/>
                </a:solidFill>
                <a:latin typeface="DejaVu Sans Mono"/>
                <a:ea typeface="DejaVu Sans Mono"/>
                <a:cs typeface="DejaVu Sans Mono"/>
              </a:defRPr>
            </a:pPr>
            <a:r>
              <a:rPr sz="1125" b="1">
                <a:solidFill>
                  <a:srgbClr val="3FB950"/>
                </a:solidFill>
                <a:latin typeface="DejaVu Sans Mono"/>
                <a:ea typeface="DejaVu Sans Mono"/>
                <a:cs typeface="DejaVu Sans Mono"/>
              </a:rPr>
              <a:t>git fetch / git pull</a:t>
            </a:r>
          </a:p>
        </p:txBody>
      </p:sp>
      <p:sp>
        <p:nvSpPr>
          <p:cNvPr id="22" name="">
            <a:extLst xmlns:a="http://schemas.openxmlformats.org/drawingml/2006/main">
              <a:ext uri="{FF2B5EF4-FFF2-40B4-BE49-F238E27FC236}">
                <a16:creationId xmlns:a16="http://schemas.microsoft.com/office/drawing/2014/main" id="{1737E8B5-253C-40D2-BE31-D985D8D08BD1}"/>
              </a:ext>
            </a:extLst>
          </p:cNvPr>
          <p:cNvSpPr>
            <a:spLocks xmlns:a="http://schemas.openxmlformats.org/drawingml/2006/main" noGrp="1"/>
          </p:cNvSpPr>
          <p:nvPr/>
        </p:nvSpPr>
        <p:spPr>
          <a:xfrm xmlns:a="http://schemas.openxmlformats.org/drawingml/2006/main">
            <a:off x="609600" y="4914900"/>
            <a:ext cx="10972800" cy="647700"/>
          </a:xfrm>
          <a:prstGeom xmlns:a="http://schemas.openxmlformats.org/drawingml/2006/main" prst="roundRect">
            <a:avLst>
              <a:gd name="adj" fmla="val 11765"/>
            </a:avLst>
          </a:prstGeom>
          <a:solidFill xmlns:a="http://schemas.openxmlformats.org/drawingml/2006/main">
            <a:srgbClr val="31191C"/>
          </a:solidFill>
          <a:ln xmlns:a="http://schemas.openxmlformats.org/drawingml/2006/main" w="9525">
            <a:solidFill>
              <a:srgbClr val="30363D"/>
            </a:solidFill>
          </a:ln>
        </p:spPr>
      </p:sp>
      <p:sp>
        <p:nvSpPr>
          <p:cNvPr id="23" name="">
            <a:extLst xmlns:a="http://schemas.openxmlformats.org/drawingml/2006/main">
              <a:ext uri="{FF2B5EF4-FFF2-40B4-BE49-F238E27FC236}">
                <a16:creationId xmlns:a16="http://schemas.microsoft.com/office/drawing/2014/main" id="{883E1E64-21A9-4301-B636-B4BCB1756E8E}"/>
              </a:ext>
            </a:extLst>
          </p:cNvPr>
          <p:cNvSpPr>
            <a:spLocks xmlns:a="http://schemas.openxmlformats.org/drawingml/2006/main" noGrp="1"/>
          </p:cNvSpPr>
          <p:nvPr/>
        </p:nvSpPr>
        <p:spPr>
          <a:xfrm xmlns:a="http://schemas.openxmlformats.org/drawingml/2006/main">
            <a:off x="800100" y="50101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85149"/>
                </a:solidFill>
                <a:latin typeface="DejaVu Sans"/>
                <a:ea typeface="DejaVu Sans"/>
                <a:cs typeface="DejaVu Sans"/>
              </a:defRPr>
            </a:pPr>
            <a:r>
              <a:rPr sz="1275" b="1">
                <a:solidFill>
                  <a:srgbClr val="F85149"/>
                </a:solidFill>
                <a:latin typeface="DejaVu Sans"/>
                <a:ea typeface="DejaVu Sans"/>
                <a:cs typeface="DejaVu Sans"/>
              </a:rPr>
              <a:t>Secret in history</a:t>
            </a:r>
          </a:p>
        </p:txBody>
      </p:sp>
      <p:sp>
        <p:nvSpPr>
          <p:cNvPr id="24" name="">
            <a:extLst xmlns:a="http://schemas.openxmlformats.org/drawingml/2006/main">
              <a:ext uri="{FF2B5EF4-FFF2-40B4-BE49-F238E27FC236}">
                <a16:creationId xmlns:a16="http://schemas.microsoft.com/office/drawing/2014/main" id="{CB422471-D167-493C-B9EB-D13F89AC61D7}"/>
              </a:ext>
            </a:extLst>
          </p:cNvPr>
          <p:cNvSpPr>
            <a:spLocks xmlns:a="http://schemas.openxmlformats.org/drawingml/2006/main" noGrp="1"/>
          </p:cNvSpPr>
          <p:nvPr/>
        </p:nvSpPr>
        <p:spPr>
          <a:xfrm xmlns:a="http://schemas.openxmlformats.org/drawingml/2006/main">
            <a:off x="3524250" y="50101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revoke the secret and clean history</a:t>
            </a:r>
          </a:p>
        </p:txBody>
      </p:sp>
      <p:sp>
        <p:nvSpPr>
          <p:cNvPr id="25" name="">
            <a:extLst xmlns:a="http://schemas.openxmlformats.org/drawingml/2006/main">
              <a:ext uri="{FF2B5EF4-FFF2-40B4-BE49-F238E27FC236}">
                <a16:creationId xmlns:a16="http://schemas.microsoft.com/office/drawing/2014/main" id="{4127D1E8-6FDC-4BBE-9344-9FEC2D88C4BE}"/>
              </a:ext>
            </a:extLst>
          </p:cNvPr>
          <p:cNvSpPr>
            <a:spLocks xmlns:a="http://schemas.openxmlformats.org/drawingml/2006/main" noGrp="1"/>
          </p:cNvSpPr>
          <p:nvPr/>
        </p:nvSpPr>
        <p:spPr>
          <a:xfrm xmlns:a="http://schemas.openxmlformats.org/drawingml/2006/main">
            <a:off x="8039100" y="5010150"/>
            <a:ext cx="329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85149"/>
                </a:solidFill>
                <a:latin typeface="DejaVu Sans Mono"/>
                <a:ea typeface="DejaVu Sans Mono"/>
                <a:cs typeface="DejaVu Sans Mono"/>
              </a:defRPr>
            </a:pPr>
            <a:r>
              <a:rPr sz="1125" b="1">
                <a:solidFill>
                  <a:srgbClr val="F85149"/>
                </a:solidFill>
                <a:latin typeface="DejaVu Sans Mono"/>
                <a:ea typeface="DejaVu Sans Mono"/>
                <a:cs typeface="DejaVu Sans Mono"/>
              </a:rPr>
              <a:t>rotate/revoke first</a:t>
            </a:r>
          </a:p>
        </p:txBody>
      </p:sp>
    </p:spTree>
    <p:extLst>
      <p:ext uri="{BB962C8B-B14F-4D97-AF65-F5344CB8AC3E}">
        <p14:creationId xmlns:p14="http://schemas.microsoft.com/office/powerpoint/2010/main" val="1737268059"/>
      </p:ext>
    </p:extLst>
  </p:cSld>
</p:sld>
</file>

<file path=ppt/slides/slide22.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7BA3651-5D90-40D6-A1B0-8FCB87D550BE}"/>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Lab: from Issue to Merge</a:t>
            </a:r>
          </a:p>
        </p:txBody>
      </p:sp>
      <p:sp>
        <p:nvSpPr>
          <p:cNvPr id="2" name="">
            <a:extLst xmlns:a="http://schemas.openxmlformats.org/drawingml/2006/main">
              <a:ext uri="{FF2B5EF4-FFF2-40B4-BE49-F238E27FC236}">
                <a16:creationId xmlns:a16="http://schemas.microsoft.com/office/drawing/2014/main" id="{44AB1ABA-4A49-4468-B50F-49B1CE0FC3F7}"/>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Work in pairs, alternating author and reviewer roles</a:t>
            </a:r>
          </a:p>
        </p:txBody>
      </p:sp>
      <p:sp>
        <p:nvSpPr>
          <p:cNvPr id="3" name="">
            <a:extLst xmlns:a="http://schemas.openxmlformats.org/drawingml/2006/main">
              <a:ext uri="{FF2B5EF4-FFF2-40B4-BE49-F238E27FC236}">
                <a16:creationId xmlns:a16="http://schemas.microsoft.com/office/drawing/2014/main" id="{6207071C-0CD7-4F77-A1E7-6A79B4540752}"/>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AADB33-2840-403B-8644-4BEA07961A8C}"/>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22</a:t>
            </a:r>
          </a:p>
        </p:txBody>
      </p:sp>
      <p:sp>
        <p:nvSpPr>
          <p:cNvPr id="5" name="">
            <a:extLst xmlns:a="http://schemas.openxmlformats.org/drawingml/2006/main">
              <a:ext uri="{FF2B5EF4-FFF2-40B4-BE49-F238E27FC236}">
                <a16:creationId xmlns:a16="http://schemas.microsoft.com/office/drawing/2014/main" id="{62A2DD22-DD52-4E49-8B99-2B1F874BF05B}"/>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A3AE76AA-4749-4B85-A1D7-EA4305B10E8F}"/>
              </a:ext>
            </a:extLst>
          </p:cNvPr>
          <p:cNvSpPr>
            <a:spLocks xmlns:a="http://schemas.openxmlformats.org/drawingml/2006/main" noGrp="1"/>
          </p:cNvSpPr>
          <p:nvPr/>
        </p:nvSpPr>
        <p:spPr>
          <a:xfrm xmlns:a="http://schemas.openxmlformats.org/drawingml/2006/main">
            <a:off x="609600" y="156210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29217FC9-2310-4A49-A255-61AA5FCA1037}"/>
              </a:ext>
            </a:extLst>
          </p:cNvPr>
          <p:cNvSpPr>
            <a:spLocks xmlns:a="http://schemas.openxmlformats.org/drawingml/2006/main" noGrp="1"/>
          </p:cNvSpPr>
          <p:nvPr/>
        </p:nvSpPr>
        <p:spPr>
          <a:xfrm xmlns:a="http://schemas.openxmlformats.org/drawingml/2006/main">
            <a:off x="800100" y="1790700"/>
            <a:ext cx="609600" cy="609600"/>
          </a:xfrm>
          <a:prstGeom xmlns:a="http://schemas.openxmlformats.org/drawingml/2006/main" prst="rect">
            <a:avLst/>
          </a:prstGeom>
          <a:solidFill xmlns:a="http://schemas.openxmlformats.org/drawingml/2006/main">
            <a:srgbClr val="58A6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A</a:t>
            </a:r>
          </a:p>
        </p:txBody>
      </p:sp>
      <p:sp>
        <p:nvSpPr>
          <p:cNvPr id="8" name="">
            <a:extLst xmlns:a="http://schemas.openxmlformats.org/drawingml/2006/main">
              <a:ext uri="{FF2B5EF4-FFF2-40B4-BE49-F238E27FC236}">
                <a16:creationId xmlns:a16="http://schemas.microsoft.com/office/drawing/2014/main" id="{ECC6E017-C5F7-42BF-B2AB-2F1124E61402}"/>
              </a:ext>
            </a:extLst>
          </p:cNvPr>
          <p:cNvSpPr>
            <a:spLocks xmlns:a="http://schemas.openxmlformats.org/drawingml/2006/main" noGrp="1"/>
          </p:cNvSpPr>
          <p:nvPr/>
        </p:nvSpPr>
        <p:spPr>
          <a:xfrm xmlns:a="http://schemas.openxmlformats.org/drawingml/2006/main">
            <a:off x="1581150" y="17145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0F6FC"/>
                </a:solidFill>
                <a:latin typeface="DejaVu Sans"/>
                <a:ea typeface="DejaVu Sans"/>
                <a:cs typeface="DejaVu Sans"/>
              </a:defRPr>
            </a:pPr>
            <a:r>
              <a:rPr sz="1500" b="1">
                <a:solidFill>
                  <a:srgbClr val="F0F6FC"/>
                </a:solidFill>
                <a:latin typeface="DejaVu Sans"/>
                <a:ea typeface="DejaVu Sans"/>
                <a:cs typeface="DejaVu Sans"/>
              </a:rPr>
              <a:t>Create an Issue</a:t>
            </a:r>
          </a:p>
        </p:txBody>
      </p:sp>
      <p:sp>
        <p:nvSpPr>
          <p:cNvPr id="9" name="">
            <a:extLst xmlns:a="http://schemas.openxmlformats.org/drawingml/2006/main">
              <a:ext uri="{FF2B5EF4-FFF2-40B4-BE49-F238E27FC236}">
                <a16:creationId xmlns:a16="http://schemas.microsoft.com/office/drawing/2014/main" id="{0867B702-DF65-43C1-974D-742CD9C6D2F7}"/>
              </a:ext>
            </a:extLst>
          </p:cNvPr>
          <p:cNvSpPr>
            <a:spLocks xmlns:a="http://schemas.openxmlformats.org/drawingml/2006/main" noGrp="1"/>
          </p:cNvSpPr>
          <p:nvPr/>
        </p:nvSpPr>
        <p:spPr>
          <a:xfrm xmlns:a="http://schemas.openxmlformats.org/drawingml/2006/main">
            <a:off x="1581150" y="20574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Delete-task feature plus acceptance criteria</a:t>
            </a:r>
          </a:p>
        </p:txBody>
      </p:sp>
      <p:sp>
        <p:nvSpPr>
          <p:cNvPr id="10" name="">
            <a:extLst xmlns:a="http://schemas.openxmlformats.org/drawingml/2006/main">
              <a:ext uri="{FF2B5EF4-FFF2-40B4-BE49-F238E27FC236}">
                <a16:creationId xmlns:a16="http://schemas.microsoft.com/office/drawing/2014/main" id="{C5160AD5-EE64-4E56-8277-363A92A339E1}"/>
              </a:ext>
            </a:extLst>
          </p:cNvPr>
          <p:cNvSpPr>
            <a:spLocks xmlns:a="http://schemas.openxmlformats.org/drawingml/2006/main" noGrp="1"/>
          </p:cNvSpPr>
          <p:nvPr/>
        </p:nvSpPr>
        <p:spPr>
          <a:xfrm xmlns:a="http://schemas.openxmlformats.org/drawingml/2006/main">
            <a:off x="6324600" y="156210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11" name="">
            <a:extLst xmlns:a="http://schemas.openxmlformats.org/drawingml/2006/main">
              <a:ext uri="{FF2B5EF4-FFF2-40B4-BE49-F238E27FC236}">
                <a16:creationId xmlns:a16="http://schemas.microsoft.com/office/drawing/2014/main" id="{35529EA7-EFB7-4DEE-91B3-5005BDE8CE95}"/>
              </a:ext>
            </a:extLst>
          </p:cNvPr>
          <p:cNvSpPr>
            <a:spLocks xmlns:a="http://schemas.openxmlformats.org/drawingml/2006/main" noGrp="1"/>
          </p:cNvSpPr>
          <p:nvPr/>
        </p:nvSpPr>
        <p:spPr>
          <a:xfrm xmlns:a="http://schemas.openxmlformats.org/drawingml/2006/main">
            <a:off x="6515100" y="1790700"/>
            <a:ext cx="609600" cy="609600"/>
          </a:xfrm>
          <a:prstGeom xmlns:a="http://schemas.openxmlformats.org/drawingml/2006/main" prst="rect">
            <a:avLst/>
          </a:prstGeom>
          <a:solidFill xmlns:a="http://schemas.openxmlformats.org/drawingml/2006/main">
            <a:srgbClr val="3FB95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B</a:t>
            </a:r>
          </a:p>
        </p:txBody>
      </p:sp>
      <p:sp>
        <p:nvSpPr>
          <p:cNvPr id="12" name="">
            <a:extLst xmlns:a="http://schemas.openxmlformats.org/drawingml/2006/main">
              <a:ext uri="{FF2B5EF4-FFF2-40B4-BE49-F238E27FC236}">
                <a16:creationId xmlns:a16="http://schemas.microsoft.com/office/drawing/2014/main" id="{A7CC565B-8EE9-4006-8D4C-1426888FC7E2}"/>
              </a:ext>
            </a:extLst>
          </p:cNvPr>
          <p:cNvSpPr>
            <a:spLocks xmlns:a="http://schemas.openxmlformats.org/drawingml/2006/main" noGrp="1"/>
          </p:cNvSpPr>
          <p:nvPr/>
        </p:nvSpPr>
        <p:spPr>
          <a:xfrm xmlns:a="http://schemas.openxmlformats.org/drawingml/2006/main">
            <a:off x="7296150" y="17145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0F6FC"/>
                </a:solidFill>
                <a:latin typeface="DejaVu Sans"/>
                <a:ea typeface="DejaVu Sans"/>
                <a:cs typeface="DejaVu Sans"/>
              </a:defRPr>
            </a:pPr>
            <a:r>
              <a:rPr sz="1500" b="1">
                <a:solidFill>
                  <a:srgbClr val="F0F6FC"/>
                </a:solidFill>
                <a:latin typeface="DejaVu Sans"/>
                <a:ea typeface="DejaVu Sans"/>
                <a:cs typeface="DejaVu Sans"/>
              </a:rPr>
              <a:t>Create a branch</a:t>
            </a:r>
          </a:p>
        </p:txBody>
      </p:sp>
      <p:sp>
        <p:nvSpPr>
          <p:cNvPr id="13" name="">
            <a:extLst xmlns:a="http://schemas.openxmlformats.org/drawingml/2006/main">
              <a:ext uri="{FF2B5EF4-FFF2-40B4-BE49-F238E27FC236}">
                <a16:creationId xmlns:a16="http://schemas.microsoft.com/office/drawing/2014/main" id="{B179C103-3C30-4DD1-8C96-89B6E4AC1EC8}"/>
              </a:ext>
            </a:extLst>
          </p:cNvPr>
          <p:cNvSpPr>
            <a:spLocks xmlns:a="http://schemas.openxmlformats.org/drawingml/2006/main" noGrp="1"/>
          </p:cNvSpPr>
          <p:nvPr/>
        </p:nvSpPr>
        <p:spPr>
          <a:xfrm xmlns:a="http://schemas.openxmlformats.org/drawingml/2006/main">
            <a:off x="7296150" y="20574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issue-N-delete-task from updated main</a:t>
            </a:r>
          </a:p>
        </p:txBody>
      </p:sp>
      <p:sp>
        <p:nvSpPr>
          <p:cNvPr id="14" name="">
            <a:extLst xmlns:a="http://schemas.openxmlformats.org/drawingml/2006/main">
              <a:ext uri="{FF2B5EF4-FFF2-40B4-BE49-F238E27FC236}">
                <a16:creationId xmlns:a16="http://schemas.microsoft.com/office/drawing/2014/main" id="{8CDD0CCF-8609-4AC2-9D6E-CE911E5BD354}"/>
              </a:ext>
            </a:extLst>
          </p:cNvPr>
          <p:cNvSpPr>
            <a:spLocks xmlns:a="http://schemas.openxmlformats.org/drawingml/2006/main" noGrp="1"/>
          </p:cNvSpPr>
          <p:nvPr/>
        </p:nvSpPr>
        <p:spPr>
          <a:xfrm xmlns:a="http://schemas.openxmlformats.org/drawingml/2006/main">
            <a:off x="609600" y="291465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15" name="">
            <a:extLst xmlns:a="http://schemas.openxmlformats.org/drawingml/2006/main">
              <a:ext uri="{FF2B5EF4-FFF2-40B4-BE49-F238E27FC236}">
                <a16:creationId xmlns:a16="http://schemas.microsoft.com/office/drawing/2014/main" id="{CD293349-9C70-4DA6-94E6-23A4B0B3A8B7}"/>
              </a:ext>
            </a:extLst>
          </p:cNvPr>
          <p:cNvSpPr>
            <a:spLocks xmlns:a="http://schemas.openxmlformats.org/drawingml/2006/main" noGrp="1"/>
          </p:cNvSpPr>
          <p:nvPr/>
        </p:nvSpPr>
        <p:spPr>
          <a:xfrm xmlns:a="http://schemas.openxmlformats.org/drawingml/2006/main">
            <a:off x="800100" y="3143250"/>
            <a:ext cx="609600" cy="609600"/>
          </a:xfrm>
          <a:prstGeom xmlns:a="http://schemas.openxmlformats.org/drawingml/2006/main" prst="rect">
            <a:avLst/>
          </a:prstGeom>
          <a:solidFill xmlns:a="http://schemas.openxmlformats.org/drawingml/2006/main">
            <a:srgbClr val="58A6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C</a:t>
            </a:r>
          </a:p>
        </p:txBody>
      </p:sp>
      <p:sp>
        <p:nvSpPr>
          <p:cNvPr id="16" name="">
            <a:extLst xmlns:a="http://schemas.openxmlformats.org/drawingml/2006/main">
              <a:ext uri="{FF2B5EF4-FFF2-40B4-BE49-F238E27FC236}">
                <a16:creationId xmlns:a16="http://schemas.microsoft.com/office/drawing/2014/main" id="{0F35C807-B948-401E-9051-299BE7CF045D}"/>
              </a:ext>
            </a:extLst>
          </p:cNvPr>
          <p:cNvSpPr>
            <a:spLocks xmlns:a="http://schemas.openxmlformats.org/drawingml/2006/main" noGrp="1"/>
          </p:cNvSpPr>
          <p:nvPr/>
        </p:nvSpPr>
        <p:spPr>
          <a:xfrm xmlns:a="http://schemas.openxmlformats.org/drawingml/2006/main">
            <a:off x="1581150" y="30670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0F6FC"/>
                </a:solidFill>
                <a:latin typeface="DejaVu Sans"/>
                <a:ea typeface="DejaVu Sans"/>
                <a:cs typeface="DejaVu Sans"/>
              </a:defRPr>
            </a:pPr>
            <a:r>
              <a:rPr sz="1500" b="1">
                <a:solidFill>
                  <a:srgbClr val="F0F6FC"/>
                </a:solidFill>
                <a:latin typeface="DejaVu Sans"/>
                <a:ea typeface="DejaVu Sans"/>
                <a:cs typeface="DejaVu Sans"/>
              </a:rPr>
              <a:t>Implement</a:t>
            </a:r>
          </a:p>
        </p:txBody>
      </p:sp>
      <p:sp>
        <p:nvSpPr>
          <p:cNvPr id="17" name="">
            <a:extLst xmlns:a="http://schemas.openxmlformats.org/drawingml/2006/main">
              <a:ext uri="{FF2B5EF4-FFF2-40B4-BE49-F238E27FC236}">
                <a16:creationId xmlns:a16="http://schemas.microsoft.com/office/drawing/2014/main" id="{755C06C3-4C22-45CB-B3F4-B8B81C03726A}"/>
              </a:ext>
            </a:extLst>
          </p:cNvPr>
          <p:cNvSpPr>
            <a:spLocks xmlns:a="http://schemas.openxmlformats.org/drawingml/2006/main" noGrp="1"/>
          </p:cNvSpPr>
          <p:nvPr/>
        </p:nvSpPr>
        <p:spPr>
          <a:xfrm xmlns:a="http://schemas.openxmlformats.org/drawingml/2006/main">
            <a:off x="1581150" y="34099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code, test, and at least one meaningful commit</a:t>
            </a:r>
          </a:p>
        </p:txBody>
      </p:sp>
      <p:sp>
        <p:nvSpPr>
          <p:cNvPr id="18" name="">
            <a:extLst xmlns:a="http://schemas.openxmlformats.org/drawingml/2006/main">
              <a:ext uri="{FF2B5EF4-FFF2-40B4-BE49-F238E27FC236}">
                <a16:creationId xmlns:a16="http://schemas.microsoft.com/office/drawing/2014/main" id="{122176DA-99CF-4ADB-94FE-DC4DD81873F9}"/>
              </a:ext>
            </a:extLst>
          </p:cNvPr>
          <p:cNvSpPr>
            <a:spLocks xmlns:a="http://schemas.openxmlformats.org/drawingml/2006/main" noGrp="1"/>
          </p:cNvSpPr>
          <p:nvPr/>
        </p:nvSpPr>
        <p:spPr>
          <a:xfrm xmlns:a="http://schemas.openxmlformats.org/drawingml/2006/main">
            <a:off x="6324600" y="291465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EA6A6339-A08C-40FB-B75B-627E327945E2}"/>
              </a:ext>
            </a:extLst>
          </p:cNvPr>
          <p:cNvSpPr>
            <a:spLocks xmlns:a="http://schemas.openxmlformats.org/drawingml/2006/main" noGrp="1"/>
          </p:cNvSpPr>
          <p:nvPr/>
        </p:nvSpPr>
        <p:spPr>
          <a:xfrm xmlns:a="http://schemas.openxmlformats.org/drawingml/2006/main">
            <a:off x="6515100" y="3143250"/>
            <a:ext cx="609600" cy="609600"/>
          </a:xfrm>
          <a:prstGeom xmlns:a="http://schemas.openxmlformats.org/drawingml/2006/main" prst="rect">
            <a:avLst/>
          </a:prstGeom>
          <a:solidFill xmlns:a="http://schemas.openxmlformats.org/drawingml/2006/main">
            <a:srgbClr val="3FB95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D</a:t>
            </a:r>
          </a:p>
        </p:txBody>
      </p:sp>
      <p:sp>
        <p:nvSpPr>
          <p:cNvPr id="20" name="">
            <a:extLst xmlns:a="http://schemas.openxmlformats.org/drawingml/2006/main">
              <a:ext uri="{FF2B5EF4-FFF2-40B4-BE49-F238E27FC236}">
                <a16:creationId xmlns:a16="http://schemas.microsoft.com/office/drawing/2014/main" id="{E3F41164-DE0E-4BE8-80BB-5CD2A1CFDEA6}"/>
              </a:ext>
            </a:extLst>
          </p:cNvPr>
          <p:cNvSpPr>
            <a:spLocks xmlns:a="http://schemas.openxmlformats.org/drawingml/2006/main" noGrp="1"/>
          </p:cNvSpPr>
          <p:nvPr/>
        </p:nvSpPr>
        <p:spPr>
          <a:xfrm xmlns:a="http://schemas.openxmlformats.org/drawingml/2006/main">
            <a:off x="7296150" y="30670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0F6FC"/>
                </a:solidFill>
                <a:latin typeface="DejaVu Sans"/>
                <a:ea typeface="DejaVu Sans"/>
                <a:cs typeface="DejaVu Sans"/>
              </a:defRPr>
            </a:pPr>
            <a:r>
              <a:rPr sz="1500" b="1">
                <a:solidFill>
                  <a:srgbClr val="F0F6FC"/>
                </a:solidFill>
                <a:latin typeface="DejaVu Sans"/>
                <a:ea typeface="DejaVu Sans"/>
                <a:cs typeface="DejaVu Sans"/>
              </a:rPr>
              <a:t>Open a PR</a:t>
            </a:r>
          </a:p>
        </p:txBody>
      </p:sp>
      <p:sp>
        <p:nvSpPr>
          <p:cNvPr id="21" name="">
            <a:extLst xmlns:a="http://schemas.openxmlformats.org/drawingml/2006/main">
              <a:ext uri="{FF2B5EF4-FFF2-40B4-BE49-F238E27FC236}">
                <a16:creationId xmlns:a16="http://schemas.microsoft.com/office/drawing/2014/main" id="{2A15C24A-35A0-45A6-ABB6-0627A81E3ED3}"/>
              </a:ext>
            </a:extLst>
          </p:cNvPr>
          <p:cNvSpPr>
            <a:spLocks xmlns:a="http://schemas.openxmlformats.org/drawingml/2006/main" noGrp="1"/>
          </p:cNvSpPr>
          <p:nvPr/>
        </p:nvSpPr>
        <p:spPr>
          <a:xfrm xmlns:a="http://schemas.openxmlformats.org/drawingml/2006/main">
            <a:off x="7296150" y="34099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description, Closes #N, and reviewer</a:t>
            </a:r>
          </a:p>
        </p:txBody>
      </p:sp>
      <p:sp>
        <p:nvSpPr>
          <p:cNvPr id="22" name="">
            <a:extLst xmlns:a="http://schemas.openxmlformats.org/drawingml/2006/main">
              <a:ext uri="{FF2B5EF4-FFF2-40B4-BE49-F238E27FC236}">
                <a16:creationId xmlns:a16="http://schemas.microsoft.com/office/drawing/2014/main" id="{042E1A99-5449-4B76-9A2D-8E2AFD1B8014}"/>
              </a:ext>
            </a:extLst>
          </p:cNvPr>
          <p:cNvSpPr>
            <a:spLocks xmlns:a="http://schemas.openxmlformats.org/drawingml/2006/main" noGrp="1"/>
          </p:cNvSpPr>
          <p:nvPr/>
        </p:nvSpPr>
        <p:spPr>
          <a:xfrm xmlns:a="http://schemas.openxmlformats.org/drawingml/2006/main">
            <a:off x="609600" y="426720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23" name="">
            <a:extLst xmlns:a="http://schemas.openxmlformats.org/drawingml/2006/main">
              <a:ext uri="{FF2B5EF4-FFF2-40B4-BE49-F238E27FC236}">
                <a16:creationId xmlns:a16="http://schemas.microsoft.com/office/drawing/2014/main" id="{C3E7DABC-CEA2-4F75-A36B-78A587B43D63}"/>
              </a:ext>
            </a:extLst>
          </p:cNvPr>
          <p:cNvSpPr>
            <a:spLocks xmlns:a="http://schemas.openxmlformats.org/drawingml/2006/main" noGrp="1"/>
          </p:cNvSpPr>
          <p:nvPr/>
        </p:nvSpPr>
        <p:spPr>
          <a:xfrm xmlns:a="http://schemas.openxmlformats.org/drawingml/2006/main">
            <a:off x="800100" y="4495800"/>
            <a:ext cx="609600" cy="609600"/>
          </a:xfrm>
          <a:prstGeom xmlns:a="http://schemas.openxmlformats.org/drawingml/2006/main" prst="rect">
            <a:avLst/>
          </a:prstGeom>
          <a:solidFill xmlns:a="http://schemas.openxmlformats.org/drawingml/2006/main">
            <a:srgbClr val="58A6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E</a:t>
            </a:r>
          </a:p>
        </p:txBody>
      </p:sp>
      <p:sp>
        <p:nvSpPr>
          <p:cNvPr id="24" name="">
            <a:extLst xmlns:a="http://schemas.openxmlformats.org/drawingml/2006/main">
              <a:ext uri="{FF2B5EF4-FFF2-40B4-BE49-F238E27FC236}">
                <a16:creationId xmlns:a16="http://schemas.microsoft.com/office/drawing/2014/main" id="{4C85A443-F553-4C3D-86FD-8F4D12B9EB5D}"/>
              </a:ext>
            </a:extLst>
          </p:cNvPr>
          <p:cNvSpPr>
            <a:spLocks xmlns:a="http://schemas.openxmlformats.org/drawingml/2006/main" noGrp="1"/>
          </p:cNvSpPr>
          <p:nvPr/>
        </p:nvSpPr>
        <p:spPr>
          <a:xfrm xmlns:a="http://schemas.openxmlformats.org/drawingml/2006/main">
            <a:off x="1581150" y="44196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0F6FC"/>
                </a:solidFill>
                <a:latin typeface="DejaVu Sans"/>
                <a:ea typeface="DejaVu Sans"/>
                <a:cs typeface="DejaVu Sans"/>
              </a:defRPr>
            </a:pPr>
            <a:r>
              <a:rPr sz="1500" b="1">
                <a:solidFill>
                  <a:srgbClr val="F0F6FC"/>
                </a:solidFill>
                <a:latin typeface="DejaVu Sans"/>
                <a:ea typeface="DejaVu Sans"/>
                <a:cs typeface="DejaVu Sans"/>
              </a:rPr>
              <a:t>Conduct review</a:t>
            </a:r>
          </a:p>
        </p:txBody>
      </p:sp>
      <p:sp>
        <p:nvSpPr>
          <p:cNvPr id="25" name="">
            <a:extLst xmlns:a="http://schemas.openxmlformats.org/drawingml/2006/main">
              <a:ext uri="{FF2B5EF4-FFF2-40B4-BE49-F238E27FC236}">
                <a16:creationId xmlns:a16="http://schemas.microsoft.com/office/drawing/2014/main" id="{992C5C78-CECC-49ED-9DCE-AA7D63D6E1C9}"/>
              </a:ext>
            </a:extLst>
          </p:cNvPr>
          <p:cNvSpPr>
            <a:spLocks xmlns:a="http://schemas.openxmlformats.org/drawingml/2006/main" noGrp="1"/>
          </p:cNvSpPr>
          <p:nvPr/>
        </p:nvSpPr>
        <p:spPr>
          <a:xfrm xmlns:a="http://schemas.openxmlformats.org/drawingml/2006/main">
            <a:off x="1581150" y="47625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one substantive comment and a correction</a:t>
            </a:r>
          </a:p>
        </p:txBody>
      </p:sp>
      <p:sp>
        <p:nvSpPr>
          <p:cNvPr id="26" name="">
            <a:extLst xmlns:a="http://schemas.openxmlformats.org/drawingml/2006/main">
              <a:ext uri="{FF2B5EF4-FFF2-40B4-BE49-F238E27FC236}">
                <a16:creationId xmlns:a16="http://schemas.microsoft.com/office/drawing/2014/main" id="{4DE83B2A-7600-4415-8283-CABF02A18C03}"/>
              </a:ext>
            </a:extLst>
          </p:cNvPr>
          <p:cNvSpPr>
            <a:spLocks xmlns:a="http://schemas.openxmlformats.org/drawingml/2006/main" noGrp="1"/>
          </p:cNvSpPr>
          <p:nvPr/>
        </p:nvSpPr>
        <p:spPr>
          <a:xfrm xmlns:a="http://schemas.openxmlformats.org/drawingml/2006/main">
            <a:off x="6324600" y="4267200"/>
            <a:ext cx="5257800" cy="1066800"/>
          </a:xfrm>
          <a:prstGeom xmlns:a="http://schemas.openxmlformats.org/drawingml/2006/main" prst="roundRect">
            <a:avLst>
              <a:gd name="adj" fmla="val 7143"/>
            </a:avLst>
          </a:prstGeom>
          <a:solidFill xmlns:a="http://schemas.openxmlformats.org/drawingml/2006/main">
            <a:srgbClr val="161B22"/>
          </a:solidFill>
          <a:ln xmlns:a="http://schemas.openxmlformats.org/drawingml/2006/main" w="9525">
            <a:solidFill>
              <a:srgbClr val="30363D"/>
            </a:solidFill>
          </a:ln>
        </p:spPr>
      </p:sp>
      <p:sp>
        <p:nvSpPr>
          <p:cNvPr id="27" name="">
            <a:extLst xmlns:a="http://schemas.openxmlformats.org/drawingml/2006/main">
              <a:ext uri="{FF2B5EF4-FFF2-40B4-BE49-F238E27FC236}">
                <a16:creationId xmlns:a16="http://schemas.microsoft.com/office/drawing/2014/main" id="{42B6EF63-A341-4EA8-A487-5B4D320B00A9}"/>
              </a:ext>
            </a:extLst>
          </p:cNvPr>
          <p:cNvSpPr>
            <a:spLocks xmlns:a="http://schemas.openxmlformats.org/drawingml/2006/main" noGrp="1"/>
          </p:cNvSpPr>
          <p:nvPr/>
        </p:nvSpPr>
        <p:spPr>
          <a:xfrm xmlns:a="http://schemas.openxmlformats.org/drawingml/2006/main">
            <a:off x="6515100" y="4495800"/>
            <a:ext cx="609600" cy="609600"/>
          </a:xfrm>
          <a:prstGeom xmlns:a="http://schemas.openxmlformats.org/drawingml/2006/main" prst="rect">
            <a:avLst/>
          </a:prstGeom>
          <a:solidFill xmlns:a="http://schemas.openxmlformats.org/drawingml/2006/main">
            <a:srgbClr val="3FB95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1117"/>
                </a:solidFill>
                <a:latin typeface="DejaVu Sans"/>
                <a:ea typeface="DejaVu Sans"/>
                <a:cs typeface="DejaVu Sans"/>
              </a:defRPr>
            </a:pPr>
            <a:r>
              <a:rPr sz="2100" b="1">
                <a:solidFill>
                  <a:srgbClr val="0D1117"/>
                </a:solidFill>
                <a:latin typeface="DejaVu Sans"/>
                <a:ea typeface="DejaVu Sans"/>
                <a:cs typeface="DejaVu Sans"/>
              </a:rPr>
              <a:t>F</a:t>
            </a:r>
          </a:p>
        </p:txBody>
      </p:sp>
      <p:sp>
        <p:nvSpPr>
          <p:cNvPr id="28" name="">
            <a:extLst xmlns:a="http://schemas.openxmlformats.org/drawingml/2006/main">
              <a:ext uri="{FF2B5EF4-FFF2-40B4-BE49-F238E27FC236}">
                <a16:creationId xmlns:a16="http://schemas.microsoft.com/office/drawing/2014/main" id="{AAC25FEE-32F6-4515-AE57-D799CD873AC1}"/>
              </a:ext>
            </a:extLst>
          </p:cNvPr>
          <p:cNvSpPr>
            <a:spLocks xmlns:a="http://schemas.openxmlformats.org/drawingml/2006/main" noGrp="1"/>
          </p:cNvSpPr>
          <p:nvPr/>
        </p:nvSpPr>
        <p:spPr>
          <a:xfrm xmlns:a="http://schemas.openxmlformats.org/drawingml/2006/main">
            <a:off x="7296150" y="44196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0F6FC"/>
                </a:solidFill>
                <a:latin typeface="DejaVu Sans"/>
                <a:ea typeface="DejaVu Sans"/>
                <a:cs typeface="DejaVu Sans"/>
              </a:defRPr>
            </a:pPr>
            <a:r>
              <a:rPr sz="1500" b="1">
                <a:solidFill>
                  <a:srgbClr val="F0F6FC"/>
                </a:solidFill>
                <a:latin typeface="DejaVu Sans"/>
                <a:ea typeface="DejaVu Sans"/>
                <a:cs typeface="DejaVu Sans"/>
              </a:rPr>
              <a:t>Merge the PR</a:t>
            </a:r>
          </a:p>
        </p:txBody>
      </p:sp>
      <p:sp>
        <p:nvSpPr>
          <p:cNvPr id="29" name="">
            <a:extLst xmlns:a="http://schemas.openxmlformats.org/drawingml/2006/main">
              <a:ext uri="{FF2B5EF4-FFF2-40B4-BE49-F238E27FC236}">
                <a16:creationId xmlns:a16="http://schemas.microsoft.com/office/drawing/2014/main" id="{F3C6D2D2-5B09-4168-8561-74E93F3D41CD}"/>
              </a:ext>
            </a:extLst>
          </p:cNvPr>
          <p:cNvSpPr>
            <a:spLocks xmlns:a="http://schemas.openxmlformats.org/drawingml/2006/main" noGrp="1"/>
          </p:cNvSpPr>
          <p:nvPr/>
        </p:nvSpPr>
        <p:spPr>
          <a:xfrm xmlns:a="http://schemas.openxmlformats.org/drawingml/2006/main">
            <a:off x="7296150" y="47625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confirm Issue closure and update main</a:t>
            </a:r>
          </a:p>
        </p:txBody>
      </p:sp>
    </p:spTree>
    <p:extLst>
      <p:ext uri="{BB962C8B-B14F-4D97-AF65-F5344CB8AC3E}">
        <p14:creationId xmlns:p14="http://schemas.microsoft.com/office/powerpoint/2010/main" val="302688547"/>
      </p:ext>
    </p:extLst>
  </p:cSld>
</p:sld>
</file>

<file path=ppt/slides/slide23.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F3453A8-CA1F-4693-8525-B9831E7994CE}"/>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Command cheat sheet</a:t>
            </a:r>
          </a:p>
        </p:txBody>
      </p:sp>
      <p:sp>
        <p:nvSpPr>
          <p:cNvPr id="2" name="">
            <a:extLst xmlns:a="http://schemas.openxmlformats.org/drawingml/2006/main">
              <a:ext uri="{FF2B5EF4-FFF2-40B4-BE49-F238E27FC236}">
                <a16:creationId xmlns:a16="http://schemas.microsoft.com/office/drawing/2014/main" id="{07D00AA6-B48F-4269-BD20-D45686ADDE45}"/>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A minimal set for daily work</a:t>
            </a:r>
          </a:p>
        </p:txBody>
      </p:sp>
      <p:sp>
        <p:nvSpPr>
          <p:cNvPr id="3" name="">
            <a:extLst xmlns:a="http://schemas.openxmlformats.org/drawingml/2006/main">
              <a:ext uri="{FF2B5EF4-FFF2-40B4-BE49-F238E27FC236}">
                <a16:creationId xmlns:a16="http://schemas.microsoft.com/office/drawing/2014/main" id="{757782B3-B914-4D51-A64B-6AA4B22629E7}"/>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F69023-0FE1-4BDF-ABDB-E228073D308F}"/>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23</a:t>
            </a:r>
          </a:p>
        </p:txBody>
      </p:sp>
      <p:sp>
        <p:nvSpPr>
          <p:cNvPr id="5" name="">
            <a:extLst xmlns:a="http://schemas.openxmlformats.org/drawingml/2006/main">
              <a:ext uri="{FF2B5EF4-FFF2-40B4-BE49-F238E27FC236}">
                <a16:creationId xmlns:a16="http://schemas.microsoft.com/office/drawing/2014/main" id="{5488B443-0486-4025-BD63-2A4F415E41D8}"/>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42F9B9E5-415D-4198-BFFE-34850679A88B}"/>
              </a:ext>
            </a:extLst>
          </p:cNvPr>
          <p:cNvSpPr>
            <a:spLocks xmlns:a="http://schemas.openxmlformats.org/drawingml/2006/main" noGrp="1"/>
          </p:cNvSpPr>
          <p:nvPr/>
        </p:nvSpPr>
        <p:spPr>
          <a:xfrm xmlns:a="http://schemas.openxmlformats.org/drawingml/2006/main">
            <a:off x="609600" y="1581150"/>
            <a:ext cx="5257800" cy="1828800"/>
          </a:xfrm>
          <a:prstGeom xmlns:a="http://schemas.openxmlformats.org/drawingml/2006/main" prst="roundRect">
            <a:avLst>
              <a:gd name="adj" fmla="val 4167"/>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68E683DA-49FF-4779-B049-4737EF56FF66}"/>
              </a:ext>
            </a:extLst>
          </p:cNvPr>
          <p:cNvSpPr>
            <a:spLocks xmlns:a="http://schemas.openxmlformats.org/drawingml/2006/main" noGrp="1"/>
          </p:cNvSpPr>
          <p:nvPr/>
        </p:nvSpPr>
        <p:spPr>
          <a:xfrm xmlns:a="http://schemas.openxmlformats.org/drawingml/2006/main">
            <a:off x="838200" y="1733550"/>
            <a:ext cx="480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58A6FF"/>
                </a:solidFill>
                <a:latin typeface="DejaVu Sans"/>
                <a:ea typeface="DejaVu Sans"/>
                <a:cs typeface="DejaVu Sans"/>
              </a:defRPr>
            </a:pPr>
            <a:r>
              <a:rPr sz="1650" b="1">
                <a:solidFill>
                  <a:srgbClr val="58A6FF"/>
                </a:solidFill>
                <a:latin typeface="DejaVu Sans"/>
                <a:ea typeface="DejaVu Sans"/>
                <a:cs typeface="DejaVu Sans"/>
              </a:rPr>
              <a:t>State</a:t>
            </a:r>
          </a:p>
        </p:txBody>
      </p:sp>
      <p:sp>
        <p:nvSpPr>
          <p:cNvPr id="8" name="">
            <a:extLst xmlns:a="http://schemas.openxmlformats.org/drawingml/2006/main">
              <a:ext uri="{FF2B5EF4-FFF2-40B4-BE49-F238E27FC236}">
                <a16:creationId xmlns:a16="http://schemas.microsoft.com/office/drawing/2014/main" id="{F6F156C6-34D7-4637-BA92-03460FA503B2}"/>
              </a:ext>
            </a:extLst>
          </p:cNvPr>
          <p:cNvSpPr>
            <a:spLocks xmlns:a="http://schemas.openxmlformats.org/drawingml/2006/main" noGrp="1"/>
          </p:cNvSpPr>
          <p:nvPr/>
        </p:nvSpPr>
        <p:spPr>
          <a:xfrm xmlns:a="http://schemas.openxmlformats.org/drawingml/2006/main">
            <a:off x="838200" y="2190750"/>
            <a:ext cx="4800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status</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diff</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log --oneline --graph</a:t>
            </a:r>
          </a:p>
        </p:txBody>
      </p:sp>
      <p:sp>
        <p:nvSpPr>
          <p:cNvPr id="9" name="">
            <a:extLst xmlns:a="http://schemas.openxmlformats.org/drawingml/2006/main">
              <a:ext uri="{FF2B5EF4-FFF2-40B4-BE49-F238E27FC236}">
                <a16:creationId xmlns:a16="http://schemas.microsoft.com/office/drawing/2014/main" id="{A72FA711-AE61-449A-8A2D-8D2C21A99D96}"/>
              </a:ext>
            </a:extLst>
          </p:cNvPr>
          <p:cNvSpPr>
            <a:spLocks xmlns:a="http://schemas.openxmlformats.org/drawingml/2006/main" noGrp="1"/>
          </p:cNvSpPr>
          <p:nvPr/>
        </p:nvSpPr>
        <p:spPr>
          <a:xfrm xmlns:a="http://schemas.openxmlformats.org/drawingml/2006/main">
            <a:off x="6324600" y="1581150"/>
            <a:ext cx="5257800" cy="1828800"/>
          </a:xfrm>
          <a:prstGeom xmlns:a="http://schemas.openxmlformats.org/drawingml/2006/main" prst="roundRect">
            <a:avLst>
              <a:gd name="adj" fmla="val 4167"/>
            </a:avLst>
          </a:prstGeom>
          <a:solidFill xmlns:a="http://schemas.openxmlformats.org/drawingml/2006/main">
            <a:srgbClr val="161B22"/>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34C0431C-1C3C-4528-AC56-CEBED585605D}"/>
              </a:ext>
            </a:extLst>
          </p:cNvPr>
          <p:cNvSpPr>
            <a:spLocks xmlns:a="http://schemas.openxmlformats.org/drawingml/2006/main" noGrp="1"/>
          </p:cNvSpPr>
          <p:nvPr/>
        </p:nvSpPr>
        <p:spPr>
          <a:xfrm xmlns:a="http://schemas.openxmlformats.org/drawingml/2006/main">
            <a:off x="6553200" y="1733550"/>
            <a:ext cx="480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Branches</a:t>
            </a:r>
          </a:p>
        </p:txBody>
      </p:sp>
      <p:sp>
        <p:nvSpPr>
          <p:cNvPr id="11" name="">
            <a:extLst xmlns:a="http://schemas.openxmlformats.org/drawingml/2006/main">
              <a:ext uri="{FF2B5EF4-FFF2-40B4-BE49-F238E27FC236}">
                <a16:creationId xmlns:a16="http://schemas.microsoft.com/office/drawing/2014/main" id="{A44C593C-F46E-4D1C-8C45-8F5F456F27A6}"/>
              </a:ext>
            </a:extLst>
          </p:cNvPr>
          <p:cNvSpPr>
            <a:spLocks xmlns:a="http://schemas.openxmlformats.org/drawingml/2006/main" noGrp="1"/>
          </p:cNvSpPr>
          <p:nvPr/>
        </p:nvSpPr>
        <p:spPr>
          <a:xfrm xmlns:a="http://schemas.openxmlformats.org/drawingml/2006/main">
            <a:off x="6553200" y="2190750"/>
            <a:ext cx="4800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branch</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switch &lt;name&gt;</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switch -c &lt;new&gt;</a:t>
            </a:r>
          </a:p>
        </p:txBody>
      </p:sp>
      <p:sp>
        <p:nvSpPr>
          <p:cNvPr id="12" name="">
            <a:extLst xmlns:a="http://schemas.openxmlformats.org/drawingml/2006/main">
              <a:ext uri="{FF2B5EF4-FFF2-40B4-BE49-F238E27FC236}">
                <a16:creationId xmlns:a16="http://schemas.microsoft.com/office/drawing/2014/main" id="{4A7C2DD4-D8A1-440E-9BF5-975E02E46963}"/>
              </a:ext>
            </a:extLst>
          </p:cNvPr>
          <p:cNvSpPr>
            <a:spLocks xmlns:a="http://schemas.openxmlformats.org/drawingml/2006/main" noGrp="1"/>
          </p:cNvSpPr>
          <p:nvPr/>
        </p:nvSpPr>
        <p:spPr>
          <a:xfrm xmlns:a="http://schemas.openxmlformats.org/drawingml/2006/main">
            <a:off x="609600" y="3695700"/>
            <a:ext cx="5257800" cy="1828800"/>
          </a:xfrm>
          <a:prstGeom xmlns:a="http://schemas.openxmlformats.org/drawingml/2006/main" prst="roundRect">
            <a:avLst>
              <a:gd name="adj" fmla="val 4167"/>
            </a:avLst>
          </a:prstGeom>
          <a:solidFill xmlns:a="http://schemas.openxmlformats.org/drawingml/2006/main">
            <a:srgbClr val="161B22"/>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8A7E10F0-3C7E-4D60-BBD2-0D951D36AA19}"/>
              </a:ext>
            </a:extLst>
          </p:cNvPr>
          <p:cNvSpPr>
            <a:spLocks xmlns:a="http://schemas.openxmlformats.org/drawingml/2006/main" noGrp="1"/>
          </p:cNvSpPr>
          <p:nvPr/>
        </p:nvSpPr>
        <p:spPr>
          <a:xfrm xmlns:a="http://schemas.openxmlformats.org/drawingml/2006/main">
            <a:off x="838200" y="3848100"/>
            <a:ext cx="480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58A6FF"/>
                </a:solidFill>
                <a:latin typeface="DejaVu Sans"/>
                <a:ea typeface="DejaVu Sans"/>
                <a:cs typeface="DejaVu Sans"/>
              </a:defRPr>
            </a:pPr>
            <a:r>
              <a:rPr sz="1650" b="1">
                <a:solidFill>
                  <a:srgbClr val="58A6FF"/>
                </a:solidFill>
                <a:latin typeface="DejaVu Sans"/>
                <a:ea typeface="DejaVu Sans"/>
                <a:cs typeface="DejaVu Sans"/>
              </a:rPr>
              <a:t>Changes</a:t>
            </a:r>
          </a:p>
        </p:txBody>
      </p:sp>
      <p:sp>
        <p:nvSpPr>
          <p:cNvPr id="14" name="">
            <a:extLst xmlns:a="http://schemas.openxmlformats.org/drawingml/2006/main">
              <a:ext uri="{FF2B5EF4-FFF2-40B4-BE49-F238E27FC236}">
                <a16:creationId xmlns:a16="http://schemas.microsoft.com/office/drawing/2014/main" id="{2368DF54-61FC-4F07-BCAB-4F72498A8484}"/>
              </a:ext>
            </a:extLst>
          </p:cNvPr>
          <p:cNvSpPr>
            <a:spLocks xmlns:a="http://schemas.openxmlformats.org/drawingml/2006/main" noGrp="1"/>
          </p:cNvSpPr>
          <p:nvPr/>
        </p:nvSpPr>
        <p:spPr>
          <a:xfrm xmlns:a="http://schemas.openxmlformats.org/drawingml/2006/main">
            <a:off x="838200" y="4305300"/>
            <a:ext cx="4800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add &lt;file&gt;</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commit -m "message"</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restore --staged &lt;file&gt;</a:t>
            </a:r>
          </a:p>
        </p:txBody>
      </p:sp>
      <p:sp>
        <p:nvSpPr>
          <p:cNvPr id="15" name="">
            <a:extLst xmlns:a="http://schemas.openxmlformats.org/drawingml/2006/main">
              <a:ext uri="{FF2B5EF4-FFF2-40B4-BE49-F238E27FC236}">
                <a16:creationId xmlns:a16="http://schemas.microsoft.com/office/drawing/2014/main" id="{95869E56-09EE-46B8-B6DC-18B0FA209789}"/>
              </a:ext>
            </a:extLst>
          </p:cNvPr>
          <p:cNvSpPr>
            <a:spLocks xmlns:a="http://schemas.openxmlformats.org/drawingml/2006/main" noGrp="1"/>
          </p:cNvSpPr>
          <p:nvPr/>
        </p:nvSpPr>
        <p:spPr>
          <a:xfrm xmlns:a="http://schemas.openxmlformats.org/drawingml/2006/main">
            <a:off x="6324600" y="3695700"/>
            <a:ext cx="5257800" cy="1828800"/>
          </a:xfrm>
          <a:prstGeom xmlns:a="http://schemas.openxmlformats.org/drawingml/2006/main" prst="roundRect">
            <a:avLst>
              <a:gd name="adj" fmla="val 4167"/>
            </a:avLst>
          </a:prstGeom>
          <a:solidFill xmlns:a="http://schemas.openxmlformats.org/drawingml/2006/main">
            <a:srgbClr val="161B22"/>
          </a:solidFill>
          <a:ln xmlns:a="http://schemas.openxmlformats.org/drawingml/2006/main" w="9525">
            <a:solidFill>
              <a:srgbClr val="30363D"/>
            </a:solidFill>
          </a:ln>
        </p:spPr>
      </p:sp>
      <p:sp>
        <p:nvSpPr>
          <p:cNvPr id="16" name="">
            <a:extLst xmlns:a="http://schemas.openxmlformats.org/drawingml/2006/main">
              <a:ext uri="{FF2B5EF4-FFF2-40B4-BE49-F238E27FC236}">
                <a16:creationId xmlns:a16="http://schemas.microsoft.com/office/drawing/2014/main" id="{31D9E0A8-AC29-4643-BE55-4452807DDE3C}"/>
              </a:ext>
            </a:extLst>
          </p:cNvPr>
          <p:cNvSpPr>
            <a:spLocks xmlns:a="http://schemas.openxmlformats.org/drawingml/2006/main" noGrp="1"/>
          </p:cNvSpPr>
          <p:nvPr/>
        </p:nvSpPr>
        <p:spPr>
          <a:xfrm xmlns:a="http://schemas.openxmlformats.org/drawingml/2006/main">
            <a:off x="6553200" y="3848100"/>
            <a:ext cx="480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Remote</a:t>
            </a:r>
          </a:p>
        </p:txBody>
      </p:sp>
      <p:sp>
        <p:nvSpPr>
          <p:cNvPr id="17" name="">
            <a:extLst xmlns:a="http://schemas.openxmlformats.org/drawingml/2006/main">
              <a:ext uri="{FF2B5EF4-FFF2-40B4-BE49-F238E27FC236}">
                <a16:creationId xmlns:a16="http://schemas.microsoft.com/office/drawing/2014/main" id="{897E1CB0-518F-4433-93DB-811878EA75E4}"/>
              </a:ext>
            </a:extLst>
          </p:cNvPr>
          <p:cNvSpPr>
            <a:spLocks xmlns:a="http://schemas.openxmlformats.org/drawingml/2006/main" noGrp="1"/>
          </p:cNvSpPr>
          <p:nvPr/>
        </p:nvSpPr>
        <p:spPr>
          <a:xfrm xmlns:a="http://schemas.openxmlformats.org/drawingml/2006/main">
            <a:off x="6553200" y="4305300"/>
            <a:ext cx="4800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fetch origin</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pull --ff-only</a:t>
            </a:r>
          </a:p>
          <a:p xmlns:a="http://schemas.openxmlformats.org/drawingml/2006/main">
            <a:pPr algn="l">
              <a:defRPr sz="1275" b="0">
                <a:solidFill>
                  <a:srgbClr val="F0F6FC"/>
                </a:solidFill>
                <a:latin typeface="DejaVu Sans Mono"/>
                <a:ea typeface="DejaVu Sans Mono"/>
                <a:cs typeface="DejaVu Sans Mono"/>
              </a:defRPr>
            </a:pPr>
            <a:r>
              <a:rPr sz="1275" b="0">
                <a:solidFill>
                  <a:srgbClr val="F0F6FC"/>
                </a:solidFill>
                <a:latin typeface="DejaVu Sans Mono"/>
                <a:ea typeface="DejaVu Sans Mono"/>
                <a:cs typeface="DejaVu Sans Mono"/>
              </a:rPr>
              <a:t>git push -u origin &lt;branch&gt;</a:t>
            </a:r>
          </a:p>
        </p:txBody>
      </p:sp>
    </p:spTree>
    <p:extLst>
      <p:ext uri="{BB962C8B-B14F-4D97-AF65-F5344CB8AC3E}">
        <p14:creationId xmlns:p14="http://schemas.microsoft.com/office/powerpoint/2010/main" val="1894802186"/>
      </p:ext>
    </p:extLst>
  </p:cSld>
</p:sld>
</file>

<file path=ppt/slides/slide24.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99F74ED-AEF5-49B9-B517-18C81698AEDE}"/>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Review questions</a:t>
            </a:r>
          </a:p>
        </p:txBody>
      </p:sp>
      <p:sp>
        <p:nvSpPr>
          <p:cNvPr id="2" name="">
            <a:extLst xmlns:a="http://schemas.openxmlformats.org/drawingml/2006/main">
              <a:ext uri="{FF2B5EF4-FFF2-40B4-BE49-F238E27FC236}">
                <a16:creationId xmlns:a16="http://schemas.microsoft.com/office/drawing/2014/main" id="{8ACAAB18-D7DB-4148-8416-40BB0980ADF6}"/>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Understanding matters more than memorizing commands</a:t>
            </a:r>
          </a:p>
        </p:txBody>
      </p:sp>
      <p:sp>
        <p:nvSpPr>
          <p:cNvPr id="3" name="">
            <a:extLst xmlns:a="http://schemas.openxmlformats.org/drawingml/2006/main">
              <a:ext uri="{FF2B5EF4-FFF2-40B4-BE49-F238E27FC236}">
                <a16:creationId xmlns:a16="http://schemas.microsoft.com/office/drawing/2014/main" id="{64BC0E10-89D8-49DA-963E-C273C20AA69D}"/>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6880AA-D5C3-4FF1-9FB5-BD336B17E10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24</a:t>
            </a:r>
          </a:p>
        </p:txBody>
      </p:sp>
      <p:sp>
        <p:nvSpPr>
          <p:cNvPr id="5" name="">
            <a:extLst xmlns:a="http://schemas.openxmlformats.org/drawingml/2006/main">
              <a:ext uri="{FF2B5EF4-FFF2-40B4-BE49-F238E27FC236}">
                <a16:creationId xmlns:a16="http://schemas.microsoft.com/office/drawing/2014/main" id="{DDC0B031-330B-4D10-8DCD-6C47C19333B1}"/>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403A6F59-3F57-4245-9ACF-4084B95CAFA1}"/>
              </a:ext>
            </a:extLst>
          </p:cNvPr>
          <p:cNvSpPr>
            <a:spLocks xmlns:a="http://schemas.openxmlformats.org/drawingml/2006/main" noGrp="1"/>
          </p:cNvSpPr>
          <p:nvPr/>
        </p:nvSpPr>
        <p:spPr>
          <a:xfrm xmlns:a="http://schemas.openxmlformats.org/drawingml/2006/main">
            <a:off x="609600" y="1562100"/>
            <a:ext cx="5257800" cy="1047750"/>
          </a:xfrm>
          <a:prstGeom xmlns:a="http://schemas.openxmlformats.org/drawingml/2006/main" prst="roundRect">
            <a:avLst>
              <a:gd name="adj" fmla="val 7273"/>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F345DA1B-C5BF-4230-B825-7326C8CA6692}"/>
              </a:ext>
            </a:extLst>
          </p:cNvPr>
          <p:cNvSpPr>
            <a:spLocks xmlns:a="http://schemas.openxmlformats.org/drawingml/2006/main" noGrp="1"/>
          </p:cNvSpPr>
          <p:nvPr/>
        </p:nvSpPr>
        <p:spPr>
          <a:xfrm xmlns:a="http://schemas.openxmlformats.org/drawingml/2006/main">
            <a:off x="819150" y="1809750"/>
            <a:ext cx="552450" cy="552450"/>
          </a:xfrm>
          <a:prstGeom xmlns:a="http://schemas.openxmlformats.org/drawingml/2006/main" prst="rect">
            <a:avLst/>
          </a:prstGeom>
          <a:solidFill xmlns:a="http://schemas.openxmlformats.org/drawingml/2006/main">
            <a:srgbClr val="58A6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D1117"/>
                </a:solidFill>
                <a:latin typeface="DejaVu Sans"/>
                <a:ea typeface="DejaVu Sans"/>
                <a:cs typeface="DejaVu Sans"/>
              </a:defRPr>
            </a:pPr>
            <a:r>
              <a:rPr sz="1950" b="1">
                <a:solidFill>
                  <a:srgbClr val="0D1117"/>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CCD574F2-434C-46FC-A66F-D5EC916AD694}"/>
              </a:ext>
            </a:extLst>
          </p:cNvPr>
          <p:cNvSpPr>
            <a:spLocks xmlns:a="http://schemas.openxmlformats.org/drawingml/2006/main" noGrp="1"/>
          </p:cNvSpPr>
          <p:nvPr/>
        </p:nvSpPr>
        <p:spPr>
          <a:xfrm xmlns:a="http://schemas.openxmlformats.org/drawingml/2006/main">
            <a:off x="1543050" y="1733550"/>
            <a:ext cx="4057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Why does git add come before git commit?</a:t>
            </a:r>
          </a:p>
        </p:txBody>
      </p:sp>
      <p:sp>
        <p:nvSpPr>
          <p:cNvPr id="9" name="">
            <a:extLst xmlns:a="http://schemas.openxmlformats.org/drawingml/2006/main">
              <a:ext uri="{FF2B5EF4-FFF2-40B4-BE49-F238E27FC236}">
                <a16:creationId xmlns:a16="http://schemas.microsoft.com/office/drawing/2014/main" id="{832F2DA7-203A-4073-8610-AA907F74FD95}"/>
              </a:ext>
            </a:extLst>
          </p:cNvPr>
          <p:cNvSpPr>
            <a:spLocks xmlns:a="http://schemas.openxmlformats.org/drawingml/2006/main" noGrp="1"/>
          </p:cNvSpPr>
          <p:nvPr/>
        </p:nvSpPr>
        <p:spPr>
          <a:xfrm xmlns:a="http://schemas.openxmlformats.org/drawingml/2006/main">
            <a:off x="6324600" y="1562100"/>
            <a:ext cx="5257800" cy="1047750"/>
          </a:xfrm>
          <a:prstGeom xmlns:a="http://schemas.openxmlformats.org/drawingml/2006/main" prst="roundRect">
            <a:avLst>
              <a:gd name="adj" fmla="val 7273"/>
            </a:avLst>
          </a:prstGeom>
          <a:solidFill xmlns:a="http://schemas.openxmlformats.org/drawingml/2006/main">
            <a:srgbClr val="161B22"/>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6EDF8ED2-5DBE-49E8-B7A8-6C22ED20CC44}"/>
              </a:ext>
            </a:extLst>
          </p:cNvPr>
          <p:cNvSpPr>
            <a:spLocks xmlns:a="http://schemas.openxmlformats.org/drawingml/2006/main" noGrp="1"/>
          </p:cNvSpPr>
          <p:nvPr/>
        </p:nvSpPr>
        <p:spPr>
          <a:xfrm xmlns:a="http://schemas.openxmlformats.org/drawingml/2006/main">
            <a:off x="6534150" y="1809750"/>
            <a:ext cx="552450" cy="552450"/>
          </a:xfrm>
          <a:prstGeom xmlns:a="http://schemas.openxmlformats.org/drawingml/2006/main" prst="rect">
            <a:avLst/>
          </a:prstGeom>
          <a:solidFill xmlns:a="http://schemas.openxmlformats.org/drawingml/2006/main">
            <a:srgbClr val="3FB95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D1117"/>
                </a:solidFill>
                <a:latin typeface="DejaVu Sans"/>
                <a:ea typeface="DejaVu Sans"/>
                <a:cs typeface="DejaVu Sans"/>
              </a:defRPr>
            </a:pPr>
            <a:r>
              <a:rPr sz="1950" b="1">
                <a:solidFill>
                  <a:srgbClr val="0D1117"/>
                </a:solidFill>
                <a:latin typeface="DejaVu Sans"/>
                <a:ea typeface="DejaVu Sans"/>
                <a:cs typeface="DejaVu Sans"/>
              </a:rPr>
              <a:t>2</a:t>
            </a:r>
          </a:p>
        </p:txBody>
      </p:sp>
      <p:sp>
        <p:nvSpPr>
          <p:cNvPr id="11" name="">
            <a:extLst xmlns:a="http://schemas.openxmlformats.org/drawingml/2006/main">
              <a:ext uri="{FF2B5EF4-FFF2-40B4-BE49-F238E27FC236}">
                <a16:creationId xmlns:a16="http://schemas.microsoft.com/office/drawing/2014/main" id="{593FA282-173C-4C54-B3D7-5C5918D5530D}"/>
              </a:ext>
            </a:extLst>
          </p:cNvPr>
          <p:cNvSpPr>
            <a:spLocks xmlns:a="http://schemas.openxmlformats.org/drawingml/2006/main" noGrp="1"/>
          </p:cNvSpPr>
          <p:nvPr/>
        </p:nvSpPr>
        <p:spPr>
          <a:xfrm xmlns:a="http://schemas.openxmlformats.org/drawingml/2006/main">
            <a:off x="7258050" y="1733550"/>
            <a:ext cx="4057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How does git fetch differ from git pull?</a:t>
            </a:r>
          </a:p>
        </p:txBody>
      </p:sp>
      <p:sp>
        <p:nvSpPr>
          <p:cNvPr id="12" name="">
            <a:extLst xmlns:a="http://schemas.openxmlformats.org/drawingml/2006/main">
              <a:ext uri="{FF2B5EF4-FFF2-40B4-BE49-F238E27FC236}">
                <a16:creationId xmlns:a16="http://schemas.microsoft.com/office/drawing/2014/main" id="{942BEADA-7B11-4A0B-B443-F60A610A55A7}"/>
              </a:ext>
            </a:extLst>
          </p:cNvPr>
          <p:cNvSpPr>
            <a:spLocks xmlns:a="http://schemas.openxmlformats.org/drawingml/2006/main" noGrp="1"/>
          </p:cNvSpPr>
          <p:nvPr/>
        </p:nvSpPr>
        <p:spPr>
          <a:xfrm xmlns:a="http://schemas.openxmlformats.org/drawingml/2006/main">
            <a:off x="609600" y="2914650"/>
            <a:ext cx="5257800" cy="1047750"/>
          </a:xfrm>
          <a:prstGeom xmlns:a="http://schemas.openxmlformats.org/drawingml/2006/main" prst="roundRect">
            <a:avLst>
              <a:gd name="adj" fmla="val 7273"/>
            </a:avLst>
          </a:prstGeom>
          <a:solidFill xmlns:a="http://schemas.openxmlformats.org/drawingml/2006/main">
            <a:srgbClr val="161B22"/>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4FFDFE1B-77A9-4CC3-98F3-381E78D41748}"/>
              </a:ext>
            </a:extLst>
          </p:cNvPr>
          <p:cNvSpPr>
            <a:spLocks xmlns:a="http://schemas.openxmlformats.org/drawingml/2006/main" noGrp="1"/>
          </p:cNvSpPr>
          <p:nvPr/>
        </p:nvSpPr>
        <p:spPr>
          <a:xfrm xmlns:a="http://schemas.openxmlformats.org/drawingml/2006/main">
            <a:off x="819150" y="3162300"/>
            <a:ext cx="552450" cy="552450"/>
          </a:xfrm>
          <a:prstGeom xmlns:a="http://schemas.openxmlformats.org/drawingml/2006/main" prst="rect">
            <a:avLst/>
          </a:prstGeom>
          <a:solidFill xmlns:a="http://schemas.openxmlformats.org/drawingml/2006/main">
            <a:srgbClr val="58A6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D1117"/>
                </a:solidFill>
                <a:latin typeface="DejaVu Sans"/>
                <a:ea typeface="DejaVu Sans"/>
                <a:cs typeface="DejaVu Sans"/>
              </a:defRPr>
            </a:pPr>
            <a:r>
              <a:rPr sz="1950" b="1">
                <a:solidFill>
                  <a:srgbClr val="0D1117"/>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DB5EC373-1A6C-4BEC-9A90-1D3535CAA454}"/>
              </a:ext>
            </a:extLst>
          </p:cNvPr>
          <p:cNvSpPr>
            <a:spLocks xmlns:a="http://schemas.openxmlformats.org/drawingml/2006/main" noGrp="1"/>
          </p:cNvSpPr>
          <p:nvPr/>
        </p:nvSpPr>
        <p:spPr>
          <a:xfrm xmlns:a="http://schemas.openxmlformats.org/drawingml/2006/main">
            <a:off x="1543050" y="3086100"/>
            <a:ext cx="4057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Which branch is the base in a Pull Request?</a:t>
            </a:r>
          </a:p>
        </p:txBody>
      </p:sp>
      <p:sp>
        <p:nvSpPr>
          <p:cNvPr id="15" name="">
            <a:extLst xmlns:a="http://schemas.openxmlformats.org/drawingml/2006/main">
              <a:ext uri="{FF2B5EF4-FFF2-40B4-BE49-F238E27FC236}">
                <a16:creationId xmlns:a16="http://schemas.microsoft.com/office/drawing/2014/main" id="{7FD3E1CB-5F37-49BF-8017-0B82102B5584}"/>
              </a:ext>
            </a:extLst>
          </p:cNvPr>
          <p:cNvSpPr>
            <a:spLocks xmlns:a="http://schemas.openxmlformats.org/drawingml/2006/main" noGrp="1"/>
          </p:cNvSpPr>
          <p:nvPr/>
        </p:nvSpPr>
        <p:spPr>
          <a:xfrm xmlns:a="http://schemas.openxmlformats.org/drawingml/2006/main">
            <a:off x="6324600" y="2914650"/>
            <a:ext cx="5257800" cy="1047750"/>
          </a:xfrm>
          <a:prstGeom xmlns:a="http://schemas.openxmlformats.org/drawingml/2006/main" prst="roundRect">
            <a:avLst>
              <a:gd name="adj" fmla="val 7273"/>
            </a:avLst>
          </a:prstGeom>
          <a:solidFill xmlns:a="http://schemas.openxmlformats.org/drawingml/2006/main">
            <a:srgbClr val="161B22"/>
          </a:solidFill>
          <a:ln xmlns:a="http://schemas.openxmlformats.org/drawingml/2006/main" w="9525">
            <a:solidFill>
              <a:srgbClr val="30363D"/>
            </a:solidFill>
          </a:ln>
        </p:spPr>
      </p:sp>
      <p:sp>
        <p:nvSpPr>
          <p:cNvPr id="16" name="">
            <a:extLst xmlns:a="http://schemas.openxmlformats.org/drawingml/2006/main">
              <a:ext uri="{FF2B5EF4-FFF2-40B4-BE49-F238E27FC236}">
                <a16:creationId xmlns:a16="http://schemas.microsoft.com/office/drawing/2014/main" id="{AD7B3713-1B5E-4458-8B90-D1004D445383}"/>
              </a:ext>
            </a:extLst>
          </p:cNvPr>
          <p:cNvSpPr>
            <a:spLocks xmlns:a="http://schemas.openxmlformats.org/drawingml/2006/main" noGrp="1"/>
          </p:cNvSpPr>
          <p:nvPr/>
        </p:nvSpPr>
        <p:spPr>
          <a:xfrm xmlns:a="http://schemas.openxmlformats.org/drawingml/2006/main">
            <a:off x="6534150" y="3162300"/>
            <a:ext cx="552450" cy="552450"/>
          </a:xfrm>
          <a:prstGeom xmlns:a="http://schemas.openxmlformats.org/drawingml/2006/main" prst="rect">
            <a:avLst/>
          </a:prstGeom>
          <a:solidFill xmlns:a="http://schemas.openxmlformats.org/drawingml/2006/main">
            <a:srgbClr val="3FB95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D1117"/>
                </a:solidFill>
                <a:latin typeface="DejaVu Sans"/>
                <a:ea typeface="DejaVu Sans"/>
                <a:cs typeface="DejaVu Sans"/>
              </a:defRPr>
            </a:pPr>
            <a:r>
              <a:rPr sz="1950" b="1">
                <a:solidFill>
                  <a:srgbClr val="0D1117"/>
                </a:solidFill>
                <a:latin typeface="DejaVu Sans"/>
                <a:ea typeface="DejaVu Sans"/>
                <a:cs typeface="DejaVu Sans"/>
              </a:rPr>
              <a:t>4</a:t>
            </a:r>
          </a:p>
        </p:txBody>
      </p:sp>
      <p:sp>
        <p:nvSpPr>
          <p:cNvPr id="17" name="">
            <a:extLst xmlns:a="http://schemas.openxmlformats.org/drawingml/2006/main">
              <a:ext uri="{FF2B5EF4-FFF2-40B4-BE49-F238E27FC236}">
                <a16:creationId xmlns:a16="http://schemas.microsoft.com/office/drawing/2014/main" id="{5477BDAE-F803-4DC0-A1AB-F499C4EF95E6}"/>
              </a:ext>
            </a:extLst>
          </p:cNvPr>
          <p:cNvSpPr>
            <a:spLocks xmlns:a="http://schemas.openxmlformats.org/drawingml/2006/main" noGrp="1"/>
          </p:cNvSpPr>
          <p:nvPr/>
        </p:nvSpPr>
        <p:spPr>
          <a:xfrm xmlns:a="http://schemas.openxmlformats.org/drawingml/2006/main">
            <a:off x="7258050" y="3086100"/>
            <a:ext cx="4057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Why should an Issue be linked to a PR?</a:t>
            </a:r>
          </a:p>
        </p:txBody>
      </p:sp>
      <p:sp>
        <p:nvSpPr>
          <p:cNvPr id="18" name="">
            <a:extLst xmlns:a="http://schemas.openxmlformats.org/drawingml/2006/main">
              <a:ext uri="{FF2B5EF4-FFF2-40B4-BE49-F238E27FC236}">
                <a16:creationId xmlns:a16="http://schemas.microsoft.com/office/drawing/2014/main" id="{3F6081CE-9AC4-41E4-A761-303527B0F778}"/>
              </a:ext>
            </a:extLst>
          </p:cNvPr>
          <p:cNvSpPr>
            <a:spLocks xmlns:a="http://schemas.openxmlformats.org/drawingml/2006/main" noGrp="1"/>
          </p:cNvSpPr>
          <p:nvPr/>
        </p:nvSpPr>
        <p:spPr>
          <a:xfrm xmlns:a="http://schemas.openxmlformats.org/drawingml/2006/main">
            <a:off x="609600" y="4267200"/>
            <a:ext cx="5257800" cy="1047750"/>
          </a:xfrm>
          <a:prstGeom xmlns:a="http://schemas.openxmlformats.org/drawingml/2006/main" prst="roundRect">
            <a:avLst>
              <a:gd name="adj" fmla="val 7273"/>
            </a:avLst>
          </a:prstGeom>
          <a:solidFill xmlns:a="http://schemas.openxmlformats.org/drawingml/2006/main">
            <a:srgbClr val="161B22"/>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BF6BB24F-56F9-4206-8ED4-180EBC7A45E1}"/>
              </a:ext>
            </a:extLst>
          </p:cNvPr>
          <p:cNvSpPr>
            <a:spLocks xmlns:a="http://schemas.openxmlformats.org/drawingml/2006/main" noGrp="1"/>
          </p:cNvSpPr>
          <p:nvPr/>
        </p:nvSpPr>
        <p:spPr>
          <a:xfrm xmlns:a="http://schemas.openxmlformats.org/drawingml/2006/main">
            <a:off x="819150" y="4514850"/>
            <a:ext cx="552450" cy="552450"/>
          </a:xfrm>
          <a:prstGeom xmlns:a="http://schemas.openxmlformats.org/drawingml/2006/main" prst="rect">
            <a:avLst/>
          </a:prstGeom>
          <a:solidFill xmlns:a="http://schemas.openxmlformats.org/drawingml/2006/main">
            <a:srgbClr val="58A6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D1117"/>
                </a:solidFill>
                <a:latin typeface="DejaVu Sans"/>
                <a:ea typeface="DejaVu Sans"/>
                <a:cs typeface="DejaVu Sans"/>
              </a:defRPr>
            </a:pPr>
            <a:r>
              <a:rPr sz="1950" b="1">
                <a:solidFill>
                  <a:srgbClr val="0D1117"/>
                </a:solidFill>
                <a:latin typeface="DejaVu Sans"/>
                <a:ea typeface="DejaVu Sans"/>
                <a:cs typeface="DejaVu Sans"/>
              </a:rPr>
              <a:t>5</a:t>
            </a:r>
          </a:p>
        </p:txBody>
      </p:sp>
      <p:sp>
        <p:nvSpPr>
          <p:cNvPr id="20" name="">
            <a:extLst xmlns:a="http://schemas.openxmlformats.org/drawingml/2006/main">
              <a:ext uri="{FF2B5EF4-FFF2-40B4-BE49-F238E27FC236}">
                <a16:creationId xmlns:a16="http://schemas.microsoft.com/office/drawing/2014/main" id="{DE62661C-DD5D-46BE-ABE1-F6FF1B833621}"/>
              </a:ext>
            </a:extLst>
          </p:cNvPr>
          <p:cNvSpPr>
            <a:spLocks xmlns:a="http://schemas.openxmlformats.org/drawingml/2006/main" noGrp="1"/>
          </p:cNvSpPr>
          <p:nvPr/>
        </p:nvSpPr>
        <p:spPr>
          <a:xfrm xmlns:a="http://schemas.openxmlformats.org/drawingml/2006/main">
            <a:off x="1543050" y="4438650"/>
            <a:ext cx="4057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What should you do after a merge conflict appears?</a:t>
            </a:r>
          </a:p>
        </p:txBody>
      </p:sp>
      <p:sp>
        <p:nvSpPr>
          <p:cNvPr id="21" name="">
            <a:extLst xmlns:a="http://schemas.openxmlformats.org/drawingml/2006/main">
              <a:ext uri="{FF2B5EF4-FFF2-40B4-BE49-F238E27FC236}">
                <a16:creationId xmlns:a16="http://schemas.microsoft.com/office/drawing/2014/main" id="{79D84990-3D70-41AD-952D-F302E12C0265}"/>
              </a:ext>
            </a:extLst>
          </p:cNvPr>
          <p:cNvSpPr>
            <a:spLocks xmlns:a="http://schemas.openxmlformats.org/drawingml/2006/main" noGrp="1"/>
          </p:cNvSpPr>
          <p:nvPr/>
        </p:nvSpPr>
        <p:spPr>
          <a:xfrm xmlns:a="http://schemas.openxmlformats.org/drawingml/2006/main">
            <a:off x="6324600" y="4267200"/>
            <a:ext cx="5257800" cy="1047750"/>
          </a:xfrm>
          <a:prstGeom xmlns:a="http://schemas.openxmlformats.org/drawingml/2006/main" prst="roundRect">
            <a:avLst>
              <a:gd name="adj" fmla="val 7273"/>
            </a:avLst>
          </a:prstGeom>
          <a:solidFill xmlns:a="http://schemas.openxmlformats.org/drawingml/2006/main">
            <a:srgbClr val="161B22"/>
          </a:solidFill>
          <a:ln xmlns:a="http://schemas.openxmlformats.org/drawingml/2006/main" w="9525">
            <a:solidFill>
              <a:srgbClr val="30363D"/>
            </a:solidFill>
          </a:ln>
        </p:spPr>
      </p:sp>
      <p:sp>
        <p:nvSpPr>
          <p:cNvPr id="22" name="">
            <a:extLst xmlns:a="http://schemas.openxmlformats.org/drawingml/2006/main">
              <a:ext uri="{FF2B5EF4-FFF2-40B4-BE49-F238E27FC236}">
                <a16:creationId xmlns:a16="http://schemas.microsoft.com/office/drawing/2014/main" id="{6AEDD44E-A16A-4663-88BE-3CDDEFE6197B}"/>
              </a:ext>
            </a:extLst>
          </p:cNvPr>
          <p:cNvSpPr>
            <a:spLocks xmlns:a="http://schemas.openxmlformats.org/drawingml/2006/main" noGrp="1"/>
          </p:cNvSpPr>
          <p:nvPr/>
        </p:nvSpPr>
        <p:spPr>
          <a:xfrm xmlns:a="http://schemas.openxmlformats.org/drawingml/2006/main">
            <a:off x="6534150" y="4514850"/>
            <a:ext cx="552450" cy="552450"/>
          </a:xfrm>
          <a:prstGeom xmlns:a="http://schemas.openxmlformats.org/drawingml/2006/main" prst="rect">
            <a:avLst/>
          </a:prstGeom>
          <a:solidFill xmlns:a="http://schemas.openxmlformats.org/drawingml/2006/main">
            <a:srgbClr val="3FB95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D1117"/>
                </a:solidFill>
                <a:latin typeface="DejaVu Sans"/>
                <a:ea typeface="DejaVu Sans"/>
                <a:cs typeface="DejaVu Sans"/>
              </a:defRPr>
            </a:pPr>
            <a:r>
              <a:rPr sz="1950" b="1">
                <a:solidFill>
                  <a:srgbClr val="0D1117"/>
                </a:solidFill>
                <a:latin typeface="DejaVu Sans"/>
                <a:ea typeface="DejaVu Sans"/>
                <a:cs typeface="DejaVu Sans"/>
              </a:rPr>
              <a:t>6</a:t>
            </a:r>
          </a:p>
        </p:txBody>
      </p:sp>
      <p:sp>
        <p:nvSpPr>
          <p:cNvPr id="23" name="">
            <a:extLst xmlns:a="http://schemas.openxmlformats.org/drawingml/2006/main">
              <a:ext uri="{FF2B5EF4-FFF2-40B4-BE49-F238E27FC236}">
                <a16:creationId xmlns:a16="http://schemas.microsoft.com/office/drawing/2014/main" id="{995A7181-4196-4D31-AEF9-255B5C39A8B9}"/>
              </a:ext>
            </a:extLst>
          </p:cNvPr>
          <p:cNvSpPr>
            <a:spLocks xmlns:a="http://schemas.openxmlformats.org/drawingml/2006/main" noGrp="1"/>
          </p:cNvSpPr>
          <p:nvPr/>
        </p:nvSpPr>
        <p:spPr>
          <a:xfrm xmlns:a="http://schemas.openxmlformats.org/drawingml/2006/main">
            <a:off x="7258050" y="4438650"/>
            <a:ext cx="4057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0F6FC"/>
                </a:solidFill>
                <a:latin typeface="DejaVu Sans"/>
                <a:ea typeface="DejaVu Sans"/>
                <a:cs typeface="DejaVu Sans"/>
              </a:defRPr>
            </a:pPr>
            <a:r>
              <a:rPr sz="1350" b="1">
                <a:solidFill>
                  <a:srgbClr val="F0F6FC"/>
                </a:solidFill>
                <a:latin typeface="DejaVu Sans"/>
                <a:ea typeface="DejaVu Sans"/>
                <a:cs typeface="DejaVu Sans"/>
              </a:rPr>
              <a:t>When is git revert safer than rewriting history?</a:t>
            </a:r>
          </a:p>
        </p:txBody>
      </p:sp>
    </p:spTree>
    <p:extLst>
      <p:ext uri="{BB962C8B-B14F-4D97-AF65-F5344CB8AC3E}">
        <p14:creationId xmlns:p14="http://schemas.microsoft.com/office/powerpoint/2010/main" val="2140640313"/>
      </p:ext>
    </p:extLst>
  </p:cSld>
</p:sld>
</file>

<file path=ppt/slides/slide25.xml><?xml version="1.0" encoding="utf-8"?>
<p:sld xmlns:p="http://schemas.openxmlformats.org/presentationml/2006/main">
  <p:cSld>
    <p:bg>
      <p:bgPr>
        <a:solidFill xmlns:a="http://schemas.openxmlformats.org/drawingml/2006/main">
          <a:srgbClr val="0D111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769AE20-AC14-4A6E-AAE1-31F681C2380B}"/>
              </a:ext>
            </a:extLst>
          </p:cNvPr>
          <p:cNvSpPr>
            <a:spLocks xmlns:a="http://schemas.openxmlformats.org/drawingml/2006/main" noGrp="1"/>
          </p:cNvSpPr>
          <p:nvPr/>
        </p:nvSpPr>
        <p:spPr>
          <a:xfrm xmlns:a="http://schemas.openxmlformats.org/drawingml/2006/main">
            <a:off x="609600" y="361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0F6FC"/>
                </a:solidFill>
                <a:latin typeface="DejaVu Sans"/>
                <a:ea typeface="DejaVu Sans"/>
                <a:cs typeface="DejaVu Sans"/>
              </a:defRPr>
            </a:pPr>
            <a:r>
              <a:rPr sz="2550" b="1">
                <a:solidFill>
                  <a:srgbClr val="F0F6FC"/>
                </a:solidFill>
                <a:latin typeface="DejaVu Sans"/>
                <a:ea typeface="DejaVu Sans"/>
                <a:cs typeface="DejaVu Sans"/>
              </a:rPr>
              <a:t>Final model</a:t>
            </a:r>
          </a:p>
        </p:txBody>
      </p:sp>
      <p:sp>
        <p:nvSpPr>
          <p:cNvPr id="2" name="">
            <a:extLst xmlns:a="http://schemas.openxmlformats.org/drawingml/2006/main">
              <a:ext uri="{FF2B5EF4-FFF2-40B4-BE49-F238E27FC236}">
                <a16:creationId xmlns:a16="http://schemas.microsoft.com/office/drawing/2014/main" id="{51B1718F-4C85-4B74-9CED-63EF0405B5D9}"/>
              </a:ext>
            </a:extLst>
          </p:cNvPr>
          <p:cNvSpPr>
            <a:spLocks xmlns:a="http://schemas.openxmlformats.org/drawingml/2006/main" noGrp="1"/>
          </p:cNvSpPr>
          <p:nvPr/>
        </p:nvSpPr>
        <p:spPr>
          <a:xfrm xmlns:a="http://schemas.openxmlformats.org/drawingml/2006/main">
            <a:off x="609600" y="914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8B949E"/>
                </a:solidFill>
                <a:latin typeface="DejaVu Sans"/>
                <a:ea typeface="DejaVu Sans"/>
                <a:cs typeface="DejaVu Sans"/>
              </a:defRPr>
            </a:pPr>
            <a:r>
              <a:rPr sz="1200" b="0">
                <a:solidFill>
                  <a:srgbClr val="8B949E"/>
                </a:solidFill>
                <a:latin typeface="DejaVu Sans"/>
                <a:ea typeface="DejaVu Sans"/>
                <a:cs typeface="DejaVu Sans"/>
              </a:rPr>
              <a:t>Git stores history; GitHub organizes collaboration around it</a:t>
            </a:r>
          </a:p>
        </p:txBody>
      </p:sp>
      <p:sp>
        <p:nvSpPr>
          <p:cNvPr id="3" name="">
            <a:extLst xmlns:a="http://schemas.openxmlformats.org/drawingml/2006/main">
              <a:ext uri="{FF2B5EF4-FFF2-40B4-BE49-F238E27FC236}">
                <a16:creationId xmlns:a16="http://schemas.microsoft.com/office/drawing/2014/main" id="{23FB79FF-D53C-4482-8F3E-06556DE67AC8}"/>
              </a:ext>
            </a:extLst>
          </p:cNvPr>
          <p:cNvSpPr>
            <a:spLocks xmlns:a="http://schemas.openxmlformats.org/drawingml/2006/main" noGrp="1"/>
          </p:cNvSpPr>
          <p:nvPr/>
        </p:nvSpPr>
        <p:spPr>
          <a:xfrm xmlns:a="http://schemas.openxmlformats.org/drawingml/2006/main">
            <a:off x="609600" y="1257300"/>
            <a:ext cx="838200" cy="38100"/>
          </a:xfrm>
          <a:prstGeom xmlns:a="http://schemas.openxmlformats.org/drawingml/2006/main" prst="rect">
            <a:avLst/>
          </a:prstGeom>
          <a:solidFill xmlns:a="http://schemas.openxmlformats.org/drawingml/2006/main">
            <a:srgbClr val="58A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85320B-0147-4F10-92CF-1BC3BE8DB80B}"/>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GitHub for IT undergraduates  ·  25</a:t>
            </a:r>
          </a:p>
        </p:txBody>
      </p:sp>
      <p:sp>
        <p:nvSpPr>
          <p:cNvPr id="5" name="">
            <a:extLst xmlns:a="http://schemas.openxmlformats.org/drawingml/2006/main">
              <a:ext uri="{FF2B5EF4-FFF2-40B4-BE49-F238E27FC236}">
                <a16:creationId xmlns:a16="http://schemas.microsoft.com/office/drawing/2014/main" id="{1A8A08DA-FB4C-460F-A832-56364D62B298}"/>
              </a:ext>
            </a:extLst>
          </p:cNvPr>
          <p:cNvSpPr>
            <a:spLocks xmlns:a="http://schemas.openxmlformats.org/drawingml/2006/main" noGrp="1"/>
          </p:cNvSpPr>
          <p:nvPr/>
        </p:nvSpPr>
        <p:spPr>
          <a:xfrm xmlns:a="http://schemas.openxmlformats.org/drawingml/2006/main">
            <a:off x="10096500" y="6496050"/>
            <a:ext cx="1485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r">
              <a:defRPr sz="825" b="0">
                <a:solidFill>
                  <a:srgbClr val="8B949E"/>
                </a:solidFill>
                <a:latin typeface="DejaVu Sans"/>
                <a:ea typeface="DejaVu Sans"/>
                <a:cs typeface="DejaVu Sans"/>
              </a:defRPr>
            </a:pPr>
            <a:r>
              <a:rPr sz="825" b="0">
                <a:solidFill>
                  <a:srgbClr val="8B949E"/>
                </a:solidFill>
                <a:latin typeface="DejaVu Sans"/>
                <a:ea typeface="DejaVu Sans"/>
                <a:cs typeface="DejaVu Sans"/>
              </a:rPr>
              <a:t>Course material</a:t>
            </a:r>
          </a:p>
        </p:txBody>
      </p:sp>
      <p:sp>
        <p:nvSpPr>
          <p:cNvPr id="6" name="">
            <a:extLst xmlns:a="http://schemas.openxmlformats.org/drawingml/2006/main">
              <a:ext uri="{FF2B5EF4-FFF2-40B4-BE49-F238E27FC236}">
                <a16:creationId xmlns:a16="http://schemas.microsoft.com/office/drawing/2014/main" id="{453A0249-87AC-40D4-A30F-BC975E3103B5}"/>
              </a:ext>
            </a:extLst>
          </p:cNvPr>
          <p:cNvSpPr>
            <a:spLocks xmlns:a="http://schemas.openxmlformats.org/drawingml/2006/main" noGrp="1"/>
          </p:cNvSpPr>
          <p:nvPr/>
        </p:nvSpPr>
        <p:spPr>
          <a:xfrm xmlns:a="http://schemas.openxmlformats.org/drawingml/2006/main">
            <a:off x="419100" y="2266950"/>
            <a:ext cx="2133600" cy="1485900"/>
          </a:xfrm>
          <a:prstGeom xmlns:a="http://schemas.openxmlformats.org/drawingml/2006/main" prst="roundRect">
            <a:avLst>
              <a:gd name="adj" fmla="val 5128"/>
            </a:avLst>
          </a:prstGeom>
          <a:solidFill xmlns:a="http://schemas.openxmlformats.org/drawingml/2006/main">
            <a:srgbClr val="161B22"/>
          </a:solidFill>
          <a:ln xmlns:a="http://schemas.openxmlformats.org/drawingml/2006/main" w="9525">
            <a:solidFill>
              <a:srgbClr val="30363D"/>
            </a:solidFill>
          </a:ln>
        </p:spPr>
      </p:sp>
      <p:sp>
        <p:nvSpPr>
          <p:cNvPr id="7" name="">
            <a:extLst xmlns:a="http://schemas.openxmlformats.org/drawingml/2006/main">
              <a:ext uri="{FF2B5EF4-FFF2-40B4-BE49-F238E27FC236}">
                <a16:creationId xmlns:a16="http://schemas.microsoft.com/office/drawing/2014/main" id="{748330FE-B96D-4203-AF9E-1AEA2E7DE9B8}"/>
              </a:ext>
            </a:extLst>
          </p:cNvPr>
          <p:cNvSpPr>
            <a:spLocks xmlns:a="http://schemas.openxmlformats.org/drawingml/2006/main" noGrp="1"/>
          </p:cNvSpPr>
          <p:nvPr/>
        </p:nvSpPr>
        <p:spPr>
          <a:xfrm xmlns:a="http://schemas.openxmlformats.org/drawingml/2006/main">
            <a:off x="533400" y="251460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D29922"/>
                </a:solidFill>
                <a:latin typeface="DejaVu Sans"/>
                <a:ea typeface="DejaVu Sans"/>
                <a:cs typeface="DejaVu Sans"/>
              </a:defRPr>
            </a:pPr>
            <a:r>
              <a:rPr sz="1650" b="1">
                <a:solidFill>
                  <a:srgbClr val="D29922"/>
                </a:solidFill>
                <a:latin typeface="DejaVu Sans"/>
                <a:ea typeface="DejaVu Sans"/>
                <a:cs typeface="DejaVu Sans"/>
              </a:rPr>
              <a:t>Issue</a:t>
            </a:r>
          </a:p>
        </p:txBody>
      </p:sp>
      <p:sp>
        <p:nvSpPr>
          <p:cNvPr id="8" name="">
            <a:extLst xmlns:a="http://schemas.openxmlformats.org/drawingml/2006/main">
              <a:ext uri="{FF2B5EF4-FFF2-40B4-BE49-F238E27FC236}">
                <a16:creationId xmlns:a16="http://schemas.microsoft.com/office/drawing/2014/main" id="{2E52F37C-0EF5-454E-BE19-094661DF8ADD}"/>
              </a:ext>
            </a:extLst>
          </p:cNvPr>
          <p:cNvSpPr>
            <a:spLocks xmlns:a="http://schemas.openxmlformats.org/drawingml/2006/main" noGrp="1"/>
          </p:cNvSpPr>
          <p:nvPr/>
        </p:nvSpPr>
        <p:spPr>
          <a:xfrm xmlns:a="http://schemas.openxmlformats.org/drawingml/2006/main">
            <a:off x="571500" y="314325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0F6FC"/>
                </a:solidFill>
                <a:latin typeface="DejaVu Sans"/>
                <a:ea typeface="DejaVu Sans"/>
                <a:cs typeface="DejaVu Sans"/>
              </a:defRPr>
            </a:pPr>
            <a:r>
              <a:rPr sz="1275" b="0">
                <a:solidFill>
                  <a:srgbClr val="F0F6FC"/>
                </a:solidFill>
                <a:latin typeface="DejaVu Sans"/>
                <a:ea typeface="DejaVu Sans"/>
                <a:cs typeface="DejaVu Sans"/>
              </a:rPr>
              <a:t>task</a:t>
            </a:r>
          </a:p>
        </p:txBody>
      </p:sp>
      <p:sp>
        <p:nvSpPr>
          <p:cNvPr id="9" name="">
            <a:extLst xmlns:a="http://schemas.openxmlformats.org/drawingml/2006/main">
              <a:ext uri="{FF2B5EF4-FFF2-40B4-BE49-F238E27FC236}">
                <a16:creationId xmlns:a16="http://schemas.microsoft.com/office/drawing/2014/main" id="{8C6D4158-39F0-47F4-AC3A-24BC5DE82157}"/>
              </a:ext>
            </a:extLst>
          </p:cNvPr>
          <p:cNvSpPr>
            <a:spLocks xmlns:a="http://schemas.openxmlformats.org/drawingml/2006/main" noGrp="1"/>
          </p:cNvSpPr>
          <p:nvPr/>
        </p:nvSpPr>
        <p:spPr>
          <a:xfrm xmlns:a="http://schemas.openxmlformats.org/drawingml/2006/main">
            <a:off x="2781300" y="2266950"/>
            <a:ext cx="2133600" cy="1485900"/>
          </a:xfrm>
          <a:prstGeom xmlns:a="http://schemas.openxmlformats.org/drawingml/2006/main" prst="roundRect">
            <a:avLst>
              <a:gd name="adj" fmla="val 5128"/>
            </a:avLst>
          </a:prstGeom>
          <a:solidFill xmlns:a="http://schemas.openxmlformats.org/drawingml/2006/main">
            <a:srgbClr val="161B22"/>
          </a:solidFill>
          <a:ln xmlns:a="http://schemas.openxmlformats.org/drawingml/2006/main" w="9525">
            <a:solidFill>
              <a:srgbClr val="30363D"/>
            </a:solidFill>
          </a:ln>
        </p:spPr>
      </p:sp>
      <p:sp>
        <p:nvSpPr>
          <p:cNvPr id="10" name="">
            <a:extLst xmlns:a="http://schemas.openxmlformats.org/drawingml/2006/main">
              <a:ext uri="{FF2B5EF4-FFF2-40B4-BE49-F238E27FC236}">
                <a16:creationId xmlns:a16="http://schemas.microsoft.com/office/drawing/2014/main" id="{21B12249-1973-444D-A564-5A9FF610D116}"/>
              </a:ext>
            </a:extLst>
          </p:cNvPr>
          <p:cNvSpPr>
            <a:spLocks xmlns:a="http://schemas.openxmlformats.org/drawingml/2006/main" noGrp="1"/>
          </p:cNvSpPr>
          <p:nvPr/>
        </p:nvSpPr>
        <p:spPr>
          <a:xfrm xmlns:a="http://schemas.openxmlformats.org/drawingml/2006/main">
            <a:off x="2895600" y="251460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A371F7"/>
                </a:solidFill>
                <a:latin typeface="DejaVu Sans"/>
                <a:ea typeface="DejaVu Sans"/>
                <a:cs typeface="DejaVu Sans"/>
              </a:defRPr>
            </a:pPr>
            <a:r>
              <a:rPr sz="1650" b="1">
                <a:solidFill>
                  <a:srgbClr val="A371F7"/>
                </a:solidFill>
                <a:latin typeface="DejaVu Sans"/>
                <a:ea typeface="DejaVu Sans"/>
                <a:cs typeface="DejaVu Sans"/>
              </a:rPr>
              <a:t>Branch</a:t>
            </a:r>
          </a:p>
        </p:txBody>
      </p:sp>
      <p:sp>
        <p:nvSpPr>
          <p:cNvPr id="11" name="">
            <a:extLst xmlns:a="http://schemas.openxmlformats.org/drawingml/2006/main">
              <a:ext uri="{FF2B5EF4-FFF2-40B4-BE49-F238E27FC236}">
                <a16:creationId xmlns:a16="http://schemas.microsoft.com/office/drawing/2014/main" id="{992FF30A-CE13-4E09-9A7F-F9A99D71FCB0}"/>
              </a:ext>
            </a:extLst>
          </p:cNvPr>
          <p:cNvSpPr>
            <a:spLocks xmlns:a="http://schemas.openxmlformats.org/drawingml/2006/main" noGrp="1"/>
          </p:cNvSpPr>
          <p:nvPr/>
        </p:nvSpPr>
        <p:spPr>
          <a:xfrm xmlns:a="http://schemas.openxmlformats.org/drawingml/2006/main">
            <a:off x="2933700" y="314325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0F6FC"/>
                </a:solidFill>
                <a:latin typeface="DejaVu Sans"/>
                <a:ea typeface="DejaVu Sans"/>
                <a:cs typeface="DejaVu Sans"/>
              </a:defRPr>
            </a:pPr>
            <a:r>
              <a:rPr sz="1275" b="0">
                <a:solidFill>
                  <a:srgbClr val="F0F6FC"/>
                </a:solidFill>
                <a:latin typeface="DejaVu Sans"/>
                <a:ea typeface="DejaVu Sans"/>
                <a:cs typeface="DejaVu Sans"/>
              </a:rPr>
              <a:t>isolation</a:t>
            </a:r>
          </a:p>
        </p:txBody>
      </p:sp>
      <p:sp>
        <p:nvSpPr>
          <p:cNvPr id="12" name="">
            <a:extLst xmlns:a="http://schemas.openxmlformats.org/drawingml/2006/main">
              <a:ext uri="{FF2B5EF4-FFF2-40B4-BE49-F238E27FC236}">
                <a16:creationId xmlns:a16="http://schemas.microsoft.com/office/drawing/2014/main" id="{A15CD95F-CCB1-4A79-9527-A932A0AF8352}"/>
              </a:ext>
            </a:extLst>
          </p:cNvPr>
          <p:cNvSpPr>
            <a:spLocks xmlns:a="http://schemas.openxmlformats.org/drawingml/2006/main" noGrp="1"/>
          </p:cNvSpPr>
          <p:nvPr/>
        </p:nvSpPr>
        <p:spPr>
          <a:xfrm xmlns:a="http://schemas.openxmlformats.org/drawingml/2006/main">
            <a:off x="5143500" y="2266950"/>
            <a:ext cx="2133600" cy="1485900"/>
          </a:xfrm>
          <a:prstGeom xmlns:a="http://schemas.openxmlformats.org/drawingml/2006/main" prst="roundRect">
            <a:avLst>
              <a:gd name="adj" fmla="val 5128"/>
            </a:avLst>
          </a:prstGeom>
          <a:solidFill xmlns:a="http://schemas.openxmlformats.org/drawingml/2006/main">
            <a:srgbClr val="161B22"/>
          </a:solidFill>
          <a:ln xmlns:a="http://schemas.openxmlformats.org/drawingml/2006/main" w="9525">
            <a:solidFill>
              <a:srgbClr val="30363D"/>
            </a:solidFill>
          </a:ln>
        </p:spPr>
      </p:sp>
      <p:sp>
        <p:nvSpPr>
          <p:cNvPr id="13" name="">
            <a:extLst xmlns:a="http://schemas.openxmlformats.org/drawingml/2006/main">
              <a:ext uri="{FF2B5EF4-FFF2-40B4-BE49-F238E27FC236}">
                <a16:creationId xmlns:a16="http://schemas.microsoft.com/office/drawing/2014/main" id="{5A0AC6DE-28A0-46E8-9F69-0F80BB5B89EB}"/>
              </a:ext>
            </a:extLst>
          </p:cNvPr>
          <p:cNvSpPr>
            <a:spLocks xmlns:a="http://schemas.openxmlformats.org/drawingml/2006/main" noGrp="1"/>
          </p:cNvSpPr>
          <p:nvPr/>
        </p:nvSpPr>
        <p:spPr>
          <a:xfrm xmlns:a="http://schemas.openxmlformats.org/drawingml/2006/main">
            <a:off x="5257800" y="251460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58A6FF"/>
                </a:solidFill>
                <a:latin typeface="DejaVu Sans"/>
                <a:ea typeface="DejaVu Sans"/>
                <a:cs typeface="DejaVu Sans"/>
              </a:defRPr>
            </a:pPr>
            <a:r>
              <a:rPr sz="1650" b="1">
                <a:solidFill>
                  <a:srgbClr val="58A6FF"/>
                </a:solidFill>
                <a:latin typeface="DejaVu Sans"/>
                <a:ea typeface="DejaVu Sans"/>
                <a:cs typeface="DejaVu Sans"/>
              </a:rPr>
              <a:t>Commit</a:t>
            </a:r>
          </a:p>
        </p:txBody>
      </p:sp>
      <p:sp>
        <p:nvSpPr>
          <p:cNvPr id="14" name="">
            <a:extLst xmlns:a="http://schemas.openxmlformats.org/drawingml/2006/main">
              <a:ext uri="{FF2B5EF4-FFF2-40B4-BE49-F238E27FC236}">
                <a16:creationId xmlns:a16="http://schemas.microsoft.com/office/drawing/2014/main" id="{B21041EB-E6B6-4AB1-8AA0-D90960539CC4}"/>
              </a:ext>
            </a:extLst>
          </p:cNvPr>
          <p:cNvSpPr>
            <a:spLocks xmlns:a="http://schemas.openxmlformats.org/drawingml/2006/main" noGrp="1"/>
          </p:cNvSpPr>
          <p:nvPr/>
        </p:nvSpPr>
        <p:spPr>
          <a:xfrm xmlns:a="http://schemas.openxmlformats.org/drawingml/2006/main">
            <a:off x="5295900" y="314325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0F6FC"/>
                </a:solidFill>
                <a:latin typeface="DejaVu Sans"/>
                <a:ea typeface="DejaVu Sans"/>
                <a:cs typeface="DejaVu Sans"/>
              </a:defRPr>
            </a:pPr>
            <a:r>
              <a:rPr sz="1275" b="0">
                <a:solidFill>
                  <a:srgbClr val="F0F6FC"/>
                </a:solidFill>
                <a:latin typeface="DejaVu Sans"/>
                <a:ea typeface="DejaVu Sans"/>
                <a:cs typeface="DejaVu Sans"/>
              </a:rPr>
              <a:t>snapshot</a:t>
            </a:r>
          </a:p>
        </p:txBody>
      </p:sp>
      <p:sp>
        <p:nvSpPr>
          <p:cNvPr id="15" name="">
            <a:extLst xmlns:a="http://schemas.openxmlformats.org/drawingml/2006/main">
              <a:ext uri="{FF2B5EF4-FFF2-40B4-BE49-F238E27FC236}">
                <a16:creationId xmlns:a16="http://schemas.microsoft.com/office/drawing/2014/main" id="{1D3E7A9E-C1C4-46D0-B6A1-A7CC358BD586}"/>
              </a:ext>
            </a:extLst>
          </p:cNvPr>
          <p:cNvSpPr>
            <a:spLocks xmlns:a="http://schemas.openxmlformats.org/drawingml/2006/main" noGrp="1"/>
          </p:cNvSpPr>
          <p:nvPr/>
        </p:nvSpPr>
        <p:spPr>
          <a:xfrm xmlns:a="http://schemas.openxmlformats.org/drawingml/2006/main">
            <a:off x="7505700" y="2266950"/>
            <a:ext cx="2133600" cy="1485900"/>
          </a:xfrm>
          <a:prstGeom xmlns:a="http://schemas.openxmlformats.org/drawingml/2006/main" prst="roundRect">
            <a:avLst>
              <a:gd name="adj" fmla="val 5128"/>
            </a:avLst>
          </a:prstGeom>
          <a:solidFill xmlns:a="http://schemas.openxmlformats.org/drawingml/2006/main">
            <a:srgbClr val="161B22"/>
          </a:solidFill>
          <a:ln xmlns:a="http://schemas.openxmlformats.org/drawingml/2006/main" w="9525">
            <a:solidFill>
              <a:srgbClr val="30363D"/>
            </a:solidFill>
          </a:ln>
        </p:spPr>
      </p:sp>
      <p:sp>
        <p:nvSpPr>
          <p:cNvPr id="16" name="">
            <a:extLst xmlns:a="http://schemas.openxmlformats.org/drawingml/2006/main">
              <a:ext uri="{FF2B5EF4-FFF2-40B4-BE49-F238E27FC236}">
                <a16:creationId xmlns:a16="http://schemas.microsoft.com/office/drawing/2014/main" id="{106739FF-8ECA-4F76-A01F-59CB04B07F41}"/>
              </a:ext>
            </a:extLst>
          </p:cNvPr>
          <p:cNvSpPr>
            <a:spLocks xmlns:a="http://schemas.openxmlformats.org/drawingml/2006/main" noGrp="1"/>
          </p:cNvSpPr>
          <p:nvPr/>
        </p:nvSpPr>
        <p:spPr>
          <a:xfrm xmlns:a="http://schemas.openxmlformats.org/drawingml/2006/main">
            <a:off x="7620000" y="251460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Pull Request</a:t>
            </a:r>
          </a:p>
        </p:txBody>
      </p:sp>
      <p:sp>
        <p:nvSpPr>
          <p:cNvPr id="17" name="">
            <a:extLst xmlns:a="http://schemas.openxmlformats.org/drawingml/2006/main">
              <a:ext uri="{FF2B5EF4-FFF2-40B4-BE49-F238E27FC236}">
                <a16:creationId xmlns:a16="http://schemas.microsoft.com/office/drawing/2014/main" id="{5F692ACB-5AB5-4AB4-937F-7FA77594BA0D}"/>
              </a:ext>
            </a:extLst>
          </p:cNvPr>
          <p:cNvSpPr>
            <a:spLocks xmlns:a="http://schemas.openxmlformats.org/drawingml/2006/main" noGrp="1"/>
          </p:cNvSpPr>
          <p:nvPr/>
        </p:nvSpPr>
        <p:spPr>
          <a:xfrm xmlns:a="http://schemas.openxmlformats.org/drawingml/2006/main">
            <a:off x="7658100" y="314325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0F6FC"/>
                </a:solidFill>
                <a:latin typeface="DejaVu Sans"/>
                <a:ea typeface="DejaVu Sans"/>
                <a:cs typeface="DejaVu Sans"/>
              </a:defRPr>
            </a:pPr>
            <a:r>
              <a:rPr sz="1275" b="0">
                <a:solidFill>
                  <a:srgbClr val="F0F6FC"/>
                </a:solidFill>
                <a:latin typeface="DejaVu Sans"/>
                <a:ea typeface="DejaVu Sans"/>
                <a:cs typeface="DejaVu Sans"/>
              </a:rPr>
              <a:t>review</a:t>
            </a:r>
          </a:p>
        </p:txBody>
      </p:sp>
      <p:sp>
        <p:nvSpPr>
          <p:cNvPr id="18" name="">
            <a:extLst xmlns:a="http://schemas.openxmlformats.org/drawingml/2006/main">
              <a:ext uri="{FF2B5EF4-FFF2-40B4-BE49-F238E27FC236}">
                <a16:creationId xmlns:a16="http://schemas.microsoft.com/office/drawing/2014/main" id="{F02A4094-9038-4FDA-8C3C-04E0F670EA19}"/>
              </a:ext>
            </a:extLst>
          </p:cNvPr>
          <p:cNvSpPr>
            <a:spLocks xmlns:a="http://schemas.openxmlformats.org/drawingml/2006/main" noGrp="1"/>
          </p:cNvSpPr>
          <p:nvPr/>
        </p:nvSpPr>
        <p:spPr>
          <a:xfrm xmlns:a="http://schemas.openxmlformats.org/drawingml/2006/main">
            <a:off x="9867900" y="2266950"/>
            <a:ext cx="2133600" cy="1485900"/>
          </a:xfrm>
          <a:prstGeom xmlns:a="http://schemas.openxmlformats.org/drawingml/2006/main" prst="roundRect">
            <a:avLst>
              <a:gd name="adj" fmla="val 5128"/>
            </a:avLst>
          </a:prstGeom>
          <a:solidFill xmlns:a="http://schemas.openxmlformats.org/drawingml/2006/main">
            <a:srgbClr val="17351F"/>
          </a:solidFill>
          <a:ln xmlns:a="http://schemas.openxmlformats.org/drawingml/2006/main" w="9525">
            <a:solidFill>
              <a:srgbClr val="30363D"/>
            </a:solidFill>
          </a:ln>
        </p:spPr>
      </p:sp>
      <p:sp>
        <p:nvSpPr>
          <p:cNvPr id="19" name="">
            <a:extLst xmlns:a="http://schemas.openxmlformats.org/drawingml/2006/main">
              <a:ext uri="{FF2B5EF4-FFF2-40B4-BE49-F238E27FC236}">
                <a16:creationId xmlns:a16="http://schemas.microsoft.com/office/drawing/2014/main" id="{18D12345-E191-4D1B-846F-E37A648B7DEC}"/>
              </a:ext>
            </a:extLst>
          </p:cNvPr>
          <p:cNvSpPr>
            <a:spLocks xmlns:a="http://schemas.openxmlformats.org/drawingml/2006/main" noGrp="1"/>
          </p:cNvSpPr>
          <p:nvPr/>
        </p:nvSpPr>
        <p:spPr>
          <a:xfrm xmlns:a="http://schemas.openxmlformats.org/drawingml/2006/main">
            <a:off x="9982200" y="251460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3FB950"/>
                </a:solidFill>
                <a:latin typeface="DejaVu Sans"/>
                <a:ea typeface="DejaVu Sans"/>
                <a:cs typeface="DejaVu Sans"/>
              </a:defRPr>
            </a:pPr>
            <a:r>
              <a:rPr sz="1650" b="1">
                <a:solidFill>
                  <a:srgbClr val="3FB950"/>
                </a:solidFill>
                <a:latin typeface="DejaVu Sans"/>
                <a:ea typeface="DejaVu Sans"/>
                <a:cs typeface="DejaVu Sans"/>
              </a:rPr>
              <a:t>Merge</a:t>
            </a:r>
          </a:p>
        </p:txBody>
      </p:sp>
      <p:sp>
        <p:nvSpPr>
          <p:cNvPr id="20" name="">
            <a:extLst xmlns:a="http://schemas.openxmlformats.org/drawingml/2006/main">
              <a:ext uri="{FF2B5EF4-FFF2-40B4-BE49-F238E27FC236}">
                <a16:creationId xmlns:a16="http://schemas.microsoft.com/office/drawing/2014/main" id="{4EB0B1D9-79B2-42FB-844F-C4F79058C7E6}"/>
              </a:ext>
            </a:extLst>
          </p:cNvPr>
          <p:cNvSpPr>
            <a:spLocks xmlns:a="http://schemas.openxmlformats.org/drawingml/2006/main" noGrp="1"/>
          </p:cNvSpPr>
          <p:nvPr/>
        </p:nvSpPr>
        <p:spPr>
          <a:xfrm xmlns:a="http://schemas.openxmlformats.org/drawingml/2006/main">
            <a:off x="10020300" y="314325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0F6FC"/>
                </a:solidFill>
                <a:latin typeface="DejaVu Sans"/>
                <a:ea typeface="DejaVu Sans"/>
                <a:cs typeface="DejaVu Sans"/>
              </a:defRPr>
            </a:pPr>
            <a:r>
              <a:rPr sz="1275" b="0">
                <a:solidFill>
                  <a:srgbClr val="F0F6FC"/>
                </a:solidFill>
                <a:latin typeface="DejaVu Sans"/>
                <a:ea typeface="DejaVu Sans"/>
                <a:cs typeface="DejaVu Sans"/>
              </a:rPr>
              <a:t>shared history</a:t>
            </a:r>
          </a:p>
        </p:txBody>
      </p:sp>
      <p:sp>
        <p:nvSpPr>
          <p:cNvPr id="21" name="">
            <a:extLst xmlns:a="http://schemas.openxmlformats.org/drawingml/2006/main">
              <a:ext uri="{FF2B5EF4-FFF2-40B4-BE49-F238E27FC236}">
                <a16:creationId xmlns:a16="http://schemas.microsoft.com/office/drawing/2014/main" id="{A755BE55-43ED-4ECA-9F0E-8B79460FC17F}"/>
              </a:ext>
            </a:extLst>
          </p:cNvPr>
          <p:cNvSpPr>
            <a:spLocks xmlns:a="http://schemas.openxmlformats.org/drawingml/2006/main" noGrp="1"/>
          </p:cNvSpPr>
          <p:nvPr/>
        </p:nvSpPr>
        <p:spPr>
          <a:xfrm xmlns:a="http://schemas.openxmlformats.org/drawingml/2006/main">
            <a:off x="1238250" y="4476750"/>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DDEBFF"/>
                </a:solidFill>
                <a:latin typeface="DejaVu Sans"/>
                <a:ea typeface="DejaVu Sans"/>
                <a:cs typeface="DejaVu Sans"/>
              </a:defRPr>
            </a:pPr>
            <a:r>
              <a:rPr sz="1800" b="1">
                <a:solidFill>
                  <a:srgbClr val="DDEBFF"/>
                </a:solidFill>
                <a:latin typeface="DejaVu Sans"/>
                <a:ea typeface="DejaVu Sans"/>
                <a:cs typeface="DejaVu Sans"/>
              </a:rPr>
              <a:t>Core principle: one change travels from a clear task to reviewed code.</a:t>
            </a:r>
          </a:p>
        </p:txBody>
      </p:sp>
      <p:sp>
        <p:nvSpPr>
          <p:cNvPr id="22" name="">
            <a:extLst xmlns:a="http://schemas.openxmlformats.org/drawingml/2006/main">
              <a:ext uri="{FF2B5EF4-FFF2-40B4-BE49-F238E27FC236}">
                <a16:creationId xmlns:a16="http://schemas.microsoft.com/office/drawing/2014/main" id="{93047EBB-A320-4B86-B749-2EE794738CD0}"/>
              </a:ext>
            </a:extLst>
          </p:cNvPr>
          <p:cNvSpPr>
            <a:spLocks xmlns:a="http://schemas.openxmlformats.org/drawingml/2006/main" noGrp="1"/>
          </p:cNvSpPr>
          <p:nvPr/>
        </p:nvSpPr>
        <p:spPr>
          <a:xfrm xmlns:a="http://schemas.openxmlformats.org/drawingml/2006/main">
            <a:off x="1657350" y="5276850"/>
            <a:ext cx="887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8B949E"/>
                </a:solidFill>
                <a:latin typeface="DejaVu Sans"/>
                <a:ea typeface="DejaVu Sans"/>
                <a:cs typeface="DejaVu Sans"/>
              </a:defRPr>
            </a:pPr>
            <a:r>
              <a:rPr sz="1350" b="0">
                <a:solidFill>
                  <a:srgbClr val="8B949E"/>
                </a:solidFill>
                <a:latin typeface="DejaVu Sans"/>
                <a:ea typeface="DejaVu Sans"/>
                <a:cs typeface="DejaVu Sans"/>
              </a:rPr>
              <a:t>Practice with small PRs: they are faster to understand, review, and merge safely.</a:t>
            </a:r>
          </a:p>
        </p:txBody>
      </p:sp>
    </p:spTree>
    <p:extLst>
      <p:ext uri="{BB962C8B-B14F-4D97-AF65-F5344CB8AC3E}">
        <p14:creationId xmlns:p14="http://schemas.microsoft.com/office/powerpoint/2010/main" val="17427993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2026-09-27T18:25:43.3660000Z</dcterms:created>
  <dcterms:modified xsi:type="dcterms:W3CDTF">2026-09-27T18:25:43.3660000Z</dcterms:modified>
</coreProperties>
</file>